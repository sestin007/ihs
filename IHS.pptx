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290" r:id="rId2"/>
    <p:sldId id="294" r:id="rId3"/>
    <p:sldId id="295" r:id="rId4"/>
    <p:sldId id="296" r:id="rId5"/>
    <p:sldId id="297" r:id="rId6"/>
    <p:sldId id="298" r:id="rId7"/>
    <p:sldId id="299" r:id="rId8"/>
    <p:sldId id="300" r:id="rId9"/>
    <p:sldId id="301" r:id="rId10"/>
    <p:sldId id="291" r:id="rId11"/>
    <p:sldId id="302" r:id="rId12"/>
    <p:sldId id="303" r:id="rId13"/>
    <p:sldId id="269" r:id="rId14"/>
    <p:sldId id="285" r:id="rId15"/>
    <p:sldId id="286" r:id="rId16"/>
    <p:sldId id="271" r:id="rId17"/>
    <p:sldId id="272" r:id="rId18"/>
    <p:sldId id="273" r:id="rId19"/>
    <p:sldId id="304" r:id="rId20"/>
    <p:sldId id="274" r:id="rId21"/>
    <p:sldId id="270" r:id="rId22"/>
    <p:sldId id="305" r:id="rId23"/>
    <p:sldId id="306" r:id="rId24"/>
    <p:sldId id="307" r:id="rId25"/>
    <p:sldId id="308" r:id="rId26"/>
    <p:sldId id="310" r:id="rId27"/>
    <p:sldId id="319" r:id="rId28"/>
    <p:sldId id="320" r:id="rId29"/>
    <p:sldId id="321" r:id="rId30"/>
    <p:sldId id="311" r:id="rId31"/>
    <p:sldId id="312" r:id="rId32"/>
    <p:sldId id="314" r:id="rId33"/>
    <p:sldId id="315" r:id="rId34"/>
    <p:sldId id="316" r:id="rId35"/>
    <p:sldId id="317" r:id="rId36"/>
    <p:sldId id="318" r:id="rId37"/>
    <p:sldId id="292" r:id="rId3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E2761"/>
    <a:srgbClr val="1B2A6B"/>
    <a:srgbClr val="0B1220"/>
    <a:srgbClr val="F4F7FE"/>
    <a:srgbClr val="1B1F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5" d="100"/>
          <a:sy n="95" d="100"/>
        </p:scale>
        <p:origin x="17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0496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28689664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949642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782D3-1CF0-EB43-27C9-DD6F99E8B6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73FAD0-762A-052E-2075-11451F242F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B262F1-8229-696C-B94C-E2418CA8D9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032279-9626-CAC0-5002-682F0CD4F8D2}"/>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8042388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77E3C-30C9-5FD3-1DCC-6D18CEF957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E19E68-6441-E5C7-2C1F-82FFD93959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D02FC5-D731-628E-7401-AAF88C38D5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766AC26-EC4E-C033-7C99-CC7C176C7038}"/>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4588001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5.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6.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5.png"/><Relationship Id="rId2" Type="http://schemas.openxmlformats.org/officeDocument/2006/relationships/image" Target="../media/image21.png"/><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19.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6.png"/><Relationship Id="rId7" Type="http://schemas.openxmlformats.org/officeDocument/2006/relationships/image" Target="../media/image19.png"/><Relationship Id="rId2" Type="http://schemas.openxmlformats.org/officeDocument/2006/relationships/image" Target="../media/image35.png"/><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38.png"/><Relationship Id="rId4" Type="http://schemas.openxmlformats.org/officeDocument/2006/relationships/image" Target="../media/image37.png"/><Relationship Id="rId9" Type="http://schemas.openxmlformats.org/officeDocument/2006/relationships/image" Target="../media/image3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7.png"/><Relationship Id="rId2" Type="http://schemas.openxmlformats.org/officeDocument/2006/relationships/image" Target="../media/image23.png"/><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6.png"/><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7.png"/><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23.pn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4.png"/><Relationship Id="rId2"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45.png"/><Relationship Id="rId4" Type="http://schemas.openxmlformats.org/officeDocument/2006/relationships/image" Target="../media/image36.png"/></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36.png"/><Relationship Id="rId4" Type="http://schemas.openxmlformats.org/officeDocument/2006/relationships/image" Target="../media/image22.png"/></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5.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47.png"/><Relationship Id="rId2"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25.png"/><Relationship Id="rId4" Type="http://schemas.openxmlformats.org/officeDocument/2006/relationships/image" Target="../media/image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50814"/>
            </a:gs>
            <a:gs pos="50000">
              <a:srgbClr val="111B4F"/>
            </a:gs>
            <a:gs pos="100000">
              <a:srgbClr val="2B2F8F"/>
            </a:gs>
          </a:gsLst>
          <a:lin ang="2700000" scaled="0"/>
        </a:gradFill>
        <a:effectLst/>
      </p:bgPr>
    </p:bg>
    <p:spTree>
      <p:nvGrpSpPr>
        <p:cNvPr id="1" name=""/>
        <p:cNvGrpSpPr/>
        <p:nvPr/>
      </p:nvGrpSpPr>
      <p:grpSpPr>
        <a:xfrm>
          <a:off x="0" y="0"/>
          <a:ext cx="0" cy="0"/>
          <a:chOff x="0" y="0"/>
          <a:chExt cx="0" cy="0"/>
        </a:xfrm>
      </p:grpSpPr>
      <p:sp>
        <p:nvSpPr>
          <p:cNvPr id="20" name="Glow 1"/>
          <p:cNvSpPr/>
          <p:nvPr/>
        </p:nvSpPr>
        <p:spPr>
          <a:xfrm>
            <a:off x="-1280160" y="-1005840"/>
            <a:ext cx="6400800" cy="6400800"/>
          </a:xfrm>
          <a:prstGeom prst="ellipse">
            <a:avLst/>
          </a:prstGeom>
          <a:gradFill>
            <a:gsLst>
              <a:gs pos="0">
                <a:srgbClr val="4A5BC4">
                  <a:alpha val="42000"/>
                </a:srgbClr>
              </a:gs>
              <a:gs pos="100000">
                <a:srgbClr val="4A5BC4">
                  <a:alpha val="0"/>
                </a:srgbClr>
              </a:gs>
            </a:gsLst>
            <a:path path="circle">
              <a:fillToRect l="50000" t="50000" r="50000" b="50000"/>
            </a:path>
          </a:gradFill>
          <a:ln>
            <a:noFill/>
          </a:ln>
          <a:effectLst>
            <a:softEdge rad="508000"/>
          </a:effectLst>
        </p:spPr>
        <p:txBody>
          <a:bodyPr/>
          <a:lstStyle/>
          <a:p>
            <a:endParaRPr/>
          </a:p>
        </p:txBody>
      </p:sp>
      <p:sp>
        <p:nvSpPr>
          <p:cNvPr id="21" name="Glow 2"/>
          <p:cNvSpPr/>
          <p:nvPr/>
        </p:nvSpPr>
        <p:spPr>
          <a:xfrm>
            <a:off x="8321040" y="3474720"/>
            <a:ext cx="5486400" cy="5486400"/>
          </a:xfrm>
          <a:prstGeom prst="ellipse">
            <a:avLst/>
          </a:prstGeom>
          <a:gradFill>
            <a:gsLst>
              <a:gs pos="0">
                <a:srgbClr val="22D3A6">
                  <a:alpha val="20000"/>
                </a:srgbClr>
              </a:gs>
              <a:gs pos="100000">
                <a:srgbClr val="22D3A6">
                  <a:alpha val="0"/>
                </a:srgbClr>
              </a:gs>
            </a:gsLst>
            <a:path path="circle">
              <a:fillToRect l="50000" t="50000" r="50000" b="50000"/>
            </a:path>
          </a:gradFill>
          <a:ln>
            <a:noFill/>
          </a:ln>
          <a:effectLst>
            <a:softEdge rad="508000"/>
          </a:effectLst>
        </p:spPr>
        <p:txBody>
          <a:bodyPr/>
          <a:lstStyle/>
          <a:p>
            <a:endParaRPr/>
          </a:p>
        </p:txBody>
      </p:sp>
      <p:sp>
        <p:nvSpPr>
          <p:cNvPr id="2" name="Shape 0"/>
          <p:cNvSpPr/>
          <p:nvPr/>
        </p:nvSpPr>
        <p:spPr>
          <a:xfrm flipV="1">
            <a:off x="8778240" y="640080"/>
            <a:ext cx="914400" cy="365760"/>
          </a:xfrm>
          <a:prstGeom prst="line">
            <a:avLst/>
          </a:prstGeom>
          <a:noFill/>
          <a:ln w="12700">
            <a:solidFill>
              <a:srgbClr val="22D3A6">
                <a:alpha val="45000"/>
              </a:srgbClr>
            </a:solidFill>
            <a:prstDash val="solid"/>
          </a:ln>
        </p:spPr>
        <p:txBody>
          <a:bodyPr/>
          <a:lstStyle/>
          <a:p>
            <a:endParaRPr/>
          </a:p>
        </p:txBody>
      </p:sp>
      <p:sp>
        <p:nvSpPr>
          <p:cNvPr id="3" name="Shape 1"/>
          <p:cNvSpPr/>
          <p:nvPr/>
        </p:nvSpPr>
        <p:spPr>
          <a:xfrm>
            <a:off x="9692640" y="640080"/>
            <a:ext cx="914400" cy="640080"/>
          </a:xfrm>
          <a:prstGeom prst="line">
            <a:avLst/>
          </a:prstGeom>
          <a:noFill/>
          <a:ln w="12700">
            <a:solidFill>
              <a:srgbClr val="22D3A6">
                <a:alpha val="45000"/>
              </a:srgbClr>
            </a:solidFill>
            <a:prstDash val="solid"/>
          </a:ln>
        </p:spPr>
        <p:txBody>
          <a:bodyPr/>
          <a:lstStyle/>
          <a:p>
            <a:endParaRPr/>
          </a:p>
        </p:txBody>
      </p:sp>
      <p:sp>
        <p:nvSpPr>
          <p:cNvPr id="4" name="Shape 2"/>
          <p:cNvSpPr/>
          <p:nvPr/>
        </p:nvSpPr>
        <p:spPr>
          <a:xfrm>
            <a:off x="8778240" y="1005840"/>
            <a:ext cx="640080" cy="914400"/>
          </a:xfrm>
          <a:prstGeom prst="line">
            <a:avLst/>
          </a:prstGeom>
          <a:noFill/>
          <a:ln w="12700">
            <a:solidFill>
              <a:srgbClr val="22D3A6">
                <a:alpha val="45000"/>
              </a:srgbClr>
            </a:solidFill>
            <a:prstDash val="solid"/>
          </a:ln>
        </p:spPr>
        <p:txBody>
          <a:bodyPr/>
          <a:lstStyle/>
          <a:p>
            <a:endParaRPr/>
          </a:p>
        </p:txBody>
      </p:sp>
      <p:sp>
        <p:nvSpPr>
          <p:cNvPr id="5" name="Shape 3"/>
          <p:cNvSpPr/>
          <p:nvPr/>
        </p:nvSpPr>
        <p:spPr>
          <a:xfrm>
            <a:off x="9418320" y="1920240"/>
            <a:ext cx="1645920" cy="274320"/>
          </a:xfrm>
          <a:prstGeom prst="line">
            <a:avLst/>
          </a:prstGeom>
          <a:noFill/>
          <a:ln w="12700">
            <a:solidFill>
              <a:srgbClr val="22D3A6">
                <a:alpha val="45000"/>
              </a:srgbClr>
            </a:solidFill>
            <a:prstDash val="solid"/>
          </a:ln>
        </p:spPr>
        <p:txBody>
          <a:bodyPr/>
          <a:lstStyle/>
          <a:p>
            <a:endParaRPr/>
          </a:p>
        </p:txBody>
      </p:sp>
      <p:sp>
        <p:nvSpPr>
          <p:cNvPr id="6" name="Shape 4"/>
          <p:cNvSpPr/>
          <p:nvPr/>
        </p:nvSpPr>
        <p:spPr>
          <a:xfrm>
            <a:off x="10607040" y="1280160"/>
            <a:ext cx="457200" cy="914400"/>
          </a:xfrm>
          <a:prstGeom prst="line">
            <a:avLst/>
          </a:prstGeom>
          <a:noFill/>
          <a:ln w="12700">
            <a:solidFill>
              <a:srgbClr val="22D3A6">
                <a:alpha val="45000"/>
              </a:srgbClr>
            </a:solidFill>
            <a:prstDash val="solid"/>
          </a:ln>
        </p:spPr>
        <p:txBody>
          <a:bodyPr/>
          <a:lstStyle/>
          <a:p>
            <a:endParaRPr/>
          </a:p>
        </p:txBody>
      </p:sp>
      <p:sp>
        <p:nvSpPr>
          <p:cNvPr id="7" name="Shape 5"/>
          <p:cNvSpPr/>
          <p:nvPr/>
        </p:nvSpPr>
        <p:spPr>
          <a:xfrm flipH="1">
            <a:off x="8412480" y="1920240"/>
            <a:ext cx="1005840" cy="182880"/>
          </a:xfrm>
          <a:prstGeom prst="line">
            <a:avLst/>
          </a:prstGeom>
          <a:noFill/>
          <a:ln w="12700">
            <a:solidFill>
              <a:srgbClr val="22D3A6">
                <a:alpha val="45000"/>
              </a:srgbClr>
            </a:solidFill>
            <a:prstDash val="solid"/>
          </a:ln>
        </p:spPr>
        <p:txBody>
          <a:bodyPr/>
          <a:lstStyle/>
          <a:p>
            <a:endParaRPr/>
          </a:p>
        </p:txBody>
      </p:sp>
      <p:sp>
        <p:nvSpPr>
          <p:cNvPr id="8" name="Shape 6"/>
          <p:cNvSpPr/>
          <p:nvPr/>
        </p:nvSpPr>
        <p:spPr>
          <a:xfrm flipH="1">
            <a:off x="8412480" y="1005840"/>
            <a:ext cx="365760" cy="1097280"/>
          </a:xfrm>
          <a:prstGeom prst="line">
            <a:avLst/>
          </a:prstGeom>
          <a:noFill/>
          <a:ln w="12700">
            <a:solidFill>
              <a:srgbClr val="22D3A6">
                <a:alpha val="45000"/>
              </a:srgbClr>
            </a:solidFill>
            <a:prstDash val="solid"/>
          </a:ln>
        </p:spPr>
        <p:txBody>
          <a:bodyPr/>
          <a:lstStyle/>
          <a:p>
            <a:endParaRPr/>
          </a:p>
        </p:txBody>
      </p:sp>
      <p:sp>
        <p:nvSpPr>
          <p:cNvPr id="9" name="Shape 7"/>
          <p:cNvSpPr/>
          <p:nvPr/>
        </p:nvSpPr>
        <p:spPr>
          <a:xfrm>
            <a:off x="8723376" y="950976"/>
            <a:ext cx="109728" cy="109728"/>
          </a:xfrm>
          <a:prstGeom prst="ellipse">
            <a:avLst/>
          </a:prstGeom>
          <a:solidFill>
            <a:srgbClr val="22D3A6">
              <a:alpha val="90000"/>
            </a:srgbClr>
          </a:solidFill>
          <a:ln/>
        </p:spPr>
        <p:txBody>
          <a:bodyPr/>
          <a:lstStyle/>
          <a:p>
            <a:endParaRPr/>
          </a:p>
        </p:txBody>
      </p:sp>
      <p:sp>
        <p:nvSpPr>
          <p:cNvPr id="10" name="Shape 8"/>
          <p:cNvSpPr/>
          <p:nvPr/>
        </p:nvSpPr>
        <p:spPr>
          <a:xfrm>
            <a:off x="9637776" y="585216"/>
            <a:ext cx="109728" cy="109728"/>
          </a:xfrm>
          <a:prstGeom prst="ellipse">
            <a:avLst/>
          </a:prstGeom>
          <a:solidFill>
            <a:srgbClr val="F2B84B">
              <a:alpha val="90000"/>
            </a:srgbClr>
          </a:solidFill>
          <a:ln/>
        </p:spPr>
        <p:txBody>
          <a:bodyPr/>
          <a:lstStyle/>
          <a:p>
            <a:endParaRPr/>
          </a:p>
        </p:txBody>
      </p:sp>
      <p:sp>
        <p:nvSpPr>
          <p:cNvPr id="11" name="Shape 9"/>
          <p:cNvSpPr/>
          <p:nvPr/>
        </p:nvSpPr>
        <p:spPr>
          <a:xfrm>
            <a:off x="10552176" y="1225296"/>
            <a:ext cx="109728" cy="109728"/>
          </a:xfrm>
          <a:prstGeom prst="ellipse">
            <a:avLst/>
          </a:prstGeom>
          <a:solidFill>
            <a:srgbClr val="22D3A6">
              <a:alpha val="90000"/>
            </a:srgbClr>
          </a:solidFill>
          <a:ln/>
        </p:spPr>
        <p:txBody>
          <a:bodyPr/>
          <a:lstStyle/>
          <a:p>
            <a:endParaRPr/>
          </a:p>
        </p:txBody>
      </p:sp>
      <p:sp>
        <p:nvSpPr>
          <p:cNvPr id="12" name="Shape 10"/>
          <p:cNvSpPr/>
          <p:nvPr/>
        </p:nvSpPr>
        <p:spPr>
          <a:xfrm>
            <a:off x="9363456" y="1865376"/>
            <a:ext cx="109728" cy="109728"/>
          </a:xfrm>
          <a:prstGeom prst="ellipse">
            <a:avLst/>
          </a:prstGeom>
          <a:solidFill>
            <a:srgbClr val="F2B84B">
              <a:alpha val="90000"/>
            </a:srgbClr>
          </a:solidFill>
          <a:ln/>
        </p:spPr>
        <p:txBody>
          <a:bodyPr/>
          <a:lstStyle/>
          <a:p>
            <a:endParaRPr/>
          </a:p>
        </p:txBody>
      </p:sp>
      <p:sp>
        <p:nvSpPr>
          <p:cNvPr id="13" name="Shape 11"/>
          <p:cNvSpPr/>
          <p:nvPr/>
        </p:nvSpPr>
        <p:spPr>
          <a:xfrm>
            <a:off x="11009376" y="2139696"/>
            <a:ext cx="109728" cy="109728"/>
          </a:xfrm>
          <a:prstGeom prst="ellipse">
            <a:avLst/>
          </a:prstGeom>
          <a:solidFill>
            <a:srgbClr val="22D3A6">
              <a:alpha val="90000"/>
            </a:srgbClr>
          </a:solidFill>
          <a:ln/>
        </p:spPr>
        <p:txBody>
          <a:bodyPr/>
          <a:lstStyle/>
          <a:p>
            <a:endParaRPr/>
          </a:p>
        </p:txBody>
      </p:sp>
      <p:sp>
        <p:nvSpPr>
          <p:cNvPr id="14" name="Shape 12"/>
          <p:cNvSpPr/>
          <p:nvPr/>
        </p:nvSpPr>
        <p:spPr>
          <a:xfrm>
            <a:off x="8357616" y="2048256"/>
            <a:ext cx="109728" cy="109728"/>
          </a:xfrm>
          <a:prstGeom prst="ellipse">
            <a:avLst/>
          </a:prstGeom>
          <a:solidFill>
            <a:srgbClr val="F2B84B">
              <a:alpha val="90000"/>
            </a:srgbClr>
          </a:solidFill>
          <a:ln/>
        </p:spPr>
        <p:txBody>
          <a:bodyPr/>
          <a:lstStyle/>
          <a:p>
            <a:endParaRPr/>
          </a:p>
        </p:txBody>
      </p:sp>
      <p:sp>
        <p:nvSpPr>
          <p:cNvPr id="24" name="Dot Grid"/>
          <p:cNvSpPr/>
          <p:nvPr/>
        </p:nvSpPr>
        <p:spPr>
          <a:xfrm>
            <a:off x="1005840" y="640080"/>
            <a:ext cx="45720" cy="45720"/>
          </a:xfrm>
          <a:prstGeom prst="ellipse">
            <a:avLst/>
          </a:prstGeom>
          <a:solidFill>
            <a:srgbClr val="CADCFC">
              <a:alpha val="35000"/>
            </a:srgbClr>
          </a:solidFill>
          <a:ln/>
        </p:spPr>
        <p:txBody>
          <a:bodyPr/>
          <a:lstStyle/>
          <a:p>
            <a:endParaRPr/>
          </a:p>
        </p:txBody>
      </p:sp>
      <p:sp>
        <p:nvSpPr>
          <p:cNvPr id="25" name="Dot Grid2"/>
          <p:cNvSpPr/>
          <p:nvPr/>
        </p:nvSpPr>
        <p:spPr>
          <a:xfrm>
            <a:off x="1234440" y="640080"/>
            <a:ext cx="45720" cy="45720"/>
          </a:xfrm>
          <a:prstGeom prst="ellipse">
            <a:avLst/>
          </a:prstGeom>
          <a:solidFill>
            <a:srgbClr val="CADCFC">
              <a:alpha val="35000"/>
            </a:srgbClr>
          </a:solidFill>
          <a:ln/>
        </p:spPr>
        <p:txBody>
          <a:bodyPr/>
          <a:lstStyle/>
          <a:p>
            <a:endParaRPr/>
          </a:p>
        </p:txBody>
      </p:sp>
      <p:sp>
        <p:nvSpPr>
          <p:cNvPr id="26" name="Dot Grid3"/>
          <p:cNvSpPr/>
          <p:nvPr/>
        </p:nvSpPr>
        <p:spPr>
          <a:xfrm>
            <a:off x="1005840" y="868680"/>
            <a:ext cx="45720" cy="45720"/>
          </a:xfrm>
          <a:prstGeom prst="ellipse">
            <a:avLst/>
          </a:prstGeom>
          <a:solidFill>
            <a:srgbClr val="CADCFC">
              <a:alpha val="35000"/>
            </a:srgbClr>
          </a:solidFill>
          <a:ln/>
        </p:spPr>
        <p:txBody>
          <a:bodyPr/>
          <a:lstStyle/>
          <a:p>
            <a:endParaRPr/>
          </a:p>
        </p:txBody>
      </p:sp>
      <p:sp>
        <p:nvSpPr>
          <p:cNvPr id="27" name="Dot Grid4"/>
          <p:cNvSpPr/>
          <p:nvPr/>
        </p:nvSpPr>
        <p:spPr>
          <a:xfrm>
            <a:off x="1234440" y="868680"/>
            <a:ext cx="45720" cy="45720"/>
          </a:xfrm>
          <a:prstGeom prst="ellipse">
            <a:avLst/>
          </a:prstGeom>
          <a:solidFill>
            <a:srgbClr val="CADCFC">
              <a:alpha val="35000"/>
            </a:srgbClr>
          </a:solidFill>
          <a:ln/>
        </p:spPr>
        <p:txBody>
          <a:bodyPr/>
          <a:lstStyle/>
          <a:p>
            <a:endParaRPr/>
          </a:p>
        </p:txBody>
      </p:sp>
      <p:sp>
        <p:nvSpPr>
          <p:cNvPr id="30" name="Title Line1"/>
          <p:cNvSpPr/>
          <p:nvPr/>
        </p:nvSpPr>
        <p:spPr>
          <a:xfrm>
            <a:off x="914400" y="2180127"/>
            <a:ext cx="10363200" cy="822960"/>
          </a:xfrm>
          <a:prstGeom prst="rect">
            <a:avLst/>
          </a:prstGeom>
          <a:noFill/>
          <a:ln/>
        </p:spPr>
        <p:txBody>
          <a:bodyPr wrap="square" lIns="0" tIns="0" rIns="0" bIns="0" rtlCol="0" anchor="ctr"/>
          <a:lstStyle/>
          <a:p>
            <a:pPr marL="0" indent="0">
              <a:buNone/>
            </a:pPr>
            <a:r>
              <a:rPr lang="en-US" sz="5400" b="1" spc="60" dirty="0">
                <a:solidFill>
                  <a:srgbClr val="F8FAFC"/>
                </a:solidFill>
                <a:latin typeface="Cambria" pitchFamily="34" charset="0"/>
                <a:ea typeface="Cambria" pitchFamily="34" charset="-122"/>
                <a:cs typeface="Cambria" pitchFamily="34" charset="-120"/>
              </a:rPr>
              <a:t>INTELLIGENT HIRING</a:t>
            </a:r>
            <a:endParaRPr lang="en-US" sz="5400" dirty="0"/>
          </a:p>
        </p:txBody>
      </p:sp>
      <p:sp>
        <p:nvSpPr>
          <p:cNvPr id="31" name="Title Line2"/>
          <p:cNvSpPr/>
          <p:nvPr/>
        </p:nvSpPr>
        <p:spPr>
          <a:xfrm>
            <a:off x="914400" y="3003087"/>
            <a:ext cx="10363200" cy="822960"/>
          </a:xfrm>
          <a:prstGeom prst="rect">
            <a:avLst/>
          </a:prstGeom>
          <a:noFill/>
          <a:ln/>
        </p:spPr>
        <p:txBody>
          <a:bodyPr wrap="square" lIns="0" tIns="0" rIns="0" bIns="0" rtlCol="0" anchor="ctr"/>
          <a:lstStyle/>
          <a:p>
            <a:pPr marL="0" indent="0">
              <a:buNone/>
            </a:pPr>
            <a:r>
              <a:rPr lang="en-US" sz="5400" b="1" spc="260" dirty="0">
                <a:solidFill>
                  <a:srgbClr val="F4F7FE"/>
                </a:solidFill>
                <a:latin typeface="Cambria" pitchFamily="34" charset="0"/>
                <a:ea typeface="Cambria" pitchFamily="34" charset="-122"/>
                <a:cs typeface="Cambria" pitchFamily="34" charset="-120"/>
              </a:rPr>
              <a:t>SYSTEM</a:t>
            </a:r>
            <a:endParaRPr lang="en-US" sz="5400" dirty="0">
              <a:solidFill>
                <a:srgbClr val="F4F7FE"/>
              </a:solidFill>
            </a:endParaRPr>
          </a:p>
        </p:txBody>
      </p:sp>
      <p:sp>
        <p:nvSpPr>
          <p:cNvPr id="16" name="Text 7">
            <a:extLst>
              <a:ext uri="{FF2B5EF4-FFF2-40B4-BE49-F238E27FC236}">
                <a16:creationId xmlns:a16="http://schemas.microsoft.com/office/drawing/2014/main" id="{1525BF4B-B1DA-5831-881F-2420BD0BA29B}"/>
              </a:ext>
            </a:extLst>
          </p:cNvPr>
          <p:cNvSpPr/>
          <p:nvPr/>
        </p:nvSpPr>
        <p:spPr>
          <a:xfrm>
            <a:off x="8641080" y="4849532"/>
            <a:ext cx="3383280" cy="232756"/>
          </a:xfrm>
          <a:prstGeom prst="rect">
            <a:avLst/>
          </a:prstGeom>
          <a:noFill/>
          <a:ln/>
        </p:spPr>
        <p:txBody>
          <a:bodyPr wrap="square" lIns="0" tIns="0" rIns="0" bIns="0" rtlCol="0" anchor="ctr"/>
          <a:lstStyle/>
          <a:p>
            <a:pPr marL="0" indent="0">
              <a:buNone/>
            </a:pPr>
            <a:r>
              <a:rPr lang="en-US" sz="1400" dirty="0">
                <a:solidFill>
                  <a:srgbClr val="F4F7FE"/>
                </a:solidFill>
                <a:latin typeface="Georgia" panose="02040502050405020303" pitchFamily="18" charset="0"/>
                <a:ea typeface="Calibri" pitchFamily="34" charset="-122"/>
                <a:cs typeface="Calibri" pitchFamily="34" charset="-120"/>
              </a:rPr>
              <a:t>Presented by</a:t>
            </a:r>
            <a:endParaRPr lang="en-US" sz="1400" dirty="0">
              <a:solidFill>
                <a:srgbClr val="F4F7FE"/>
              </a:solidFill>
              <a:latin typeface="Georgia" panose="02040502050405020303" pitchFamily="18" charset="0"/>
            </a:endParaRPr>
          </a:p>
        </p:txBody>
      </p:sp>
      <p:sp>
        <p:nvSpPr>
          <p:cNvPr id="18" name="Text 8">
            <a:extLst>
              <a:ext uri="{FF2B5EF4-FFF2-40B4-BE49-F238E27FC236}">
                <a16:creationId xmlns:a16="http://schemas.microsoft.com/office/drawing/2014/main" id="{6F938688-7A37-C394-44E2-6AAFFC4B5F56}"/>
              </a:ext>
            </a:extLst>
          </p:cNvPr>
          <p:cNvSpPr/>
          <p:nvPr/>
        </p:nvSpPr>
        <p:spPr>
          <a:xfrm>
            <a:off x="8641080" y="5137880"/>
            <a:ext cx="3383280" cy="365761"/>
          </a:xfrm>
          <a:prstGeom prst="rect">
            <a:avLst/>
          </a:prstGeom>
          <a:noFill/>
          <a:ln/>
        </p:spPr>
        <p:txBody>
          <a:bodyPr wrap="square" lIns="0" tIns="0" rIns="0" bIns="0" rtlCol="0" anchor="ctr"/>
          <a:lstStyle/>
          <a:p>
            <a:pPr marL="0" indent="0">
              <a:buNone/>
            </a:pPr>
            <a:r>
              <a:rPr lang="en-US" sz="2000" b="1" dirty="0" err="1">
                <a:solidFill>
                  <a:srgbClr val="FFFFFF"/>
                </a:solidFill>
                <a:latin typeface="Georgia" pitchFamily="34" charset="0"/>
              </a:rPr>
              <a:t>Sestin</a:t>
            </a:r>
            <a:r>
              <a:rPr lang="en-US" sz="2000" b="1" dirty="0">
                <a:solidFill>
                  <a:srgbClr val="FFFFFF"/>
                </a:solidFill>
                <a:latin typeface="Georgia" pitchFamily="34" charset="0"/>
              </a:rPr>
              <a:t> Sibi</a:t>
            </a:r>
          </a:p>
        </p:txBody>
      </p:sp>
      <p:sp>
        <p:nvSpPr>
          <p:cNvPr id="34" name="Text 10">
            <a:extLst>
              <a:ext uri="{FF2B5EF4-FFF2-40B4-BE49-F238E27FC236}">
                <a16:creationId xmlns:a16="http://schemas.microsoft.com/office/drawing/2014/main" id="{2D864C12-34A6-5D44-C590-93EB99499DED}"/>
              </a:ext>
            </a:extLst>
          </p:cNvPr>
          <p:cNvSpPr/>
          <p:nvPr/>
        </p:nvSpPr>
        <p:spPr>
          <a:xfrm>
            <a:off x="738739" y="4849532"/>
            <a:ext cx="3291840" cy="256032"/>
          </a:xfrm>
          <a:prstGeom prst="rect">
            <a:avLst/>
          </a:prstGeom>
          <a:noFill/>
          <a:ln/>
        </p:spPr>
        <p:txBody>
          <a:bodyPr wrap="square" lIns="0" tIns="0" rIns="0" bIns="0" rtlCol="0" anchor="ctr"/>
          <a:lstStyle/>
          <a:p>
            <a:pPr marL="0" indent="0">
              <a:buNone/>
            </a:pPr>
            <a:r>
              <a:rPr lang="en-US" sz="1400" dirty="0">
                <a:solidFill>
                  <a:srgbClr val="F4F7FE"/>
                </a:solidFill>
                <a:latin typeface="Georgia" panose="02040502050405020303" pitchFamily="18" charset="0"/>
                <a:ea typeface="Calibri" pitchFamily="34" charset="-122"/>
                <a:cs typeface="Calibri" pitchFamily="34" charset="-120"/>
              </a:rPr>
              <a:t>Guide</a:t>
            </a:r>
            <a:endParaRPr lang="en-US" sz="1400" dirty="0">
              <a:solidFill>
                <a:srgbClr val="F4F7FE"/>
              </a:solidFill>
              <a:latin typeface="Georgia" panose="02040502050405020303" pitchFamily="18" charset="0"/>
            </a:endParaRPr>
          </a:p>
        </p:txBody>
      </p:sp>
      <p:sp>
        <p:nvSpPr>
          <p:cNvPr id="36" name="Text 11">
            <a:extLst>
              <a:ext uri="{FF2B5EF4-FFF2-40B4-BE49-F238E27FC236}">
                <a16:creationId xmlns:a16="http://schemas.microsoft.com/office/drawing/2014/main" id="{F6057FE8-040B-C9A5-927B-0E8AFF3875A7}"/>
              </a:ext>
            </a:extLst>
          </p:cNvPr>
          <p:cNvSpPr/>
          <p:nvPr/>
        </p:nvSpPr>
        <p:spPr>
          <a:xfrm>
            <a:off x="736814" y="5275362"/>
            <a:ext cx="3291840" cy="456558"/>
          </a:xfrm>
          <a:prstGeom prst="rect">
            <a:avLst/>
          </a:prstGeom>
          <a:noFill/>
          <a:ln/>
        </p:spPr>
        <p:txBody>
          <a:bodyPr wrap="square" lIns="0" tIns="0" rIns="0" bIns="0" rtlCol="0" anchor="ctr"/>
          <a:lstStyle/>
          <a:p>
            <a:pPr marL="0" indent="0">
              <a:buNone/>
            </a:pPr>
            <a:r>
              <a:rPr lang="en-US" b="1" dirty="0">
                <a:solidFill>
                  <a:srgbClr val="FFFFFF"/>
                </a:solidFill>
                <a:latin typeface="Georgia" pitchFamily="34" charset="0"/>
                <a:ea typeface="Georgia" pitchFamily="34" charset="-122"/>
                <a:cs typeface="Georgia" pitchFamily="34" charset="-120"/>
              </a:rPr>
              <a:t>Divya S B</a:t>
            </a:r>
          </a:p>
          <a:p>
            <a:pPr marL="0" indent="0">
              <a:buNone/>
            </a:pPr>
            <a:endParaRPr lang="en-US" b="1" dirty="0">
              <a:solidFill>
                <a:srgbClr val="FFFFFF"/>
              </a:solidFill>
              <a:latin typeface="Georgia" pitchFamily="34" charset="0"/>
              <a:ea typeface="Georgia" pitchFamily="34" charset="-122"/>
              <a:cs typeface="Georgia" pitchFamily="34" charset="-120"/>
            </a:endParaRPr>
          </a:p>
        </p:txBody>
      </p:sp>
      <p:sp>
        <p:nvSpPr>
          <p:cNvPr id="17" name="Text 11">
            <a:extLst>
              <a:ext uri="{FF2B5EF4-FFF2-40B4-BE49-F238E27FC236}">
                <a16:creationId xmlns:a16="http://schemas.microsoft.com/office/drawing/2014/main" id="{CDA9FF5F-0F19-85A7-90A1-3CA4762A33D3}"/>
              </a:ext>
            </a:extLst>
          </p:cNvPr>
          <p:cNvSpPr/>
          <p:nvPr/>
        </p:nvSpPr>
        <p:spPr>
          <a:xfrm>
            <a:off x="736814" y="5503641"/>
            <a:ext cx="6400800" cy="456558"/>
          </a:xfrm>
          <a:prstGeom prst="rect">
            <a:avLst/>
          </a:prstGeom>
          <a:noFill/>
          <a:ln/>
        </p:spPr>
        <p:txBody>
          <a:bodyPr wrap="square" lIns="0" tIns="0" rIns="0" bIns="0" rtlCol="0" anchor="ctr"/>
          <a:lstStyle/>
          <a:p>
            <a:pPr marL="0" indent="0">
              <a:buNone/>
            </a:pPr>
            <a:r>
              <a:rPr lang="en-US" b="1" dirty="0">
                <a:solidFill>
                  <a:srgbClr val="FFFFFF"/>
                </a:solidFill>
                <a:latin typeface="Georgia" pitchFamily="34" charset="0"/>
              </a:rPr>
              <a:t>Department of Computer Applications</a:t>
            </a:r>
            <a:endParaRPr lang="en-US" dirty="0"/>
          </a:p>
        </p:txBody>
      </p:sp>
      <p:sp>
        <p:nvSpPr>
          <p:cNvPr id="22" name="Text 8">
            <a:extLst>
              <a:ext uri="{FF2B5EF4-FFF2-40B4-BE49-F238E27FC236}">
                <a16:creationId xmlns:a16="http://schemas.microsoft.com/office/drawing/2014/main" id="{1155FC85-3B0C-8A83-2B7C-63FC6217CC10}"/>
              </a:ext>
            </a:extLst>
          </p:cNvPr>
          <p:cNvSpPr/>
          <p:nvPr/>
        </p:nvSpPr>
        <p:spPr>
          <a:xfrm>
            <a:off x="8641080" y="5490167"/>
            <a:ext cx="3383280" cy="365761"/>
          </a:xfrm>
          <a:prstGeom prst="rect">
            <a:avLst/>
          </a:prstGeom>
          <a:noFill/>
          <a:ln/>
        </p:spPr>
        <p:txBody>
          <a:bodyPr wrap="square" lIns="0" tIns="0" rIns="0" bIns="0" rtlCol="0" anchor="ctr"/>
          <a:lstStyle/>
          <a:p>
            <a:pPr marL="0" indent="0">
              <a:buNone/>
            </a:pPr>
            <a:r>
              <a:rPr lang="en-US" b="1" dirty="0">
                <a:solidFill>
                  <a:srgbClr val="FFFFFF"/>
                </a:solidFill>
                <a:latin typeface="Georgia" pitchFamily="34" charset="0"/>
              </a:rPr>
              <a:t>S</a:t>
            </a:r>
            <a:r>
              <a:rPr lang="en-US" b="1" dirty="0">
                <a:solidFill>
                  <a:srgbClr val="FFFFFF"/>
                </a:solidFill>
                <a:latin typeface="Engravers MT" panose="02090707080505020304" pitchFamily="18" charset="0"/>
              </a:rPr>
              <a:t>3</a:t>
            </a:r>
            <a:r>
              <a:rPr lang="en-US" b="1" dirty="0">
                <a:solidFill>
                  <a:srgbClr val="FFFFFF"/>
                </a:solidFill>
                <a:latin typeface="Georgia" pitchFamily="34" charset="0"/>
              </a:rPr>
              <a:t> MCA</a:t>
            </a:r>
          </a:p>
        </p:txBody>
      </p:sp>
      <p:sp>
        <p:nvSpPr>
          <p:cNvPr id="19" name="Text 8">
            <a:extLst>
              <a:ext uri="{FF2B5EF4-FFF2-40B4-BE49-F238E27FC236}">
                <a16:creationId xmlns:a16="http://schemas.microsoft.com/office/drawing/2014/main" id="{58414126-5416-17D0-417A-6B32CE13FE32}"/>
              </a:ext>
            </a:extLst>
          </p:cNvPr>
          <p:cNvSpPr/>
          <p:nvPr/>
        </p:nvSpPr>
        <p:spPr>
          <a:xfrm>
            <a:off x="8641080" y="5922175"/>
            <a:ext cx="3623109" cy="375791"/>
          </a:xfrm>
          <a:prstGeom prst="rect">
            <a:avLst/>
          </a:prstGeom>
          <a:noFill/>
          <a:ln/>
        </p:spPr>
        <p:txBody>
          <a:bodyPr wrap="square" lIns="0" tIns="0" rIns="0" bIns="0" rtlCol="0" anchor="ctr"/>
          <a:lstStyle/>
          <a:p>
            <a:r>
              <a:rPr lang="en-US" b="1" dirty="0">
                <a:solidFill>
                  <a:srgbClr val="FFFFFF"/>
                </a:solidFill>
                <a:latin typeface="Georgia" pitchFamily="34" charset="0"/>
              </a:rPr>
              <a:t>Register No : </a:t>
            </a:r>
            <a:r>
              <a:rPr lang="en-IN" b="1" dirty="0">
                <a:solidFill>
                  <a:schemeClr val="bg1"/>
                </a:solidFill>
                <a:latin typeface="Times New Roman" panose="02020603050405020304" pitchFamily="18" charset="0"/>
                <a:ea typeface="Times New Roman" panose="02020603050405020304" pitchFamily="18" charset="0"/>
              </a:rPr>
              <a:t>MLM25MCA-2048</a:t>
            </a:r>
          </a:p>
          <a:p>
            <a:pPr marL="0" indent="0">
              <a:buNone/>
            </a:pPr>
            <a:endParaRPr lang="en-US" b="1" dirty="0">
              <a:solidFill>
                <a:srgbClr val="FFFFFF"/>
              </a:solidFill>
              <a:latin typeface="Georgia" pitchFamily="34" charset="0"/>
            </a:endParaRPr>
          </a:p>
        </p:txBody>
      </p:sp>
      <p:sp>
        <p:nvSpPr>
          <p:cNvPr id="37" name="Text 37">
            <a:extLst>
              <a:ext uri="{FF2B5EF4-FFF2-40B4-BE49-F238E27FC236}">
                <a16:creationId xmlns:a16="http://schemas.microsoft.com/office/drawing/2014/main" id="{CDA9FF5F-0F19-85A7-90A1-3CA4762A33D3}"/>
              </a:ext>
            </a:extLst>
          </p:cNvPr>
          <p:cNvSpPr/>
          <p:nvPr/>
        </p:nvSpPr>
        <p:spPr>
          <a:xfrm>
            <a:off x="738739" y="5971147"/>
            <a:ext cx="6863294" cy="576074"/>
          </a:xfrm>
          <a:prstGeom prst="rect">
            <a:avLst/>
          </a:prstGeom>
          <a:noFill/>
          <a:ln/>
        </p:spPr>
        <p:txBody>
          <a:bodyPr wrap="square" lIns="0" tIns="0" rIns="0" bIns="0" rtlCol="0" anchor="ctr"/>
          <a:lstStyle/>
          <a:p>
            <a:r>
              <a:rPr lang="en-IN" b="1" dirty="0">
                <a:solidFill>
                  <a:schemeClr val="bg1"/>
                </a:solidFill>
                <a:latin typeface="Times New Roman" panose="02020603050405020304" pitchFamily="18" charset="0"/>
                <a:ea typeface="Times New Roman" panose="02020603050405020304" pitchFamily="18" charset="0"/>
              </a:rPr>
              <a:t>MANGALAM COLLEGE OF ENGINEERING, ETTUMANOOR</a:t>
            </a:r>
            <a:endParaRPr lang="en-IN" dirty="0">
              <a:solidFill>
                <a:schemeClr val="bg1"/>
              </a:solidFill>
              <a:latin typeface="Times New Roman" panose="02020603050405020304" pitchFamily="18" charset="0"/>
              <a:ea typeface="Times New Roman" panose="02020603050405020304" pitchFamily="18" charset="0"/>
            </a:endParaRPr>
          </a:p>
          <a:p>
            <a:pPr marL="0" indent="0">
              <a:buNone/>
            </a:pPr>
            <a:endParaRPr lang="en-US" dirty="0"/>
          </a:p>
        </p:txBody>
      </p:sp>
      <p:sp>
        <p:nvSpPr>
          <p:cNvPr id="38" name="Text 38">
            <a:extLst>
              <a:ext uri="{FF2B5EF4-FFF2-40B4-BE49-F238E27FC236}">
                <a16:creationId xmlns:a16="http://schemas.microsoft.com/office/drawing/2014/main" id="{58414126-5416-17D0-417A-6B32CE13FE32}"/>
              </a:ext>
            </a:extLst>
          </p:cNvPr>
          <p:cNvSpPr/>
          <p:nvPr/>
        </p:nvSpPr>
        <p:spPr>
          <a:xfrm>
            <a:off x="8641080" y="6153351"/>
            <a:ext cx="3383280" cy="365761"/>
          </a:xfrm>
          <a:prstGeom prst="rect">
            <a:avLst/>
          </a:prstGeom>
          <a:noFill/>
          <a:ln/>
        </p:spPr>
        <p:txBody>
          <a:bodyPr wrap="square" lIns="0" tIns="0" rIns="0" bIns="0" rtlCol="0" anchor="ctr"/>
          <a:lstStyle/>
          <a:p>
            <a:pPr marL="0" indent="0">
              <a:buNone/>
            </a:pPr>
            <a:r>
              <a:rPr lang="en-US" b="1" dirty="0">
                <a:solidFill>
                  <a:srgbClr val="FFFFFF"/>
                </a:solidFill>
                <a:latin typeface="Georgia" pitchFamily="34" charset="0"/>
              </a:rPr>
              <a:t>Academic Year : </a:t>
            </a:r>
            <a:r>
              <a:rPr lang="en-US" b="1" dirty="0">
                <a:solidFill>
                  <a:srgbClr val="FFFFFF"/>
                </a:solidFill>
                <a:latin typeface="Aptos" panose="020B0004020202020204" pitchFamily="34" charset="0"/>
                <a:cs typeface="Times New Roman" panose="02020603050405020304" pitchFamily="18" charset="0"/>
              </a:rPr>
              <a:t>2026–27</a:t>
            </a:r>
          </a:p>
        </p:txBody>
      </p:sp>
    </p:spTree>
    <p:extLst>
      <p:ext uri="{BB962C8B-B14F-4D97-AF65-F5344CB8AC3E}">
        <p14:creationId xmlns:p14="http://schemas.microsoft.com/office/powerpoint/2010/main" val="19851494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FAFBFF"/>
            </a:gs>
            <a:gs pos="100000">
              <a:srgbClr val="E4ECFC"/>
            </a:gs>
          </a:gsLst>
          <a:lin ang="2700000" scaled="0"/>
        </a:gradFill>
        <a:effectLst/>
      </p:bgPr>
    </p:bg>
    <p:spTree>
      <p:nvGrpSpPr>
        <p:cNvPr id="1" name=""/>
        <p:cNvGrpSpPr/>
        <p:nvPr/>
      </p:nvGrpSpPr>
      <p:grpSpPr>
        <a:xfrm>
          <a:off x="0" y="0"/>
          <a:ext cx="0" cy="0"/>
          <a:chOff x="0" y="0"/>
          <a:chExt cx="0" cy="0"/>
        </a:xfrm>
      </p:grpSpPr>
      <p:sp>
        <p:nvSpPr>
          <p:cNvPr id="9001" name="Decor 9001"/>
          <p:cNvSpPr/>
          <p:nvPr/>
        </p:nvSpPr>
        <p:spPr>
          <a:xfrm>
            <a:off x="8300000" y="-2300000"/>
            <a:ext cx="5200000" cy="5200000"/>
          </a:xfrm>
          <a:prstGeom prst="ellipse">
            <a:avLst/>
          </a:prstGeom>
          <a:solidFill>
            <a:srgbClr val="4A5BC4">
              <a:alpha val="9000"/>
            </a:srgbClr>
          </a:solidFill>
          <a:ln>
            <a:noFill/>
          </a:ln>
        </p:spPr>
        <p:txBody>
          <a:bodyPr/>
          <a:lstStyle/>
          <a:p>
            <a:endParaRPr lang="en-US"/>
          </a:p>
        </p:txBody>
      </p:sp>
      <p:sp>
        <p:nvSpPr>
          <p:cNvPr id="9002" name="Decor 9002"/>
          <p:cNvSpPr/>
          <p:nvPr/>
        </p:nvSpPr>
        <p:spPr>
          <a:xfrm>
            <a:off x="9300000" y="-1500000"/>
            <a:ext cx="3600000" cy="3600000"/>
          </a:xfrm>
          <a:prstGeom prst="ellipse">
            <a:avLst/>
          </a:prstGeom>
          <a:noFill/>
          <a:ln w="19050">
            <a:solidFill>
              <a:srgbClr val="4A5BC4">
                <a:alpha val="22000"/>
              </a:srgbClr>
            </a:solidFill>
          </a:ln>
        </p:spPr>
        <p:txBody>
          <a:bodyPr/>
          <a:lstStyle/>
          <a:p>
            <a:endParaRPr lang="en-US"/>
          </a:p>
        </p:txBody>
      </p:sp>
      <p:sp>
        <p:nvSpPr>
          <p:cNvPr id="9003" name="Decor 9003"/>
          <p:cNvSpPr/>
          <p:nvPr/>
        </p:nvSpPr>
        <p:spPr>
          <a:xfrm>
            <a:off x="-1500000" y="5000000"/>
            <a:ext cx="3300000" cy="3300000"/>
          </a:xfrm>
          <a:prstGeom prst="ellipse">
            <a:avLst/>
          </a:prstGeom>
          <a:solidFill>
            <a:srgbClr val="22D3A6">
              <a:alpha val="9000"/>
            </a:srgbClr>
          </a:solidFill>
          <a:ln>
            <a:noFill/>
          </a:ln>
        </p:spPr>
        <p:txBody>
          <a:bodyPr/>
          <a:lstStyle/>
          <a:p>
            <a:endParaRPr lang="en-US"/>
          </a:p>
        </p:txBody>
      </p:sp>
      <p:sp>
        <p:nvSpPr>
          <p:cNvPr id="9004" name="Decor 9004"/>
          <p:cNvSpPr/>
          <p:nvPr/>
        </p:nvSpPr>
        <p:spPr>
          <a:xfrm>
            <a:off x="-900000" y="5600000"/>
            <a:ext cx="1900000" cy="1900000"/>
          </a:xfrm>
          <a:prstGeom prst="ellipse">
            <a:avLst/>
          </a:prstGeom>
          <a:noFill/>
          <a:ln w="19050">
            <a:solidFill>
              <a:srgbClr val="4A5BC4">
                <a:alpha val="14000"/>
              </a:srgbClr>
            </a:solidFill>
          </a:ln>
        </p:spPr>
        <p:txBody>
          <a:bodyPr/>
          <a:lstStyle/>
          <a:p>
            <a:endParaRPr lang="en-US"/>
          </a:p>
        </p:txBody>
      </p:sp>
      <p:sp>
        <p:nvSpPr>
          <p:cNvPr id="4" name="TextBox 3"/>
          <p:cNvSpPr txBox="1"/>
          <p:nvPr/>
        </p:nvSpPr>
        <p:spPr>
          <a:xfrm>
            <a:off x="640080" y="561796"/>
            <a:ext cx="10881360" cy="566928"/>
          </a:xfrm>
          <a:prstGeom prst="rect">
            <a:avLst/>
          </a:prstGeom>
          <a:noFill/>
        </p:spPr>
        <p:txBody>
          <a:bodyPr wrap="square" lIns="0" tIns="0" rIns="0" bIns="0" anchor="ctr">
            <a:noAutofit/>
          </a:bodyPr>
          <a:lstStyle/>
          <a:p>
            <a:pPr algn="l"/>
            <a:r>
              <a:rPr sz="3000" b="1" i="0">
                <a:solidFill>
                  <a:srgbClr val="1B1F3B"/>
                </a:solidFill>
                <a:latin typeface="Cambria"/>
              </a:rPr>
              <a:t>Introduction</a:t>
            </a:r>
          </a:p>
        </p:txBody>
      </p:sp>
      <p:sp>
        <p:nvSpPr>
          <p:cNvPr id="5" name="Rounded Rectangle 4"/>
          <p:cNvSpPr/>
          <p:nvPr/>
        </p:nvSpPr>
        <p:spPr>
          <a:xfrm>
            <a:off x="640080" y="1375612"/>
            <a:ext cx="5326380" cy="2103120"/>
          </a:xfrm>
          <a:prstGeom prst="roundRect">
            <a:avLst>
              <a:gd name="adj" fmla="val 3478"/>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6" name="Oval 5"/>
          <p:cNvSpPr/>
          <p:nvPr/>
        </p:nvSpPr>
        <p:spPr>
          <a:xfrm>
            <a:off x="868680" y="1576780"/>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7" name="Picture 6" descr="image.png"/>
          <p:cNvPicPr>
            <a:picLocks noChangeAspect="1"/>
          </p:cNvPicPr>
          <p:nvPr/>
        </p:nvPicPr>
        <p:blipFill>
          <a:blip r:embed="rId2"/>
          <a:stretch>
            <a:fillRect/>
          </a:stretch>
        </p:blipFill>
        <p:spPr>
          <a:xfrm>
            <a:off x="968532" y="1676632"/>
            <a:ext cx="275783" cy="275783"/>
          </a:xfrm>
          <a:prstGeom prst="rect">
            <a:avLst/>
          </a:prstGeom>
        </p:spPr>
      </p:pic>
      <p:sp>
        <p:nvSpPr>
          <p:cNvPr id="8" name="TextBox 7"/>
          <p:cNvSpPr txBox="1"/>
          <p:nvPr/>
        </p:nvSpPr>
        <p:spPr>
          <a:xfrm>
            <a:off x="1481328" y="1576780"/>
            <a:ext cx="4274820" cy="475488"/>
          </a:xfrm>
          <a:prstGeom prst="rect">
            <a:avLst/>
          </a:prstGeom>
          <a:noFill/>
        </p:spPr>
        <p:txBody>
          <a:bodyPr wrap="square" lIns="0" tIns="0" rIns="0" bIns="0" anchor="ctr">
            <a:noAutofit/>
          </a:bodyPr>
          <a:lstStyle/>
          <a:p>
            <a:pPr algn="l"/>
            <a:r>
              <a:rPr sz="1650" b="1" i="0">
                <a:solidFill>
                  <a:srgbClr val="1B1F3B"/>
                </a:solidFill>
                <a:latin typeface="Calibri"/>
              </a:rPr>
              <a:t>Project Introduction</a:t>
            </a:r>
          </a:p>
        </p:txBody>
      </p:sp>
      <p:sp>
        <p:nvSpPr>
          <p:cNvPr id="9" name="TextBox 8"/>
          <p:cNvSpPr txBox="1"/>
          <p:nvPr/>
        </p:nvSpPr>
        <p:spPr>
          <a:xfrm>
            <a:off x="914400" y="2216860"/>
            <a:ext cx="4777740" cy="1142999"/>
          </a:xfrm>
          <a:prstGeom prst="rect">
            <a:avLst/>
          </a:prstGeom>
          <a:noFill/>
        </p:spPr>
        <p:txBody>
          <a:bodyPr wrap="square" lIns="0" tIns="0" rIns="0" bIns="0" anchor="t">
            <a:noAutofit/>
          </a:bodyPr>
          <a:lstStyle/>
          <a:p>
            <a:pPr algn="l">
              <a:spcAft>
                <a:spcPts val="300"/>
              </a:spcAft>
            </a:pPr>
            <a:r>
              <a:rPr sz="1550" b="0" i="0">
                <a:solidFill>
                  <a:srgbClr val="0B1220"/>
                </a:solidFill>
                <a:latin typeface="Calibri"/>
              </a:rPr>
              <a:t>The Intelligent Hiring System is an AI-based web application that automates resume screening, online aptitude and personality tests, and candidate ranking.</a:t>
            </a:r>
          </a:p>
        </p:txBody>
      </p:sp>
      <p:sp>
        <p:nvSpPr>
          <p:cNvPr id="10" name="Rounded Rectangle 9"/>
          <p:cNvSpPr/>
          <p:nvPr/>
        </p:nvSpPr>
        <p:spPr>
          <a:xfrm>
            <a:off x="6222492" y="1375612"/>
            <a:ext cx="5326380" cy="2103120"/>
          </a:xfrm>
          <a:prstGeom prst="roundRect">
            <a:avLst>
              <a:gd name="adj" fmla="val 3478"/>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11" name="Oval 10"/>
          <p:cNvSpPr/>
          <p:nvPr/>
        </p:nvSpPr>
        <p:spPr>
          <a:xfrm>
            <a:off x="6451092" y="1576780"/>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12" name="Picture 11" descr="image.png"/>
          <p:cNvPicPr>
            <a:picLocks noChangeAspect="1"/>
          </p:cNvPicPr>
          <p:nvPr/>
        </p:nvPicPr>
        <p:blipFill>
          <a:blip r:embed="rId3"/>
          <a:stretch>
            <a:fillRect/>
          </a:stretch>
        </p:blipFill>
        <p:spPr>
          <a:xfrm>
            <a:off x="6550944" y="1676632"/>
            <a:ext cx="275783" cy="275783"/>
          </a:xfrm>
          <a:prstGeom prst="rect">
            <a:avLst/>
          </a:prstGeom>
        </p:spPr>
      </p:pic>
      <p:sp>
        <p:nvSpPr>
          <p:cNvPr id="13" name="TextBox 12"/>
          <p:cNvSpPr txBox="1"/>
          <p:nvPr/>
        </p:nvSpPr>
        <p:spPr>
          <a:xfrm>
            <a:off x="7063740" y="1576780"/>
            <a:ext cx="4274820" cy="475488"/>
          </a:xfrm>
          <a:prstGeom prst="rect">
            <a:avLst/>
          </a:prstGeom>
          <a:noFill/>
        </p:spPr>
        <p:txBody>
          <a:bodyPr wrap="square" lIns="0" tIns="0" rIns="0" bIns="0" anchor="ctr">
            <a:noAutofit/>
          </a:bodyPr>
          <a:lstStyle/>
          <a:p>
            <a:pPr algn="l"/>
            <a:r>
              <a:rPr sz="1650" b="1" i="0">
                <a:solidFill>
                  <a:srgbClr val="1B1F3B"/>
                </a:solidFill>
                <a:latin typeface="Calibri"/>
              </a:rPr>
              <a:t>Background</a:t>
            </a:r>
          </a:p>
        </p:txBody>
      </p:sp>
      <p:sp>
        <p:nvSpPr>
          <p:cNvPr id="14" name="TextBox 13"/>
          <p:cNvSpPr txBox="1"/>
          <p:nvPr/>
        </p:nvSpPr>
        <p:spPr>
          <a:xfrm>
            <a:off x="6496812" y="2216860"/>
            <a:ext cx="4777740" cy="1142999"/>
          </a:xfrm>
          <a:prstGeom prst="rect">
            <a:avLst/>
          </a:prstGeom>
          <a:noFill/>
        </p:spPr>
        <p:txBody>
          <a:bodyPr wrap="square" lIns="0" tIns="0" rIns="0" bIns="0" anchor="t">
            <a:noAutofit/>
          </a:bodyPr>
          <a:lstStyle/>
          <a:p>
            <a:pPr algn="l">
              <a:spcAft>
                <a:spcPts val="300"/>
              </a:spcAft>
            </a:pPr>
            <a:r>
              <a:rPr sz="1550" b="0" i="0">
                <a:solidFill>
                  <a:srgbClr val="0B1220"/>
                </a:solidFill>
                <a:latin typeface="Calibri"/>
              </a:rPr>
              <a:t>Recruiters receive hundreds of applications for every role. Manual screening is slow, inconsistent and open to unconscious bias.</a:t>
            </a:r>
          </a:p>
        </p:txBody>
      </p:sp>
      <p:sp>
        <p:nvSpPr>
          <p:cNvPr id="15" name="Rounded Rectangle 14"/>
          <p:cNvSpPr/>
          <p:nvPr/>
        </p:nvSpPr>
        <p:spPr>
          <a:xfrm>
            <a:off x="640080" y="3753051"/>
            <a:ext cx="5326380" cy="2103120"/>
          </a:xfrm>
          <a:prstGeom prst="roundRect">
            <a:avLst>
              <a:gd name="adj" fmla="val 3478"/>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16" name="Oval 15"/>
          <p:cNvSpPr/>
          <p:nvPr/>
        </p:nvSpPr>
        <p:spPr>
          <a:xfrm>
            <a:off x="868680" y="3954219"/>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17" name="Picture 16" descr="image.png"/>
          <p:cNvPicPr>
            <a:picLocks noChangeAspect="1"/>
          </p:cNvPicPr>
          <p:nvPr/>
        </p:nvPicPr>
        <p:blipFill>
          <a:blip r:embed="rId4"/>
          <a:stretch>
            <a:fillRect/>
          </a:stretch>
        </p:blipFill>
        <p:spPr>
          <a:xfrm>
            <a:off x="968532" y="4054072"/>
            <a:ext cx="275783" cy="275783"/>
          </a:xfrm>
          <a:prstGeom prst="rect">
            <a:avLst/>
          </a:prstGeom>
        </p:spPr>
      </p:pic>
      <p:sp>
        <p:nvSpPr>
          <p:cNvPr id="18" name="TextBox 17"/>
          <p:cNvSpPr txBox="1"/>
          <p:nvPr/>
        </p:nvSpPr>
        <p:spPr>
          <a:xfrm>
            <a:off x="1481328" y="3954219"/>
            <a:ext cx="4274820" cy="475488"/>
          </a:xfrm>
          <a:prstGeom prst="rect">
            <a:avLst/>
          </a:prstGeom>
          <a:noFill/>
        </p:spPr>
        <p:txBody>
          <a:bodyPr wrap="square" lIns="0" tIns="0" rIns="0" bIns="0" anchor="ctr">
            <a:noAutofit/>
          </a:bodyPr>
          <a:lstStyle/>
          <a:p>
            <a:pPr algn="l"/>
            <a:r>
              <a:rPr sz="1650" b="1" i="0">
                <a:solidFill>
                  <a:srgbClr val="1B1F3B"/>
                </a:solidFill>
                <a:latin typeface="Calibri"/>
              </a:rPr>
              <a:t>Purpose of the System</a:t>
            </a:r>
          </a:p>
        </p:txBody>
      </p:sp>
      <p:sp>
        <p:nvSpPr>
          <p:cNvPr id="19" name="TextBox 18"/>
          <p:cNvSpPr txBox="1"/>
          <p:nvPr/>
        </p:nvSpPr>
        <p:spPr>
          <a:xfrm>
            <a:off x="914400" y="4594300"/>
            <a:ext cx="4777740" cy="1142999"/>
          </a:xfrm>
          <a:prstGeom prst="rect">
            <a:avLst/>
          </a:prstGeom>
          <a:noFill/>
        </p:spPr>
        <p:txBody>
          <a:bodyPr wrap="square" lIns="0" tIns="0" rIns="0" bIns="0" anchor="t">
            <a:noAutofit/>
          </a:bodyPr>
          <a:lstStyle/>
          <a:p>
            <a:pPr algn="l">
              <a:spcAft>
                <a:spcPts val="300"/>
              </a:spcAft>
            </a:pPr>
            <a:r>
              <a:rPr sz="1550" b="0" i="0">
                <a:solidFill>
                  <a:srgbClr val="0B1220"/>
                </a:solidFill>
                <a:latin typeface="Calibri"/>
              </a:rPr>
              <a:t>To give HR a single platform that evaluates candidates objectively and produces a ranked shortlist from measurable criteria.</a:t>
            </a:r>
          </a:p>
        </p:txBody>
      </p:sp>
      <p:sp>
        <p:nvSpPr>
          <p:cNvPr id="20" name="Rounded Rectangle 19"/>
          <p:cNvSpPr/>
          <p:nvPr/>
        </p:nvSpPr>
        <p:spPr>
          <a:xfrm>
            <a:off x="6222492" y="3753051"/>
            <a:ext cx="5326380" cy="2103120"/>
          </a:xfrm>
          <a:prstGeom prst="roundRect">
            <a:avLst>
              <a:gd name="adj" fmla="val 3478"/>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21" name="Oval 20"/>
          <p:cNvSpPr/>
          <p:nvPr/>
        </p:nvSpPr>
        <p:spPr>
          <a:xfrm>
            <a:off x="6451092" y="3954219"/>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22" name="Picture 21" descr="image.png"/>
          <p:cNvPicPr>
            <a:picLocks noChangeAspect="1"/>
          </p:cNvPicPr>
          <p:nvPr/>
        </p:nvPicPr>
        <p:blipFill>
          <a:blip r:embed="rId5"/>
          <a:stretch>
            <a:fillRect/>
          </a:stretch>
        </p:blipFill>
        <p:spPr>
          <a:xfrm>
            <a:off x="6550944" y="4054072"/>
            <a:ext cx="275783" cy="275783"/>
          </a:xfrm>
          <a:prstGeom prst="rect">
            <a:avLst/>
          </a:prstGeom>
        </p:spPr>
      </p:pic>
      <p:sp>
        <p:nvSpPr>
          <p:cNvPr id="23" name="TextBox 22"/>
          <p:cNvSpPr txBox="1"/>
          <p:nvPr/>
        </p:nvSpPr>
        <p:spPr>
          <a:xfrm>
            <a:off x="7063740" y="3954219"/>
            <a:ext cx="4274820" cy="475488"/>
          </a:xfrm>
          <a:prstGeom prst="rect">
            <a:avLst/>
          </a:prstGeom>
          <a:noFill/>
        </p:spPr>
        <p:txBody>
          <a:bodyPr wrap="square" lIns="0" tIns="0" rIns="0" bIns="0" anchor="ctr">
            <a:noAutofit/>
          </a:bodyPr>
          <a:lstStyle/>
          <a:p>
            <a:pPr algn="l"/>
            <a:r>
              <a:rPr sz="1650" b="1" i="0">
                <a:solidFill>
                  <a:srgbClr val="1B1F3B"/>
                </a:solidFill>
                <a:latin typeface="Calibri"/>
              </a:rPr>
              <a:t>Importance</a:t>
            </a:r>
          </a:p>
        </p:txBody>
      </p:sp>
      <p:sp>
        <p:nvSpPr>
          <p:cNvPr id="24" name="TextBox 23"/>
          <p:cNvSpPr txBox="1"/>
          <p:nvPr/>
        </p:nvSpPr>
        <p:spPr>
          <a:xfrm>
            <a:off x="6496812" y="4594300"/>
            <a:ext cx="4777740" cy="1142999"/>
          </a:xfrm>
          <a:prstGeom prst="rect">
            <a:avLst/>
          </a:prstGeom>
          <a:noFill/>
        </p:spPr>
        <p:txBody>
          <a:bodyPr wrap="square" lIns="0" tIns="0" rIns="0" bIns="0" anchor="t">
            <a:noAutofit/>
          </a:bodyPr>
          <a:lstStyle/>
          <a:p>
            <a:pPr algn="l">
              <a:spcAft>
                <a:spcPts val="300"/>
              </a:spcAft>
            </a:pPr>
            <a:r>
              <a:rPr sz="1550" b="0" i="0">
                <a:solidFill>
                  <a:srgbClr val="0B1220"/>
                </a:solidFill>
                <a:latin typeface="Calibri"/>
              </a:rPr>
              <a:t>Faster, fairer and data-backed hiring cuts HR workload, shortens time-to-hire and improves the quality of selection.</a:t>
            </a:r>
          </a:p>
        </p:txBody>
      </p:sp>
      <p:sp>
        <p:nvSpPr>
          <p:cNvPr id="25" name="TextBox 24"/>
          <p:cNvSpPr txBox="1"/>
          <p:nvPr/>
        </p:nvSpPr>
        <p:spPr>
          <a:xfrm>
            <a:off x="640080" y="6537960"/>
            <a:ext cx="2926080" cy="201168"/>
          </a:xfrm>
          <a:prstGeom prst="rect">
            <a:avLst/>
          </a:prstGeom>
          <a:noFill/>
        </p:spPr>
        <p:txBody>
          <a:bodyPr wrap="square" lIns="0" tIns="0" rIns="0" bIns="0" anchor="ctr">
            <a:noAutofit/>
          </a:bodyPr>
          <a:lstStyle/>
          <a:p>
            <a:pPr algn="l"/>
            <a:r>
              <a:rPr sz="1000" b="1" i="0">
                <a:solidFill>
                  <a:srgbClr val="002060"/>
                </a:solidFill>
                <a:latin typeface="Calibri"/>
              </a:rPr>
              <a:t>INTELLIGENT HIRING SYSTEM</a:t>
            </a:r>
          </a:p>
        </p:txBody>
      </p:sp>
      <p:sp>
        <p:nvSpPr>
          <p:cNvPr id="26" name="Oval 25"/>
          <p:cNvSpPr/>
          <p:nvPr/>
        </p:nvSpPr>
        <p:spPr>
          <a:xfrm>
            <a:off x="11256264" y="6492240"/>
            <a:ext cx="292608" cy="292608"/>
          </a:xfrm>
          <a:prstGeom prst="ellipse">
            <a:avLst/>
          </a:prstGeom>
          <a:solidFill>
            <a:srgbClr val="F4F7FE"/>
          </a:solidFill>
          <a:ln>
            <a:noFill/>
          </a:ln>
        </p:spPr>
        <p:txBody>
          <a:bodyPr rtlCol="0" anchor="ctr"/>
          <a:lstStyle/>
          <a:p>
            <a:pPr algn="ctr"/>
            <a:endParaRPr/>
          </a:p>
        </p:txBody>
      </p:sp>
      <p:sp>
        <p:nvSpPr>
          <p:cNvPr id="27" name="TextBox 26"/>
          <p:cNvSpPr txBox="1"/>
          <p:nvPr/>
        </p:nvSpPr>
        <p:spPr>
          <a:xfrm>
            <a:off x="11256264" y="6492240"/>
            <a:ext cx="292608" cy="292608"/>
          </a:xfrm>
          <a:prstGeom prst="rect">
            <a:avLst/>
          </a:prstGeom>
          <a:noFill/>
        </p:spPr>
        <p:txBody>
          <a:bodyPr wrap="square" lIns="0" tIns="0" rIns="0" bIns="0" anchor="ctr">
            <a:noAutofit/>
          </a:bodyPr>
          <a:lstStyle/>
          <a:p>
            <a:pPr algn="ctr"/>
            <a:r>
              <a:rPr sz="950" b="1" i="0">
                <a:solidFill>
                  <a:srgbClr val="1E2761"/>
                </a:solidFill>
                <a:latin typeface="Calibr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FAFBFF"/>
            </a:gs>
            <a:gs pos="100000">
              <a:srgbClr val="E4ECFC"/>
            </a:gs>
          </a:gsLst>
          <a:lin ang="2700000" scaled="0"/>
        </a:gradFill>
        <a:effectLst/>
      </p:bgPr>
    </p:bg>
    <p:spTree>
      <p:nvGrpSpPr>
        <p:cNvPr id="1" name=""/>
        <p:cNvGrpSpPr/>
        <p:nvPr/>
      </p:nvGrpSpPr>
      <p:grpSpPr>
        <a:xfrm>
          <a:off x="0" y="0"/>
          <a:ext cx="0" cy="0"/>
          <a:chOff x="0" y="0"/>
          <a:chExt cx="0" cy="0"/>
        </a:xfrm>
      </p:grpSpPr>
      <p:sp>
        <p:nvSpPr>
          <p:cNvPr id="9001" name="Decor 9001"/>
          <p:cNvSpPr/>
          <p:nvPr/>
        </p:nvSpPr>
        <p:spPr>
          <a:xfrm>
            <a:off x="8300000" y="-2300000"/>
            <a:ext cx="5200000" cy="5200000"/>
          </a:xfrm>
          <a:prstGeom prst="ellipse">
            <a:avLst/>
          </a:prstGeom>
          <a:solidFill>
            <a:srgbClr val="4A5BC4">
              <a:alpha val="9000"/>
            </a:srgbClr>
          </a:solidFill>
          <a:ln>
            <a:noFill/>
          </a:ln>
        </p:spPr>
        <p:txBody>
          <a:bodyPr/>
          <a:lstStyle/>
          <a:p>
            <a:endParaRPr lang="en-US"/>
          </a:p>
        </p:txBody>
      </p:sp>
      <p:sp>
        <p:nvSpPr>
          <p:cNvPr id="9002" name="Decor 9002"/>
          <p:cNvSpPr/>
          <p:nvPr/>
        </p:nvSpPr>
        <p:spPr>
          <a:xfrm>
            <a:off x="9300000" y="-1500000"/>
            <a:ext cx="3600000" cy="3600000"/>
          </a:xfrm>
          <a:prstGeom prst="ellipse">
            <a:avLst/>
          </a:prstGeom>
          <a:noFill/>
          <a:ln w="19050">
            <a:solidFill>
              <a:srgbClr val="4A5BC4">
                <a:alpha val="22000"/>
              </a:srgbClr>
            </a:solidFill>
          </a:ln>
        </p:spPr>
        <p:txBody>
          <a:bodyPr/>
          <a:lstStyle/>
          <a:p>
            <a:endParaRPr lang="en-US"/>
          </a:p>
        </p:txBody>
      </p:sp>
      <p:sp>
        <p:nvSpPr>
          <p:cNvPr id="9003" name="Decor 9003"/>
          <p:cNvSpPr/>
          <p:nvPr/>
        </p:nvSpPr>
        <p:spPr>
          <a:xfrm>
            <a:off x="-1500000" y="5000000"/>
            <a:ext cx="3300000" cy="3300000"/>
          </a:xfrm>
          <a:prstGeom prst="ellipse">
            <a:avLst/>
          </a:prstGeom>
          <a:solidFill>
            <a:srgbClr val="22D3A6">
              <a:alpha val="9000"/>
            </a:srgbClr>
          </a:solidFill>
          <a:ln>
            <a:noFill/>
          </a:ln>
        </p:spPr>
        <p:txBody>
          <a:bodyPr/>
          <a:lstStyle/>
          <a:p>
            <a:endParaRPr lang="en-US"/>
          </a:p>
        </p:txBody>
      </p:sp>
      <p:sp>
        <p:nvSpPr>
          <p:cNvPr id="9004" name="Decor 9004"/>
          <p:cNvSpPr/>
          <p:nvPr/>
        </p:nvSpPr>
        <p:spPr>
          <a:xfrm>
            <a:off x="-900000" y="5600000"/>
            <a:ext cx="1900000" cy="1900000"/>
          </a:xfrm>
          <a:prstGeom prst="ellipse">
            <a:avLst/>
          </a:prstGeom>
          <a:noFill/>
          <a:ln w="19050">
            <a:solidFill>
              <a:srgbClr val="4A5BC4">
                <a:alpha val="14000"/>
              </a:srgbClr>
            </a:solidFill>
          </a:ln>
        </p:spPr>
        <p:txBody>
          <a:bodyPr/>
          <a:lstStyle/>
          <a:p>
            <a:endParaRPr lang="en-US"/>
          </a:p>
        </p:txBody>
      </p:sp>
      <p:sp>
        <p:nvSpPr>
          <p:cNvPr id="4" name="TextBox 3"/>
          <p:cNvSpPr txBox="1"/>
          <p:nvPr/>
        </p:nvSpPr>
        <p:spPr>
          <a:xfrm>
            <a:off x="640080" y="609922"/>
            <a:ext cx="10881360" cy="566928"/>
          </a:xfrm>
          <a:prstGeom prst="rect">
            <a:avLst/>
          </a:prstGeom>
          <a:noFill/>
        </p:spPr>
        <p:txBody>
          <a:bodyPr wrap="square" lIns="0" tIns="0" rIns="0" bIns="0" anchor="ctr">
            <a:noAutofit/>
          </a:bodyPr>
          <a:lstStyle/>
          <a:p>
            <a:pPr algn="l"/>
            <a:r>
              <a:rPr sz="3000" b="1" i="0">
                <a:solidFill>
                  <a:srgbClr val="1B1F3B"/>
                </a:solidFill>
                <a:latin typeface="Cambria"/>
              </a:rPr>
              <a:t>Abstract</a:t>
            </a:r>
          </a:p>
        </p:txBody>
      </p:sp>
      <p:sp>
        <p:nvSpPr>
          <p:cNvPr id="5" name="Rounded Rectangle 4"/>
          <p:cNvSpPr/>
          <p:nvPr/>
        </p:nvSpPr>
        <p:spPr>
          <a:xfrm>
            <a:off x="640080" y="1423738"/>
            <a:ext cx="10908792" cy="786384"/>
          </a:xfrm>
          <a:prstGeom prst="roundRect">
            <a:avLst>
              <a:gd name="adj" fmla="val 9302"/>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6" name="Oval 5"/>
          <p:cNvSpPr/>
          <p:nvPr/>
        </p:nvSpPr>
        <p:spPr>
          <a:xfrm>
            <a:off x="868680" y="1579186"/>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7" name="Picture 6" descr="image.png"/>
          <p:cNvPicPr>
            <a:picLocks noChangeAspect="1"/>
          </p:cNvPicPr>
          <p:nvPr/>
        </p:nvPicPr>
        <p:blipFill>
          <a:blip r:embed="rId2"/>
          <a:stretch>
            <a:fillRect/>
          </a:stretch>
        </p:blipFill>
        <p:spPr>
          <a:xfrm>
            <a:off x="968532" y="1679038"/>
            <a:ext cx="275783" cy="275783"/>
          </a:xfrm>
          <a:prstGeom prst="rect">
            <a:avLst/>
          </a:prstGeom>
        </p:spPr>
      </p:pic>
      <p:sp>
        <p:nvSpPr>
          <p:cNvPr id="8" name="TextBox 7"/>
          <p:cNvSpPr txBox="1"/>
          <p:nvPr/>
        </p:nvSpPr>
        <p:spPr>
          <a:xfrm>
            <a:off x="1508760" y="1423738"/>
            <a:ext cx="2514600" cy="786384"/>
          </a:xfrm>
          <a:prstGeom prst="rect">
            <a:avLst/>
          </a:prstGeom>
          <a:noFill/>
        </p:spPr>
        <p:txBody>
          <a:bodyPr wrap="square" lIns="0" tIns="0" rIns="0" bIns="0" anchor="ctr">
            <a:noAutofit/>
          </a:bodyPr>
          <a:lstStyle/>
          <a:p>
            <a:pPr algn="l"/>
            <a:r>
              <a:rPr sz="1550" b="1" i="0">
                <a:solidFill>
                  <a:srgbClr val="1B1F3B"/>
                </a:solidFill>
                <a:latin typeface="Calibri"/>
              </a:rPr>
              <a:t>Project Overview</a:t>
            </a:r>
          </a:p>
        </p:txBody>
      </p:sp>
      <p:sp>
        <p:nvSpPr>
          <p:cNvPr id="9" name="TextBox 8"/>
          <p:cNvSpPr txBox="1"/>
          <p:nvPr/>
        </p:nvSpPr>
        <p:spPr>
          <a:xfrm>
            <a:off x="4206240" y="1423738"/>
            <a:ext cx="7068312" cy="786384"/>
          </a:xfrm>
          <a:prstGeom prst="rect">
            <a:avLst/>
          </a:prstGeom>
          <a:noFill/>
        </p:spPr>
        <p:txBody>
          <a:bodyPr wrap="square" lIns="0" tIns="0" rIns="0" bIns="0" anchor="ctr">
            <a:noAutofit/>
          </a:bodyPr>
          <a:lstStyle/>
          <a:p>
            <a:pPr algn="l"/>
            <a:r>
              <a:rPr sz="1450" b="0" i="0">
                <a:solidFill>
                  <a:srgbClr val="0B1220"/>
                </a:solidFill>
                <a:latin typeface="Calibri"/>
              </a:rPr>
              <a:t>An AI-based web platform that evaluates job applicants through resume analysis, an aptitude test and a personality test.</a:t>
            </a:r>
          </a:p>
        </p:txBody>
      </p:sp>
      <p:sp>
        <p:nvSpPr>
          <p:cNvPr id="10" name="Rounded Rectangle 9"/>
          <p:cNvSpPr/>
          <p:nvPr/>
        </p:nvSpPr>
        <p:spPr>
          <a:xfrm>
            <a:off x="640080" y="2319850"/>
            <a:ext cx="10908792" cy="786384"/>
          </a:xfrm>
          <a:prstGeom prst="roundRect">
            <a:avLst>
              <a:gd name="adj" fmla="val 9302"/>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11" name="Oval 10"/>
          <p:cNvSpPr/>
          <p:nvPr/>
        </p:nvSpPr>
        <p:spPr>
          <a:xfrm>
            <a:off x="868680" y="2475298"/>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12" name="Picture 11" descr="image.png"/>
          <p:cNvPicPr>
            <a:picLocks noChangeAspect="1"/>
          </p:cNvPicPr>
          <p:nvPr/>
        </p:nvPicPr>
        <p:blipFill>
          <a:blip r:embed="rId3"/>
          <a:stretch>
            <a:fillRect/>
          </a:stretch>
        </p:blipFill>
        <p:spPr>
          <a:xfrm>
            <a:off x="968532" y="2575150"/>
            <a:ext cx="275783" cy="275783"/>
          </a:xfrm>
          <a:prstGeom prst="rect">
            <a:avLst/>
          </a:prstGeom>
        </p:spPr>
      </p:pic>
      <p:sp>
        <p:nvSpPr>
          <p:cNvPr id="13" name="TextBox 12"/>
          <p:cNvSpPr txBox="1"/>
          <p:nvPr/>
        </p:nvSpPr>
        <p:spPr>
          <a:xfrm>
            <a:off x="1508760" y="2319850"/>
            <a:ext cx="2514600" cy="786384"/>
          </a:xfrm>
          <a:prstGeom prst="rect">
            <a:avLst/>
          </a:prstGeom>
          <a:noFill/>
        </p:spPr>
        <p:txBody>
          <a:bodyPr wrap="square" lIns="0" tIns="0" rIns="0" bIns="0" anchor="ctr">
            <a:noAutofit/>
          </a:bodyPr>
          <a:lstStyle/>
          <a:p>
            <a:pPr algn="l"/>
            <a:r>
              <a:rPr sz="1550" b="1" i="0">
                <a:solidFill>
                  <a:srgbClr val="1B1F3B"/>
                </a:solidFill>
                <a:latin typeface="Calibri"/>
              </a:rPr>
              <a:t>Problem Addressed</a:t>
            </a:r>
          </a:p>
        </p:txBody>
      </p:sp>
      <p:sp>
        <p:nvSpPr>
          <p:cNvPr id="14" name="TextBox 13"/>
          <p:cNvSpPr txBox="1"/>
          <p:nvPr/>
        </p:nvSpPr>
        <p:spPr>
          <a:xfrm>
            <a:off x="4206240" y="2319850"/>
            <a:ext cx="7068312" cy="786384"/>
          </a:xfrm>
          <a:prstGeom prst="rect">
            <a:avLst/>
          </a:prstGeom>
          <a:noFill/>
        </p:spPr>
        <p:txBody>
          <a:bodyPr wrap="square" lIns="0" tIns="0" rIns="0" bIns="0" anchor="ctr">
            <a:noAutofit/>
          </a:bodyPr>
          <a:lstStyle/>
          <a:p>
            <a:pPr algn="l"/>
            <a:r>
              <a:rPr sz="1450" b="0" i="0">
                <a:solidFill>
                  <a:srgbClr val="0B1220"/>
                </a:solidFill>
                <a:latin typeface="Calibri"/>
              </a:rPr>
              <a:t>Manual resume screening is time-consuming, subjective and inconsistent, and it overloads HR teams.</a:t>
            </a:r>
          </a:p>
        </p:txBody>
      </p:sp>
      <p:sp>
        <p:nvSpPr>
          <p:cNvPr id="15" name="Rounded Rectangle 14"/>
          <p:cNvSpPr/>
          <p:nvPr/>
        </p:nvSpPr>
        <p:spPr>
          <a:xfrm>
            <a:off x="640080" y="3215962"/>
            <a:ext cx="10908792" cy="786384"/>
          </a:xfrm>
          <a:prstGeom prst="roundRect">
            <a:avLst>
              <a:gd name="adj" fmla="val 9302"/>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16" name="Oval 15"/>
          <p:cNvSpPr/>
          <p:nvPr/>
        </p:nvSpPr>
        <p:spPr>
          <a:xfrm>
            <a:off x="868680" y="3371410"/>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17" name="Picture 16" descr="image.png"/>
          <p:cNvPicPr>
            <a:picLocks noChangeAspect="1"/>
          </p:cNvPicPr>
          <p:nvPr/>
        </p:nvPicPr>
        <p:blipFill>
          <a:blip r:embed="rId4"/>
          <a:stretch>
            <a:fillRect/>
          </a:stretch>
        </p:blipFill>
        <p:spPr>
          <a:xfrm>
            <a:off x="968532" y="3471262"/>
            <a:ext cx="275783" cy="275783"/>
          </a:xfrm>
          <a:prstGeom prst="rect">
            <a:avLst/>
          </a:prstGeom>
        </p:spPr>
      </p:pic>
      <p:sp>
        <p:nvSpPr>
          <p:cNvPr id="18" name="TextBox 17"/>
          <p:cNvSpPr txBox="1"/>
          <p:nvPr/>
        </p:nvSpPr>
        <p:spPr>
          <a:xfrm>
            <a:off x="1508760" y="3215962"/>
            <a:ext cx="2514600" cy="786384"/>
          </a:xfrm>
          <a:prstGeom prst="rect">
            <a:avLst/>
          </a:prstGeom>
          <a:noFill/>
        </p:spPr>
        <p:txBody>
          <a:bodyPr wrap="square" lIns="0" tIns="0" rIns="0" bIns="0" anchor="ctr">
            <a:noAutofit/>
          </a:bodyPr>
          <a:lstStyle/>
          <a:p>
            <a:pPr algn="l"/>
            <a:r>
              <a:rPr sz="1550" b="1" i="0">
                <a:solidFill>
                  <a:srgbClr val="1B1F3B"/>
                </a:solidFill>
                <a:latin typeface="Calibri"/>
              </a:rPr>
              <a:t>Proposed Solution</a:t>
            </a:r>
          </a:p>
        </p:txBody>
      </p:sp>
      <p:sp>
        <p:nvSpPr>
          <p:cNvPr id="19" name="TextBox 18"/>
          <p:cNvSpPr txBox="1"/>
          <p:nvPr/>
        </p:nvSpPr>
        <p:spPr>
          <a:xfrm>
            <a:off x="4206240" y="3215962"/>
            <a:ext cx="7068312" cy="786384"/>
          </a:xfrm>
          <a:prstGeom prst="rect">
            <a:avLst/>
          </a:prstGeom>
          <a:noFill/>
        </p:spPr>
        <p:txBody>
          <a:bodyPr wrap="square" lIns="0" tIns="0" rIns="0" bIns="0" anchor="ctr">
            <a:noAutofit/>
          </a:bodyPr>
          <a:lstStyle/>
          <a:p>
            <a:pPr algn="l"/>
            <a:r>
              <a:rPr sz="1450" b="0" i="0">
                <a:solidFill>
                  <a:srgbClr val="0B1220"/>
                </a:solidFill>
                <a:latin typeface="Calibri"/>
              </a:rPr>
              <a:t>An integrated system that scores every candidate on objective criteria and ranks them on a central HR dashboard.</a:t>
            </a:r>
          </a:p>
        </p:txBody>
      </p:sp>
      <p:sp>
        <p:nvSpPr>
          <p:cNvPr id="20" name="Rounded Rectangle 19"/>
          <p:cNvSpPr/>
          <p:nvPr/>
        </p:nvSpPr>
        <p:spPr>
          <a:xfrm>
            <a:off x="640080" y="4112074"/>
            <a:ext cx="10908792" cy="786384"/>
          </a:xfrm>
          <a:prstGeom prst="roundRect">
            <a:avLst>
              <a:gd name="adj" fmla="val 9302"/>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21" name="Oval 20"/>
          <p:cNvSpPr/>
          <p:nvPr/>
        </p:nvSpPr>
        <p:spPr>
          <a:xfrm>
            <a:off x="868680" y="4267521"/>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22" name="Picture 21" descr="image.png"/>
          <p:cNvPicPr>
            <a:picLocks noChangeAspect="1"/>
          </p:cNvPicPr>
          <p:nvPr/>
        </p:nvPicPr>
        <p:blipFill>
          <a:blip r:embed="rId5"/>
          <a:stretch>
            <a:fillRect/>
          </a:stretch>
        </p:blipFill>
        <p:spPr>
          <a:xfrm>
            <a:off x="968532" y="4367374"/>
            <a:ext cx="275783" cy="275783"/>
          </a:xfrm>
          <a:prstGeom prst="rect">
            <a:avLst/>
          </a:prstGeom>
        </p:spPr>
      </p:pic>
      <p:sp>
        <p:nvSpPr>
          <p:cNvPr id="23" name="TextBox 22"/>
          <p:cNvSpPr txBox="1"/>
          <p:nvPr/>
        </p:nvSpPr>
        <p:spPr>
          <a:xfrm>
            <a:off x="1508760" y="4112074"/>
            <a:ext cx="2514600" cy="786384"/>
          </a:xfrm>
          <a:prstGeom prst="rect">
            <a:avLst/>
          </a:prstGeom>
          <a:noFill/>
        </p:spPr>
        <p:txBody>
          <a:bodyPr wrap="square" lIns="0" tIns="0" rIns="0" bIns="0" anchor="ctr">
            <a:noAutofit/>
          </a:bodyPr>
          <a:lstStyle/>
          <a:p>
            <a:pPr algn="l"/>
            <a:r>
              <a:rPr sz="1550" b="1" i="0" dirty="0">
                <a:solidFill>
                  <a:srgbClr val="1B1F3B"/>
                </a:solidFill>
                <a:latin typeface="Calibri"/>
              </a:rPr>
              <a:t>Technologies </a:t>
            </a:r>
          </a:p>
        </p:txBody>
      </p:sp>
      <p:sp>
        <p:nvSpPr>
          <p:cNvPr id="24" name="TextBox 23"/>
          <p:cNvSpPr txBox="1"/>
          <p:nvPr/>
        </p:nvSpPr>
        <p:spPr>
          <a:xfrm>
            <a:off x="4206240" y="4112074"/>
            <a:ext cx="7068312" cy="786384"/>
          </a:xfrm>
          <a:prstGeom prst="rect">
            <a:avLst/>
          </a:prstGeom>
          <a:noFill/>
        </p:spPr>
        <p:txBody>
          <a:bodyPr wrap="square" lIns="0" tIns="0" rIns="0" bIns="0" anchor="ctr">
            <a:noAutofit/>
          </a:bodyPr>
          <a:lstStyle/>
          <a:p>
            <a:pPr algn="l"/>
            <a:r>
              <a:rPr sz="1450" b="0" i="0">
                <a:solidFill>
                  <a:srgbClr val="0B1220"/>
                </a:solidFill>
                <a:latin typeface="Calibri"/>
              </a:rPr>
              <a:t>Python, Django, HTML, CSS, JavaScript, Bootstrap and SQLite, developed through requirement analysis, design, data collection, evaluation, scoring and ranking.</a:t>
            </a:r>
          </a:p>
        </p:txBody>
      </p:sp>
      <p:sp>
        <p:nvSpPr>
          <p:cNvPr id="25" name="Rounded Rectangle 24"/>
          <p:cNvSpPr/>
          <p:nvPr/>
        </p:nvSpPr>
        <p:spPr>
          <a:xfrm>
            <a:off x="640080" y="5008186"/>
            <a:ext cx="10908792" cy="786384"/>
          </a:xfrm>
          <a:prstGeom prst="roundRect">
            <a:avLst>
              <a:gd name="adj" fmla="val 9302"/>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26" name="Oval 25"/>
          <p:cNvSpPr/>
          <p:nvPr/>
        </p:nvSpPr>
        <p:spPr>
          <a:xfrm>
            <a:off x="868680" y="5163634"/>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27" name="Picture 26" descr="image.png"/>
          <p:cNvPicPr>
            <a:picLocks noChangeAspect="1"/>
          </p:cNvPicPr>
          <p:nvPr/>
        </p:nvPicPr>
        <p:blipFill>
          <a:blip r:embed="rId6"/>
          <a:stretch>
            <a:fillRect/>
          </a:stretch>
        </p:blipFill>
        <p:spPr>
          <a:xfrm>
            <a:off x="968532" y="5263486"/>
            <a:ext cx="275783" cy="275783"/>
          </a:xfrm>
          <a:prstGeom prst="rect">
            <a:avLst/>
          </a:prstGeom>
        </p:spPr>
      </p:pic>
      <p:sp>
        <p:nvSpPr>
          <p:cNvPr id="28" name="TextBox 27"/>
          <p:cNvSpPr txBox="1"/>
          <p:nvPr/>
        </p:nvSpPr>
        <p:spPr>
          <a:xfrm>
            <a:off x="1508760" y="5008186"/>
            <a:ext cx="2514600" cy="786384"/>
          </a:xfrm>
          <a:prstGeom prst="rect">
            <a:avLst/>
          </a:prstGeom>
          <a:noFill/>
        </p:spPr>
        <p:txBody>
          <a:bodyPr wrap="square" lIns="0" tIns="0" rIns="0" bIns="0" anchor="ctr">
            <a:noAutofit/>
          </a:bodyPr>
          <a:lstStyle/>
          <a:p>
            <a:pPr algn="l"/>
            <a:r>
              <a:rPr sz="1550" b="1" i="0">
                <a:solidFill>
                  <a:srgbClr val="1B1F3B"/>
                </a:solidFill>
                <a:latin typeface="Calibri"/>
              </a:rPr>
              <a:t>Expected Outcome</a:t>
            </a:r>
          </a:p>
        </p:txBody>
      </p:sp>
      <p:sp>
        <p:nvSpPr>
          <p:cNvPr id="29" name="TextBox 28"/>
          <p:cNvSpPr txBox="1"/>
          <p:nvPr/>
        </p:nvSpPr>
        <p:spPr>
          <a:xfrm>
            <a:off x="4206240" y="5008186"/>
            <a:ext cx="7068312" cy="786384"/>
          </a:xfrm>
          <a:prstGeom prst="rect">
            <a:avLst/>
          </a:prstGeom>
          <a:noFill/>
        </p:spPr>
        <p:txBody>
          <a:bodyPr wrap="square" lIns="0" tIns="0" rIns="0" bIns="0" anchor="ctr">
            <a:noAutofit/>
          </a:bodyPr>
          <a:lstStyle/>
          <a:p>
            <a:pPr algn="l"/>
            <a:r>
              <a:rPr sz="1450" b="0" i="0">
                <a:solidFill>
                  <a:srgbClr val="0B1220"/>
                </a:solidFill>
                <a:latin typeface="Calibri"/>
              </a:rPr>
              <a:t>Candidates register, upload resumes and take tests online; the system generates an overall score and a ranked shortlist that supports the final HR decision.</a:t>
            </a:r>
          </a:p>
        </p:txBody>
      </p:sp>
      <p:sp>
        <p:nvSpPr>
          <p:cNvPr id="30" name="TextBox 29"/>
          <p:cNvSpPr txBox="1"/>
          <p:nvPr/>
        </p:nvSpPr>
        <p:spPr>
          <a:xfrm>
            <a:off x="640080" y="6537960"/>
            <a:ext cx="2926080" cy="201168"/>
          </a:xfrm>
          <a:prstGeom prst="rect">
            <a:avLst/>
          </a:prstGeom>
          <a:noFill/>
        </p:spPr>
        <p:txBody>
          <a:bodyPr wrap="square" lIns="0" tIns="0" rIns="0" bIns="0" anchor="ctr">
            <a:noAutofit/>
          </a:bodyPr>
          <a:lstStyle/>
          <a:p>
            <a:pPr algn="l"/>
            <a:r>
              <a:rPr sz="1000" b="1" i="0">
                <a:solidFill>
                  <a:srgbClr val="002060"/>
                </a:solidFill>
                <a:latin typeface="Calibri"/>
              </a:rPr>
              <a:t>INTELLIGENT HIRING SYSTEM</a:t>
            </a:r>
          </a:p>
        </p:txBody>
      </p:sp>
      <p:sp>
        <p:nvSpPr>
          <p:cNvPr id="31" name="Oval 30"/>
          <p:cNvSpPr/>
          <p:nvPr/>
        </p:nvSpPr>
        <p:spPr>
          <a:xfrm>
            <a:off x="11256264" y="6492240"/>
            <a:ext cx="292608" cy="292608"/>
          </a:xfrm>
          <a:prstGeom prst="ellipse">
            <a:avLst/>
          </a:prstGeom>
          <a:solidFill>
            <a:srgbClr val="F4F7FE"/>
          </a:solidFill>
          <a:ln>
            <a:noFill/>
          </a:ln>
        </p:spPr>
        <p:txBody>
          <a:bodyPr rtlCol="0" anchor="ctr"/>
          <a:lstStyle/>
          <a:p>
            <a:pPr algn="ctr"/>
            <a:endParaRPr/>
          </a:p>
        </p:txBody>
      </p:sp>
      <p:sp>
        <p:nvSpPr>
          <p:cNvPr id="32" name="TextBox 31"/>
          <p:cNvSpPr txBox="1"/>
          <p:nvPr/>
        </p:nvSpPr>
        <p:spPr>
          <a:xfrm>
            <a:off x="11256264" y="6492240"/>
            <a:ext cx="292608" cy="292608"/>
          </a:xfrm>
          <a:prstGeom prst="rect">
            <a:avLst/>
          </a:prstGeom>
          <a:noFill/>
        </p:spPr>
        <p:txBody>
          <a:bodyPr wrap="square" lIns="0" tIns="0" rIns="0" bIns="0" anchor="ctr">
            <a:noAutofit/>
          </a:bodyPr>
          <a:lstStyle/>
          <a:p>
            <a:pPr algn="ctr"/>
            <a:r>
              <a:rPr sz="950" b="1" i="0">
                <a:solidFill>
                  <a:srgbClr val="1E2761"/>
                </a:solidFill>
                <a:latin typeface="Calibr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FAFBFF"/>
            </a:gs>
            <a:gs pos="100000">
              <a:srgbClr val="E4ECFC"/>
            </a:gs>
          </a:gsLst>
          <a:lin ang="2700000" scaled="0"/>
        </a:gradFill>
        <a:effectLst/>
      </p:bgPr>
    </p:bg>
    <p:spTree>
      <p:nvGrpSpPr>
        <p:cNvPr id="1" name=""/>
        <p:cNvGrpSpPr/>
        <p:nvPr/>
      </p:nvGrpSpPr>
      <p:grpSpPr>
        <a:xfrm>
          <a:off x="0" y="0"/>
          <a:ext cx="0" cy="0"/>
          <a:chOff x="0" y="0"/>
          <a:chExt cx="0" cy="0"/>
        </a:xfrm>
      </p:grpSpPr>
      <p:sp>
        <p:nvSpPr>
          <p:cNvPr id="9001" name="Decor 9001"/>
          <p:cNvSpPr/>
          <p:nvPr/>
        </p:nvSpPr>
        <p:spPr>
          <a:xfrm>
            <a:off x="8300000" y="-2300000"/>
            <a:ext cx="5200000" cy="5200000"/>
          </a:xfrm>
          <a:prstGeom prst="ellipse">
            <a:avLst/>
          </a:prstGeom>
          <a:solidFill>
            <a:srgbClr val="4A5BC4">
              <a:alpha val="9000"/>
            </a:srgbClr>
          </a:solidFill>
          <a:ln>
            <a:noFill/>
          </a:ln>
        </p:spPr>
        <p:txBody>
          <a:bodyPr/>
          <a:lstStyle/>
          <a:p>
            <a:endParaRPr lang="en-US"/>
          </a:p>
        </p:txBody>
      </p:sp>
      <p:sp>
        <p:nvSpPr>
          <p:cNvPr id="9002" name="Decor 9002"/>
          <p:cNvSpPr/>
          <p:nvPr/>
        </p:nvSpPr>
        <p:spPr>
          <a:xfrm>
            <a:off x="9300000" y="-1500000"/>
            <a:ext cx="3600000" cy="3600000"/>
          </a:xfrm>
          <a:prstGeom prst="ellipse">
            <a:avLst/>
          </a:prstGeom>
          <a:noFill/>
          <a:ln w="19050">
            <a:solidFill>
              <a:srgbClr val="4A5BC4">
                <a:alpha val="22000"/>
              </a:srgbClr>
            </a:solidFill>
          </a:ln>
        </p:spPr>
        <p:txBody>
          <a:bodyPr/>
          <a:lstStyle/>
          <a:p>
            <a:endParaRPr lang="en-US"/>
          </a:p>
        </p:txBody>
      </p:sp>
      <p:sp>
        <p:nvSpPr>
          <p:cNvPr id="9003" name="Decor 9003"/>
          <p:cNvSpPr/>
          <p:nvPr/>
        </p:nvSpPr>
        <p:spPr>
          <a:xfrm>
            <a:off x="-1500000" y="5000000"/>
            <a:ext cx="3300000" cy="3300000"/>
          </a:xfrm>
          <a:prstGeom prst="ellipse">
            <a:avLst/>
          </a:prstGeom>
          <a:solidFill>
            <a:srgbClr val="22D3A6">
              <a:alpha val="9000"/>
            </a:srgbClr>
          </a:solidFill>
          <a:ln>
            <a:noFill/>
          </a:ln>
        </p:spPr>
        <p:txBody>
          <a:bodyPr/>
          <a:lstStyle/>
          <a:p>
            <a:endParaRPr lang="en-US"/>
          </a:p>
        </p:txBody>
      </p:sp>
      <p:sp>
        <p:nvSpPr>
          <p:cNvPr id="9004" name="Decor 9004"/>
          <p:cNvSpPr/>
          <p:nvPr/>
        </p:nvSpPr>
        <p:spPr>
          <a:xfrm>
            <a:off x="-900000" y="5600000"/>
            <a:ext cx="1900000" cy="1900000"/>
          </a:xfrm>
          <a:prstGeom prst="ellipse">
            <a:avLst/>
          </a:prstGeom>
          <a:noFill/>
          <a:ln w="19050">
            <a:solidFill>
              <a:srgbClr val="4A5BC4">
                <a:alpha val="14000"/>
              </a:srgbClr>
            </a:solidFill>
          </a:ln>
        </p:spPr>
        <p:txBody>
          <a:bodyPr/>
          <a:lstStyle/>
          <a:p>
            <a:endParaRPr lang="en-US"/>
          </a:p>
        </p:txBody>
      </p:sp>
      <p:sp>
        <p:nvSpPr>
          <p:cNvPr id="4" name="TextBox 3"/>
          <p:cNvSpPr txBox="1"/>
          <p:nvPr/>
        </p:nvSpPr>
        <p:spPr>
          <a:xfrm>
            <a:off x="640080" y="513670"/>
            <a:ext cx="10881360" cy="566928"/>
          </a:xfrm>
          <a:prstGeom prst="rect">
            <a:avLst/>
          </a:prstGeom>
          <a:noFill/>
        </p:spPr>
        <p:txBody>
          <a:bodyPr wrap="square" lIns="0" tIns="0" rIns="0" bIns="0" anchor="ctr">
            <a:noAutofit/>
          </a:bodyPr>
          <a:lstStyle/>
          <a:p>
            <a:pPr algn="l"/>
            <a:r>
              <a:rPr sz="3000" b="1" i="0">
                <a:solidFill>
                  <a:srgbClr val="1B1F3B"/>
                </a:solidFill>
                <a:latin typeface="Cambria"/>
              </a:rPr>
              <a:t>Problem Definition</a:t>
            </a:r>
          </a:p>
        </p:txBody>
      </p:sp>
      <p:sp>
        <p:nvSpPr>
          <p:cNvPr id="5" name="Rounded Rectangle 4"/>
          <p:cNvSpPr/>
          <p:nvPr/>
        </p:nvSpPr>
        <p:spPr>
          <a:xfrm>
            <a:off x="640080" y="1373206"/>
            <a:ext cx="10908792" cy="2331720"/>
          </a:xfrm>
          <a:prstGeom prst="roundRect">
            <a:avLst>
              <a:gd name="adj" fmla="val 4705"/>
            </a:avLst>
          </a:prstGeom>
          <a:gradFill rotWithShape="1">
            <a:gsLst>
              <a:gs pos="0">
                <a:srgbClr val="1E2761"/>
              </a:gs>
              <a:gs pos="100000">
                <a:srgbClr val="2F3A9A"/>
              </a:gs>
            </a:gsLst>
            <a:lin ang="2700000" scaled="0"/>
          </a:gradFill>
          <a:ln>
            <a:noFill/>
          </a:ln>
          <a:effectLst>
            <a:outerShdw blurRad="203200" dist="63500" dir="5400000" algn="t" rotWithShape="0">
              <a:srgbClr val="1E2761">
                <a:alpha val="22000"/>
              </a:srgbClr>
            </a:outerShdw>
          </a:effectLst>
        </p:spPr>
        <p:txBody>
          <a:bodyPr rtlCol="0" anchor="ctr"/>
          <a:lstStyle/>
          <a:p>
            <a:pPr algn="ctr"/>
            <a:endParaRPr/>
          </a:p>
        </p:txBody>
      </p:sp>
      <p:sp>
        <p:nvSpPr>
          <p:cNvPr id="6" name="TextBox 5"/>
          <p:cNvSpPr txBox="1"/>
          <p:nvPr/>
        </p:nvSpPr>
        <p:spPr>
          <a:xfrm>
            <a:off x="1097280" y="1373206"/>
            <a:ext cx="914400" cy="914400"/>
          </a:xfrm>
          <a:prstGeom prst="rect">
            <a:avLst/>
          </a:prstGeom>
          <a:noFill/>
        </p:spPr>
        <p:txBody>
          <a:bodyPr wrap="square" lIns="0" tIns="0" rIns="0" bIns="0" anchor="t">
            <a:noAutofit/>
          </a:bodyPr>
          <a:lstStyle/>
          <a:p>
            <a:pPr algn="l"/>
            <a:r>
              <a:rPr sz="7200" b="1" i="0">
                <a:solidFill>
                  <a:srgbClr val="CADCFC"/>
                </a:solidFill>
                <a:latin typeface="Cambria"/>
              </a:rPr>
              <a:t>“</a:t>
            </a:r>
          </a:p>
        </p:txBody>
      </p:sp>
      <p:sp>
        <p:nvSpPr>
          <p:cNvPr id="7" name="TextBox 6"/>
          <p:cNvSpPr txBox="1"/>
          <p:nvPr/>
        </p:nvSpPr>
        <p:spPr>
          <a:xfrm>
            <a:off x="1508760" y="1693246"/>
            <a:ext cx="9509760" cy="1737360"/>
          </a:xfrm>
          <a:prstGeom prst="rect">
            <a:avLst/>
          </a:prstGeom>
          <a:noFill/>
        </p:spPr>
        <p:txBody>
          <a:bodyPr wrap="square" lIns="0" tIns="0" rIns="0" bIns="0" anchor="ctr">
            <a:noAutofit/>
          </a:bodyPr>
          <a:lstStyle/>
          <a:p>
            <a:pPr algn="l"/>
            <a:r>
              <a:rPr sz="2600" b="1" i="0">
                <a:solidFill>
                  <a:srgbClr val="FFFFFF"/>
                </a:solidFill>
                <a:latin typeface="Cambria"/>
              </a:rPr>
              <a:t>Manual recruitment is slow, inconsistent and prone to bias, and HR teams lack a single, objective system to screen, assess and rank candidates at scale.</a:t>
            </a:r>
          </a:p>
        </p:txBody>
      </p:sp>
      <p:sp>
        <p:nvSpPr>
          <p:cNvPr id="8" name="Rounded Rectangle 7"/>
          <p:cNvSpPr/>
          <p:nvPr/>
        </p:nvSpPr>
        <p:spPr>
          <a:xfrm>
            <a:off x="640080" y="3979246"/>
            <a:ext cx="3465575" cy="1828800"/>
          </a:xfrm>
          <a:prstGeom prst="roundRect">
            <a:avLst>
              <a:gd name="adj" fmla="val 4000"/>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9" name="Oval 8"/>
          <p:cNvSpPr/>
          <p:nvPr/>
        </p:nvSpPr>
        <p:spPr>
          <a:xfrm>
            <a:off x="868680" y="4180414"/>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10" name="Picture 9" descr="image.png"/>
          <p:cNvPicPr>
            <a:picLocks noChangeAspect="1"/>
          </p:cNvPicPr>
          <p:nvPr/>
        </p:nvPicPr>
        <p:blipFill>
          <a:blip r:embed="rId2"/>
          <a:stretch>
            <a:fillRect/>
          </a:stretch>
        </p:blipFill>
        <p:spPr>
          <a:xfrm>
            <a:off x="968532" y="4280266"/>
            <a:ext cx="275783" cy="275783"/>
          </a:xfrm>
          <a:prstGeom prst="rect">
            <a:avLst/>
          </a:prstGeom>
        </p:spPr>
      </p:pic>
      <p:sp>
        <p:nvSpPr>
          <p:cNvPr id="11" name="TextBox 10"/>
          <p:cNvSpPr txBox="1"/>
          <p:nvPr/>
        </p:nvSpPr>
        <p:spPr>
          <a:xfrm>
            <a:off x="1481328" y="4180414"/>
            <a:ext cx="2414015" cy="475488"/>
          </a:xfrm>
          <a:prstGeom prst="rect">
            <a:avLst/>
          </a:prstGeom>
          <a:noFill/>
        </p:spPr>
        <p:txBody>
          <a:bodyPr wrap="square" lIns="0" tIns="0" rIns="0" bIns="0" anchor="ctr">
            <a:noAutofit/>
          </a:bodyPr>
          <a:lstStyle/>
          <a:p>
            <a:pPr algn="l"/>
            <a:r>
              <a:rPr sz="1650" b="1" i="0">
                <a:solidFill>
                  <a:srgbClr val="1B1F3B"/>
                </a:solidFill>
                <a:latin typeface="Calibri"/>
              </a:rPr>
              <a:t>Slow Screening</a:t>
            </a:r>
          </a:p>
        </p:txBody>
      </p:sp>
      <p:sp>
        <p:nvSpPr>
          <p:cNvPr id="12" name="TextBox 11"/>
          <p:cNvSpPr txBox="1"/>
          <p:nvPr/>
        </p:nvSpPr>
        <p:spPr>
          <a:xfrm>
            <a:off x="914400" y="4820494"/>
            <a:ext cx="2916935" cy="868680"/>
          </a:xfrm>
          <a:prstGeom prst="rect">
            <a:avLst/>
          </a:prstGeom>
          <a:noFill/>
        </p:spPr>
        <p:txBody>
          <a:bodyPr wrap="square" lIns="0" tIns="0" rIns="0" bIns="0" anchor="t">
            <a:noAutofit/>
          </a:bodyPr>
          <a:lstStyle/>
          <a:p>
            <a:pPr algn="l">
              <a:spcAft>
                <a:spcPts val="300"/>
              </a:spcAft>
            </a:pPr>
            <a:r>
              <a:rPr sz="1400" b="0" i="0">
                <a:solidFill>
                  <a:srgbClr val="0B1220"/>
                </a:solidFill>
                <a:latin typeface="Calibri"/>
              </a:rPr>
              <a:t>Resumes are read one at a time, stretching the hiring cycle.</a:t>
            </a:r>
          </a:p>
        </p:txBody>
      </p:sp>
      <p:sp>
        <p:nvSpPr>
          <p:cNvPr id="13" name="Rounded Rectangle 12"/>
          <p:cNvSpPr/>
          <p:nvPr/>
        </p:nvSpPr>
        <p:spPr>
          <a:xfrm>
            <a:off x="4361688" y="3979246"/>
            <a:ext cx="3465575" cy="1828800"/>
          </a:xfrm>
          <a:prstGeom prst="roundRect">
            <a:avLst>
              <a:gd name="adj" fmla="val 4000"/>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14" name="Oval 13"/>
          <p:cNvSpPr/>
          <p:nvPr/>
        </p:nvSpPr>
        <p:spPr>
          <a:xfrm>
            <a:off x="4590288" y="4180414"/>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15" name="Picture 14" descr="image.png"/>
          <p:cNvPicPr>
            <a:picLocks noChangeAspect="1"/>
          </p:cNvPicPr>
          <p:nvPr/>
        </p:nvPicPr>
        <p:blipFill>
          <a:blip r:embed="rId3"/>
          <a:stretch>
            <a:fillRect/>
          </a:stretch>
        </p:blipFill>
        <p:spPr>
          <a:xfrm>
            <a:off x="4690140" y="4280266"/>
            <a:ext cx="275783" cy="275783"/>
          </a:xfrm>
          <a:prstGeom prst="rect">
            <a:avLst/>
          </a:prstGeom>
        </p:spPr>
      </p:pic>
      <p:sp>
        <p:nvSpPr>
          <p:cNvPr id="16" name="TextBox 15"/>
          <p:cNvSpPr txBox="1"/>
          <p:nvPr/>
        </p:nvSpPr>
        <p:spPr>
          <a:xfrm>
            <a:off x="5202936" y="4180414"/>
            <a:ext cx="2414015" cy="475488"/>
          </a:xfrm>
          <a:prstGeom prst="rect">
            <a:avLst/>
          </a:prstGeom>
          <a:noFill/>
        </p:spPr>
        <p:txBody>
          <a:bodyPr wrap="square" lIns="0" tIns="0" rIns="0" bIns="0" anchor="ctr">
            <a:noAutofit/>
          </a:bodyPr>
          <a:lstStyle/>
          <a:p>
            <a:pPr algn="l"/>
            <a:r>
              <a:rPr sz="1650" b="1" i="0">
                <a:solidFill>
                  <a:srgbClr val="1B1F3B"/>
                </a:solidFill>
                <a:latin typeface="Calibri"/>
              </a:rPr>
              <a:t>Subjective Evaluation</a:t>
            </a:r>
          </a:p>
        </p:txBody>
      </p:sp>
      <p:sp>
        <p:nvSpPr>
          <p:cNvPr id="17" name="TextBox 16"/>
          <p:cNvSpPr txBox="1"/>
          <p:nvPr/>
        </p:nvSpPr>
        <p:spPr>
          <a:xfrm>
            <a:off x="4636007" y="4820494"/>
            <a:ext cx="2916935" cy="868680"/>
          </a:xfrm>
          <a:prstGeom prst="rect">
            <a:avLst/>
          </a:prstGeom>
          <a:noFill/>
        </p:spPr>
        <p:txBody>
          <a:bodyPr wrap="square" lIns="0" tIns="0" rIns="0" bIns="0" anchor="t">
            <a:noAutofit/>
          </a:bodyPr>
          <a:lstStyle/>
          <a:p>
            <a:pPr algn="l">
              <a:spcAft>
                <a:spcPts val="300"/>
              </a:spcAft>
            </a:pPr>
            <a:r>
              <a:rPr sz="1400" b="0" i="0">
                <a:solidFill>
                  <a:srgbClr val="0B1220"/>
                </a:solidFill>
                <a:latin typeface="Calibri"/>
              </a:rPr>
              <a:t>Reviewers apply different standards to similar candidates.</a:t>
            </a:r>
          </a:p>
        </p:txBody>
      </p:sp>
      <p:sp>
        <p:nvSpPr>
          <p:cNvPr id="18" name="Rounded Rectangle 17"/>
          <p:cNvSpPr/>
          <p:nvPr/>
        </p:nvSpPr>
        <p:spPr>
          <a:xfrm>
            <a:off x="8083295" y="3979246"/>
            <a:ext cx="3465575" cy="1828800"/>
          </a:xfrm>
          <a:prstGeom prst="roundRect">
            <a:avLst>
              <a:gd name="adj" fmla="val 4000"/>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19" name="Oval 18"/>
          <p:cNvSpPr/>
          <p:nvPr/>
        </p:nvSpPr>
        <p:spPr>
          <a:xfrm>
            <a:off x="8311895" y="4180414"/>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20" name="Picture 19" descr="image.png"/>
          <p:cNvPicPr>
            <a:picLocks noChangeAspect="1"/>
          </p:cNvPicPr>
          <p:nvPr/>
        </p:nvPicPr>
        <p:blipFill>
          <a:blip r:embed="rId4"/>
          <a:stretch>
            <a:fillRect/>
          </a:stretch>
        </p:blipFill>
        <p:spPr>
          <a:xfrm>
            <a:off x="8411748" y="4280266"/>
            <a:ext cx="275783" cy="275783"/>
          </a:xfrm>
          <a:prstGeom prst="rect">
            <a:avLst/>
          </a:prstGeom>
        </p:spPr>
      </p:pic>
      <p:sp>
        <p:nvSpPr>
          <p:cNvPr id="21" name="TextBox 20"/>
          <p:cNvSpPr txBox="1"/>
          <p:nvPr/>
        </p:nvSpPr>
        <p:spPr>
          <a:xfrm>
            <a:off x="8924543" y="4180414"/>
            <a:ext cx="2414015" cy="475488"/>
          </a:xfrm>
          <a:prstGeom prst="rect">
            <a:avLst/>
          </a:prstGeom>
          <a:noFill/>
        </p:spPr>
        <p:txBody>
          <a:bodyPr wrap="square" lIns="0" tIns="0" rIns="0" bIns="0" anchor="ctr">
            <a:noAutofit/>
          </a:bodyPr>
          <a:lstStyle/>
          <a:p>
            <a:pPr algn="l"/>
            <a:r>
              <a:rPr sz="1650" b="1" i="0">
                <a:solidFill>
                  <a:srgbClr val="1B1F3B"/>
                </a:solidFill>
                <a:latin typeface="Calibri"/>
              </a:rPr>
              <a:t>No Unified Platform</a:t>
            </a:r>
          </a:p>
        </p:txBody>
      </p:sp>
      <p:sp>
        <p:nvSpPr>
          <p:cNvPr id="22" name="TextBox 21"/>
          <p:cNvSpPr txBox="1"/>
          <p:nvPr/>
        </p:nvSpPr>
        <p:spPr>
          <a:xfrm>
            <a:off x="8357615" y="4820494"/>
            <a:ext cx="2916935" cy="868680"/>
          </a:xfrm>
          <a:prstGeom prst="rect">
            <a:avLst/>
          </a:prstGeom>
          <a:noFill/>
        </p:spPr>
        <p:txBody>
          <a:bodyPr wrap="square" lIns="0" tIns="0" rIns="0" bIns="0" anchor="t">
            <a:noAutofit/>
          </a:bodyPr>
          <a:lstStyle/>
          <a:p>
            <a:pPr algn="l">
              <a:spcAft>
                <a:spcPts val="300"/>
              </a:spcAft>
            </a:pPr>
            <a:r>
              <a:rPr sz="1400" b="0" i="0">
                <a:solidFill>
                  <a:srgbClr val="0B1220"/>
                </a:solidFill>
                <a:latin typeface="Calibri"/>
              </a:rPr>
              <a:t>Screening, testing and ranking are handled as separate steps.</a:t>
            </a:r>
          </a:p>
        </p:txBody>
      </p:sp>
      <p:sp>
        <p:nvSpPr>
          <p:cNvPr id="23" name="TextBox 22"/>
          <p:cNvSpPr txBox="1"/>
          <p:nvPr/>
        </p:nvSpPr>
        <p:spPr>
          <a:xfrm>
            <a:off x="640080" y="6537960"/>
            <a:ext cx="2926080" cy="201168"/>
          </a:xfrm>
          <a:prstGeom prst="rect">
            <a:avLst/>
          </a:prstGeom>
          <a:noFill/>
        </p:spPr>
        <p:txBody>
          <a:bodyPr wrap="square" lIns="0" tIns="0" rIns="0" bIns="0" anchor="ctr">
            <a:noAutofit/>
          </a:bodyPr>
          <a:lstStyle/>
          <a:p>
            <a:pPr algn="l"/>
            <a:r>
              <a:rPr sz="1000" b="1" i="0">
                <a:solidFill>
                  <a:srgbClr val="002060"/>
                </a:solidFill>
                <a:latin typeface="Calibri"/>
              </a:rPr>
              <a:t>INTELLIGENT HIRING SYSTEM</a:t>
            </a:r>
          </a:p>
        </p:txBody>
      </p:sp>
      <p:sp>
        <p:nvSpPr>
          <p:cNvPr id="24" name="Oval 23"/>
          <p:cNvSpPr/>
          <p:nvPr/>
        </p:nvSpPr>
        <p:spPr>
          <a:xfrm>
            <a:off x="11256264" y="6492240"/>
            <a:ext cx="292608" cy="292608"/>
          </a:xfrm>
          <a:prstGeom prst="ellipse">
            <a:avLst/>
          </a:prstGeom>
          <a:solidFill>
            <a:srgbClr val="F4F7FE"/>
          </a:solidFill>
          <a:ln>
            <a:noFill/>
          </a:ln>
        </p:spPr>
        <p:txBody>
          <a:bodyPr rtlCol="0" anchor="ctr"/>
          <a:lstStyle/>
          <a:p>
            <a:pPr algn="ctr"/>
            <a:endParaRPr/>
          </a:p>
        </p:txBody>
      </p:sp>
      <p:sp>
        <p:nvSpPr>
          <p:cNvPr id="25" name="TextBox 24"/>
          <p:cNvSpPr txBox="1"/>
          <p:nvPr/>
        </p:nvSpPr>
        <p:spPr>
          <a:xfrm>
            <a:off x="11256264" y="6492240"/>
            <a:ext cx="292608" cy="292608"/>
          </a:xfrm>
          <a:prstGeom prst="rect">
            <a:avLst/>
          </a:prstGeom>
          <a:noFill/>
        </p:spPr>
        <p:txBody>
          <a:bodyPr wrap="square" lIns="0" tIns="0" rIns="0" bIns="0" anchor="ctr">
            <a:noAutofit/>
          </a:bodyPr>
          <a:lstStyle/>
          <a:p>
            <a:pPr algn="ctr"/>
            <a:r>
              <a:rPr sz="950" b="1" i="0">
                <a:solidFill>
                  <a:srgbClr val="1E2761"/>
                </a:solidFill>
                <a:latin typeface="Calibr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FAFBFF"/>
            </a:gs>
            <a:gs pos="100000">
              <a:srgbClr val="E4ECFC"/>
            </a:gs>
          </a:gsLst>
          <a:lin ang="2700000" scaled="0"/>
        </a:gradFill>
        <a:effectLst/>
      </p:bgPr>
    </p:bg>
    <p:spTree>
      <p:nvGrpSpPr>
        <p:cNvPr id="1" name=""/>
        <p:cNvGrpSpPr/>
        <p:nvPr/>
      </p:nvGrpSpPr>
      <p:grpSpPr>
        <a:xfrm>
          <a:off x="0" y="0"/>
          <a:ext cx="0" cy="0"/>
          <a:chOff x="0" y="0"/>
          <a:chExt cx="0" cy="0"/>
        </a:xfrm>
      </p:grpSpPr>
      <p:sp>
        <p:nvSpPr>
          <p:cNvPr id="9001" name="Decor 9001"/>
          <p:cNvSpPr/>
          <p:nvPr/>
        </p:nvSpPr>
        <p:spPr>
          <a:xfrm>
            <a:off x="8300000" y="-2300000"/>
            <a:ext cx="5200000" cy="5200000"/>
          </a:xfrm>
          <a:prstGeom prst="ellipse">
            <a:avLst/>
          </a:prstGeom>
          <a:solidFill>
            <a:srgbClr val="4A5BC4">
              <a:alpha val="9000"/>
            </a:srgbClr>
          </a:solidFill>
          <a:ln>
            <a:noFill/>
          </a:ln>
        </p:spPr>
        <p:txBody>
          <a:bodyPr/>
          <a:lstStyle/>
          <a:p>
            <a:endParaRPr lang="en-US"/>
          </a:p>
        </p:txBody>
      </p:sp>
      <p:sp>
        <p:nvSpPr>
          <p:cNvPr id="9002" name="Decor 9002"/>
          <p:cNvSpPr/>
          <p:nvPr/>
        </p:nvSpPr>
        <p:spPr>
          <a:xfrm>
            <a:off x="9300000" y="-1500000"/>
            <a:ext cx="3600000" cy="3600000"/>
          </a:xfrm>
          <a:prstGeom prst="ellipse">
            <a:avLst/>
          </a:prstGeom>
          <a:noFill/>
          <a:ln w="19050">
            <a:solidFill>
              <a:srgbClr val="4A5BC4">
                <a:alpha val="22000"/>
              </a:srgbClr>
            </a:solidFill>
          </a:ln>
        </p:spPr>
        <p:txBody>
          <a:bodyPr/>
          <a:lstStyle/>
          <a:p>
            <a:endParaRPr lang="en-US"/>
          </a:p>
        </p:txBody>
      </p:sp>
      <p:sp>
        <p:nvSpPr>
          <p:cNvPr id="9003" name="Decor 9003"/>
          <p:cNvSpPr/>
          <p:nvPr/>
        </p:nvSpPr>
        <p:spPr>
          <a:xfrm>
            <a:off x="-1500000" y="5000000"/>
            <a:ext cx="3300000" cy="3300000"/>
          </a:xfrm>
          <a:prstGeom prst="ellipse">
            <a:avLst/>
          </a:prstGeom>
          <a:solidFill>
            <a:srgbClr val="22D3A6">
              <a:alpha val="9000"/>
            </a:srgbClr>
          </a:solidFill>
          <a:ln>
            <a:noFill/>
          </a:ln>
        </p:spPr>
        <p:txBody>
          <a:bodyPr/>
          <a:lstStyle/>
          <a:p>
            <a:endParaRPr lang="en-US"/>
          </a:p>
        </p:txBody>
      </p:sp>
      <p:sp>
        <p:nvSpPr>
          <p:cNvPr id="9004" name="Decor 9004"/>
          <p:cNvSpPr/>
          <p:nvPr/>
        </p:nvSpPr>
        <p:spPr>
          <a:xfrm>
            <a:off x="-900000" y="5600000"/>
            <a:ext cx="1900000" cy="1900000"/>
          </a:xfrm>
          <a:prstGeom prst="ellipse">
            <a:avLst/>
          </a:prstGeom>
          <a:noFill/>
          <a:ln w="19050">
            <a:solidFill>
              <a:srgbClr val="4A5BC4">
                <a:alpha val="14000"/>
              </a:srgbClr>
            </a:solidFill>
          </a:ln>
        </p:spPr>
        <p:txBody>
          <a:bodyPr/>
          <a:lstStyle/>
          <a:p>
            <a:endParaRPr lang="en-US"/>
          </a:p>
        </p:txBody>
      </p:sp>
      <p:sp>
        <p:nvSpPr>
          <p:cNvPr id="4" name="TextBox 3"/>
          <p:cNvSpPr txBox="1"/>
          <p:nvPr/>
        </p:nvSpPr>
        <p:spPr>
          <a:xfrm>
            <a:off x="640080" y="489607"/>
            <a:ext cx="10881360" cy="566928"/>
          </a:xfrm>
          <a:prstGeom prst="rect">
            <a:avLst/>
          </a:prstGeom>
          <a:noFill/>
        </p:spPr>
        <p:txBody>
          <a:bodyPr wrap="square" lIns="0" tIns="0" rIns="0" bIns="0" anchor="ctr">
            <a:noAutofit/>
          </a:bodyPr>
          <a:lstStyle/>
          <a:p>
            <a:pPr algn="l"/>
            <a:r>
              <a:rPr sz="3000" b="1" i="0">
                <a:solidFill>
                  <a:srgbClr val="1B1F3B"/>
                </a:solidFill>
                <a:latin typeface="Cambria"/>
              </a:rPr>
              <a:t>Objectives</a:t>
            </a:r>
          </a:p>
        </p:txBody>
      </p:sp>
      <p:sp>
        <p:nvSpPr>
          <p:cNvPr id="5" name="Rounded Rectangle 4"/>
          <p:cNvSpPr/>
          <p:nvPr/>
        </p:nvSpPr>
        <p:spPr>
          <a:xfrm>
            <a:off x="640080" y="1303423"/>
            <a:ext cx="5326380" cy="2103120"/>
          </a:xfrm>
          <a:prstGeom prst="roundRect">
            <a:avLst>
              <a:gd name="adj" fmla="val 3478"/>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6" name="Oval 5"/>
          <p:cNvSpPr/>
          <p:nvPr/>
        </p:nvSpPr>
        <p:spPr>
          <a:xfrm>
            <a:off x="868680" y="1504591"/>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7" name="Picture 6" descr="image.png"/>
          <p:cNvPicPr>
            <a:picLocks noChangeAspect="1"/>
          </p:cNvPicPr>
          <p:nvPr/>
        </p:nvPicPr>
        <p:blipFill>
          <a:blip r:embed="rId2"/>
          <a:stretch>
            <a:fillRect/>
          </a:stretch>
        </p:blipFill>
        <p:spPr>
          <a:xfrm>
            <a:off x="968532" y="1604443"/>
            <a:ext cx="275783" cy="275783"/>
          </a:xfrm>
          <a:prstGeom prst="rect">
            <a:avLst/>
          </a:prstGeom>
        </p:spPr>
      </p:pic>
      <p:sp>
        <p:nvSpPr>
          <p:cNvPr id="8" name="TextBox 7"/>
          <p:cNvSpPr txBox="1"/>
          <p:nvPr/>
        </p:nvSpPr>
        <p:spPr>
          <a:xfrm>
            <a:off x="1481328" y="1504591"/>
            <a:ext cx="4274820" cy="475488"/>
          </a:xfrm>
          <a:prstGeom prst="rect">
            <a:avLst/>
          </a:prstGeom>
          <a:noFill/>
        </p:spPr>
        <p:txBody>
          <a:bodyPr wrap="square" lIns="0" tIns="0" rIns="0" bIns="0" anchor="ctr">
            <a:noAutofit/>
          </a:bodyPr>
          <a:lstStyle/>
          <a:p>
            <a:pPr algn="l"/>
            <a:r>
              <a:rPr sz="1650" b="1" i="0">
                <a:solidFill>
                  <a:srgbClr val="1B1F3B"/>
                </a:solidFill>
                <a:latin typeface="Calibri"/>
              </a:rPr>
              <a:t>Main Objective</a:t>
            </a:r>
          </a:p>
        </p:txBody>
      </p:sp>
      <p:sp>
        <p:nvSpPr>
          <p:cNvPr id="9" name="TextBox 8"/>
          <p:cNvSpPr txBox="1"/>
          <p:nvPr/>
        </p:nvSpPr>
        <p:spPr>
          <a:xfrm>
            <a:off x="914400" y="2144671"/>
            <a:ext cx="4777740" cy="1142999"/>
          </a:xfrm>
          <a:prstGeom prst="rect">
            <a:avLst/>
          </a:prstGeom>
          <a:noFill/>
        </p:spPr>
        <p:txBody>
          <a:bodyPr wrap="square" lIns="0" tIns="0" rIns="0" bIns="0" anchor="t">
            <a:noAutofit/>
          </a:bodyPr>
          <a:lstStyle/>
          <a:p>
            <a:pPr algn="l">
              <a:spcAft>
                <a:spcPts val="300"/>
              </a:spcAft>
            </a:pPr>
            <a:r>
              <a:rPr sz="1500" b="0" i="0">
                <a:solidFill>
                  <a:srgbClr val="0B1220"/>
                </a:solidFill>
                <a:latin typeface="Calibri"/>
              </a:rPr>
              <a:t>Develop an AI-based Intelligent Hiring System that automates and standardizes candidate screening and selection.</a:t>
            </a:r>
          </a:p>
        </p:txBody>
      </p:sp>
      <p:sp>
        <p:nvSpPr>
          <p:cNvPr id="10" name="Rounded Rectangle 9"/>
          <p:cNvSpPr/>
          <p:nvPr/>
        </p:nvSpPr>
        <p:spPr>
          <a:xfrm>
            <a:off x="6222492" y="1303423"/>
            <a:ext cx="5326380" cy="2103120"/>
          </a:xfrm>
          <a:prstGeom prst="roundRect">
            <a:avLst>
              <a:gd name="adj" fmla="val 3478"/>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11" name="Oval 10"/>
          <p:cNvSpPr/>
          <p:nvPr/>
        </p:nvSpPr>
        <p:spPr>
          <a:xfrm>
            <a:off x="6451092" y="1504591"/>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12" name="Picture 11" descr="image.png"/>
          <p:cNvPicPr>
            <a:picLocks noChangeAspect="1"/>
          </p:cNvPicPr>
          <p:nvPr/>
        </p:nvPicPr>
        <p:blipFill>
          <a:blip r:embed="rId3"/>
          <a:stretch>
            <a:fillRect/>
          </a:stretch>
        </p:blipFill>
        <p:spPr>
          <a:xfrm>
            <a:off x="6550944" y="1604443"/>
            <a:ext cx="275783" cy="275783"/>
          </a:xfrm>
          <a:prstGeom prst="rect">
            <a:avLst/>
          </a:prstGeom>
        </p:spPr>
      </p:pic>
      <p:sp>
        <p:nvSpPr>
          <p:cNvPr id="13" name="TextBox 12"/>
          <p:cNvSpPr txBox="1"/>
          <p:nvPr/>
        </p:nvSpPr>
        <p:spPr>
          <a:xfrm>
            <a:off x="7063740" y="1504591"/>
            <a:ext cx="4274820" cy="475488"/>
          </a:xfrm>
          <a:prstGeom prst="rect">
            <a:avLst/>
          </a:prstGeom>
          <a:noFill/>
        </p:spPr>
        <p:txBody>
          <a:bodyPr wrap="square" lIns="0" tIns="0" rIns="0" bIns="0" anchor="ctr">
            <a:noAutofit/>
          </a:bodyPr>
          <a:lstStyle/>
          <a:p>
            <a:pPr algn="l"/>
            <a:r>
              <a:rPr sz="1650" b="1" i="0">
                <a:solidFill>
                  <a:srgbClr val="1B1F3B"/>
                </a:solidFill>
                <a:latin typeface="Calibri"/>
              </a:rPr>
              <a:t>Specific Objectives</a:t>
            </a:r>
          </a:p>
        </p:txBody>
      </p:sp>
      <p:sp>
        <p:nvSpPr>
          <p:cNvPr id="14" name="TextBox 13"/>
          <p:cNvSpPr txBox="1"/>
          <p:nvPr/>
        </p:nvSpPr>
        <p:spPr>
          <a:xfrm>
            <a:off x="6496812" y="2144671"/>
            <a:ext cx="4777740" cy="1142999"/>
          </a:xfrm>
          <a:prstGeom prst="rect">
            <a:avLst/>
          </a:prstGeom>
          <a:noFill/>
        </p:spPr>
        <p:txBody>
          <a:bodyPr wrap="square" lIns="0" tIns="0" rIns="0" bIns="0" anchor="t">
            <a:noAutofit/>
          </a:bodyPr>
          <a:lstStyle/>
          <a:p>
            <a:pPr marL="201168" indent="-201168" algn="l">
              <a:spcAft>
                <a:spcPts val="300"/>
              </a:spcAft>
              <a:buFont typeface="Arial"/>
              <a:buChar char="•"/>
            </a:pPr>
            <a:r>
              <a:rPr sz="1500" b="0" i="0">
                <a:solidFill>
                  <a:srgbClr val="0B1220"/>
                </a:solidFill>
                <a:latin typeface="Calibri"/>
              </a:rPr>
              <a:t>Automate resume screening</a:t>
            </a:r>
          </a:p>
          <a:p>
            <a:pPr marL="201168" indent="-201168" algn="l">
              <a:spcAft>
                <a:spcPts val="300"/>
              </a:spcAft>
              <a:buFont typeface="Arial"/>
              <a:buChar char="•"/>
            </a:pPr>
            <a:r>
              <a:rPr sz="1500" b="0" i="0">
                <a:solidFill>
                  <a:srgbClr val="0B1220"/>
                </a:solidFill>
                <a:latin typeface="Calibri"/>
              </a:rPr>
              <a:t>Assess candidates with aptitude and personality tests</a:t>
            </a:r>
          </a:p>
          <a:p>
            <a:pPr marL="201168" indent="-201168" algn="l">
              <a:spcAft>
                <a:spcPts val="300"/>
              </a:spcAft>
              <a:buFont typeface="Arial"/>
              <a:buChar char="•"/>
            </a:pPr>
            <a:r>
              <a:rPr sz="1500" b="0" i="0">
                <a:solidFill>
                  <a:srgbClr val="0B1220"/>
                </a:solidFill>
                <a:latin typeface="Calibri"/>
              </a:rPr>
              <a:t>Generate a ranked shortlist from measurable criteria</a:t>
            </a:r>
          </a:p>
          <a:p>
            <a:pPr marL="201168" indent="-201168" algn="l">
              <a:spcAft>
                <a:spcPts val="300"/>
              </a:spcAft>
              <a:buFont typeface="Arial"/>
              <a:buChar char="•"/>
            </a:pPr>
            <a:r>
              <a:rPr sz="1500" b="0" i="0">
                <a:solidFill>
                  <a:srgbClr val="0B1220"/>
                </a:solidFill>
                <a:latin typeface="Calibri"/>
              </a:rPr>
              <a:t>Build a scalable system for different job roles</a:t>
            </a:r>
          </a:p>
        </p:txBody>
      </p:sp>
      <p:sp>
        <p:nvSpPr>
          <p:cNvPr id="15" name="Rounded Rectangle 14"/>
          <p:cNvSpPr/>
          <p:nvPr/>
        </p:nvSpPr>
        <p:spPr>
          <a:xfrm>
            <a:off x="640080" y="3680862"/>
            <a:ext cx="5326380" cy="2103120"/>
          </a:xfrm>
          <a:prstGeom prst="roundRect">
            <a:avLst>
              <a:gd name="adj" fmla="val 3478"/>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16" name="Oval 15"/>
          <p:cNvSpPr/>
          <p:nvPr/>
        </p:nvSpPr>
        <p:spPr>
          <a:xfrm>
            <a:off x="868680" y="3882030"/>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17" name="Picture 16" descr="image.png"/>
          <p:cNvPicPr>
            <a:picLocks noChangeAspect="1"/>
          </p:cNvPicPr>
          <p:nvPr/>
        </p:nvPicPr>
        <p:blipFill>
          <a:blip r:embed="rId4"/>
          <a:stretch>
            <a:fillRect/>
          </a:stretch>
        </p:blipFill>
        <p:spPr>
          <a:xfrm>
            <a:off x="968532" y="3981883"/>
            <a:ext cx="275783" cy="275783"/>
          </a:xfrm>
          <a:prstGeom prst="rect">
            <a:avLst/>
          </a:prstGeom>
        </p:spPr>
      </p:pic>
      <p:sp>
        <p:nvSpPr>
          <p:cNvPr id="18" name="TextBox 17"/>
          <p:cNvSpPr txBox="1"/>
          <p:nvPr/>
        </p:nvSpPr>
        <p:spPr>
          <a:xfrm>
            <a:off x="1481328" y="3882030"/>
            <a:ext cx="4274820" cy="475488"/>
          </a:xfrm>
          <a:prstGeom prst="rect">
            <a:avLst/>
          </a:prstGeom>
          <a:noFill/>
        </p:spPr>
        <p:txBody>
          <a:bodyPr wrap="square" lIns="0" tIns="0" rIns="0" bIns="0" anchor="ctr">
            <a:noAutofit/>
          </a:bodyPr>
          <a:lstStyle/>
          <a:p>
            <a:pPr algn="l"/>
            <a:r>
              <a:rPr sz="1650" b="1" i="0">
                <a:solidFill>
                  <a:srgbClr val="1B1F3B"/>
                </a:solidFill>
                <a:latin typeface="Calibri"/>
              </a:rPr>
              <a:t>Expected Outcome</a:t>
            </a:r>
          </a:p>
        </p:txBody>
      </p:sp>
      <p:sp>
        <p:nvSpPr>
          <p:cNvPr id="19" name="TextBox 18"/>
          <p:cNvSpPr txBox="1"/>
          <p:nvPr/>
        </p:nvSpPr>
        <p:spPr>
          <a:xfrm>
            <a:off x="914400" y="4522111"/>
            <a:ext cx="4777740" cy="1142999"/>
          </a:xfrm>
          <a:prstGeom prst="rect">
            <a:avLst/>
          </a:prstGeom>
          <a:noFill/>
        </p:spPr>
        <p:txBody>
          <a:bodyPr wrap="square" lIns="0" tIns="0" rIns="0" bIns="0" anchor="t">
            <a:noAutofit/>
          </a:bodyPr>
          <a:lstStyle/>
          <a:p>
            <a:pPr algn="l">
              <a:spcAft>
                <a:spcPts val="300"/>
              </a:spcAft>
            </a:pPr>
            <a:r>
              <a:rPr sz="1500" b="0" i="0">
                <a:solidFill>
                  <a:srgbClr val="0B1220"/>
                </a:solidFill>
                <a:latin typeface="Calibri"/>
              </a:rPr>
              <a:t>Objective, bias-free evaluation of candidates and a shorter time-to-hire across roles.</a:t>
            </a:r>
          </a:p>
        </p:txBody>
      </p:sp>
      <p:sp>
        <p:nvSpPr>
          <p:cNvPr id="20" name="Rounded Rectangle 19"/>
          <p:cNvSpPr/>
          <p:nvPr/>
        </p:nvSpPr>
        <p:spPr>
          <a:xfrm>
            <a:off x="6222492" y="3680862"/>
            <a:ext cx="5326380" cy="2103120"/>
          </a:xfrm>
          <a:prstGeom prst="roundRect">
            <a:avLst>
              <a:gd name="adj" fmla="val 3478"/>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21" name="Oval 20"/>
          <p:cNvSpPr/>
          <p:nvPr/>
        </p:nvSpPr>
        <p:spPr>
          <a:xfrm>
            <a:off x="6451092" y="3882030"/>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22" name="Picture 21" descr="image.png"/>
          <p:cNvPicPr>
            <a:picLocks noChangeAspect="1"/>
          </p:cNvPicPr>
          <p:nvPr/>
        </p:nvPicPr>
        <p:blipFill>
          <a:blip r:embed="rId5"/>
          <a:stretch>
            <a:fillRect/>
          </a:stretch>
        </p:blipFill>
        <p:spPr>
          <a:xfrm>
            <a:off x="6550944" y="3981883"/>
            <a:ext cx="275783" cy="275783"/>
          </a:xfrm>
          <a:prstGeom prst="rect">
            <a:avLst/>
          </a:prstGeom>
        </p:spPr>
      </p:pic>
      <p:sp>
        <p:nvSpPr>
          <p:cNvPr id="23" name="TextBox 22"/>
          <p:cNvSpPr txBox="1"/>
          <p:nvPr/>
        </p:nvSpPr>
        <p:spPr>
          <a:xfrm>
            <a:off x="7063740" y="3882030"/>
            <a:ext cx="4274820" cy="475488"/>
          </a:xfrm>
          <a:prstGeom prst="rect">
            <a:avLst/>
          </a:prstGeom>
          <a:noFill/>
        </p:spPr>
        <p:txBody>
          <a:bodyPr wrap="square" lIns="0" tIns="0" rIns="0" bIns="0" anchor="ctr">
            <a:noAutofit/>
          </a:bodyPr>
          <a:lstStyle/>
          <a:p>
            <a:pPr algn="l"/>
            <a:r>
              <a:rPr sz="1650" b="1" i="0">
                <a:solidFill>
                  <a:srgbClr val="1B1F3B"/>
                </a:solidFill>
                <a:latin typeface="Calibri"/>
              </a:rPr>
              <a:t>Benefits to Users</a:t>
            </a:r>
          </a:p>
        </p:txBody>
      </p:sp>
      <p:sp>
        <p:nvSpPr>
          <p:cNvPr id="24" name="TextBox 23"/>
          <p:cNvSpPr txBox="1"/>
          <p:nvPr/>
        </p:nvSpPr>
        <p:spPr>
          <a:xfrm>
            <a:off x="6496812" y="4522111"/>
            <a:ext cx="4777740" cy="1142999"/>
          </a:xfrm>
          <a:prstGeom prst="rect">
            <a:avLst/>
          </a:prstGeom>
          <a:noFill/>
        </p:spPr>
        <p:txBody>
          <a:bodyPr wrap="square" lIns="0" tIns="0" rIns="0" bIns="0" anchor="t">
            <a:noAutofit/>
          </a:bodyPr>
          <a:lstStyle/>
          <a:p>
            <a:pPr marL="201168" indent="-201168" algn="l">
              <a:spcAft>
                <a:spcPts val="300"/>
              </a:spcAft>
              <a:buFont typeface="Arial"/>
              <a:buChar char="•"/>
            </a:pPr>
            <a:r>
              <a:rPr sz="1500" b="0" i="0">
                <a:solidFill>
                  <a:srgbClr val="0B1220"/>
                </a:solidFill>
                <a:latin typeface="Calibri"/>
              </a:rPr>
              <a:t>HR: less manual workload and data-driven decisions</a:t>
            </a:r>
          </a:p>
          <a:p>
            <a:pPr marL="201168" indent="-201168" algn="l">
              <a:spcAft>
                <a:spcPts val="300"/>
              </a:spcAft>
              <a:buFont typeface="Arial"/>
              <a:buChar char="•"/>
            </a:pPr>
            <a:r>
              <a:rPr sz="1500" b="0" i="0">
                <a:solidFill>
                  <a:srgbClr val="0B1220"/>
                </a:solidFill>
                <a:latin typeface="Calibri"/>
              </a:rPr>
              <a:t>Candidates: fair, consistent online assessment</a:t>
            </a:r>
          </a:p>
        </p:txBody>
      </p:sp>
      <p:sp>
        <p:nvSpPr>
          <p:cNvPr id="25" name="TextBox 24"/>
          <p:cNvSpPr txBox="1"/>
          <p:nvPr/>
        </p:nvSpPr>
        <p:spPr>
          <a:xfrm>
            <a:off x="640080" y="6537960"/>
            <a:ext cx="2926080" cy="201168"/>
          </a:xfrm>
          <a:prstGeom prst="rect">
            <a:avLst/>
          </a:prstGeom>
          <a:noFill/>
        </p:spPr>
        <p:txBody>
          <a:bodyPr wrap="square" lIns="0" tIns="0" rIns="0" bIns="0" anchor="ctr">
            <a:noAutofit/>
          </a:bodyPr>
          <a:lstStyle/>
          <a:p>
            <a:pPr algn="l"/>
            <a:r>
              <a:rPr sz="1000" b="1" i="0">
                <a:solidFill>
                  <a:srgbClr val="002060"/>
                </a:solidFill>
                <a:latin typeface="Calibri"/>
              </a:rPr>
              <a:t>INTELLIGENT HIRING SYSTEM</a:t>
            </a:r>
          </a:p>
        </p:txBody>
      </p:sp>
      <p:sp>
        <p:nvSpPr>
          <p:cNvPr id="26" name="Oval 25"/>
          <p:cNvSpPr/>
          <p:nvPr/>
        </p:nvSpPr>
        <p:spPr>
          <a:xfrm>
            <a:off x="11256264" y="6492240"/>
            <a:ext cx="292608" cy="292608"/>
          </a:xfrm>
          <a:prstGeom prst="ellipse">
            <a:avLst/>
          </a:prstGeom>
          <a:solidFill>
            <a:srgbClr val="F4F7FE"/>
          </a:solidFill>
          <a:ln>
            <a:noFill/>
          </a:ln>
        </p:spPr>
        <p:txBody>
          <a:bodyPr rtlCol="0" anchor="ctr"/>
          <a:lstStyle/>
          <a:p>
            <a:pPr algn="ctr"/>
            <a:endParaRPr/>
          </a:p>
        </p:txBody>
      </p:sp>
      <p:sp>
        <p:nvSpPr>
          <p:cNvPr id="27" name="TextBox 26"/>
          <p:cNvSpPr txBox="1"/>
          <p:nvPr/>
        </p:nvSpPr>
        <p:spPr>
          <a:xfrm>
            <a:off x="11256264" y="6492240"/>
            <a:ext cx="292608" cy="292608"/>
          </a:xfrm>
          <a:prstGeom prst="rect">
            <a:avLst/>
          </a:prstGeom>
          <a:noFill/>
        </p:spPr>
        <p:txBody>
          <a:bodyPr wrap="square" lIns="0" tIns="0" rIns="0" bIns="0" anchor="ctr">
            <a:noAutofit/>
          </a:bodyPr>
          <a:lstStyle/>
          <a:p>
            <a:pPr algn="ctr"/>
            <a:r>
              <a:rPr sz="950" b="1" i="0">
                <a:solidFill>
                  <a:srgbClr val="1E2761"/>
                </a:solidFill>
                <a:latin typeface="Calibr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FAFBFF"/>
            </a:gs>
            <a:gs pos="100000">
              <a:srgbClr val="E4ECFC"/>
            </a:gs>
          </a:gsLst>
          <a:lin ang="2700000" scaled="0"/>
        </a:gradFill>
        <a:effectLst/>
      </p:bgPr>
    </p:bg>
    <p:spTree>
      <p:nvGrpSpPr>
        <p:cNvPr id="1" name=""/>
        <p:cNvGrpSpPr/>
        <p:nvPr/>
      </p:nvGrpSpPr>
      <p:grpSpPr>
        <a:xfrm>
          <a:off x="0" y="0"/>
          <a:ext cx="0" cy="0"/>
          <a:chOff x="0" y="0"/>
          <a:chExt cx="0" cy="0"/>
        </a:xfrm>
      </p:grpSpPr>
      <p:sp>
        <p:nvSpPr>
          <p:cNvPr id="9001" name="Decor 9001"/>
          <p:cNvSpPr/>
          <p:nvPr/>
        </p:nvSpPr>
        <p:spPr>
          <a:xfrm>
            <a:off x="8300000" y="-2300000"/>
            <a:ext cx="5200000" cy="5200000"/>
          </a:xfrm>
          <a:prstGeom prst="ellipse">
            <a:avLst/>
          </a:prstGeom>
          <a:solidFill>
            <a:srgbClr val="4A5BC4">
              <a:alpha val="9000"/>
            </a:srgbClr>
          </a:solidFill>
          <a:ln>
            <a:noFill/>
          </a:ln>
        </p:spPr>
        <p:txBody>
          <a:bodyPr/>
          <a:lstStyle/>
          <a:p>
            <a:endParaRPr lang="en-US"/>
          </a:p>
        </p:txBody>
      </p:sp>
      <p:sp>
        <p:nvSpPr>
          <p:cNvPr id="9002" name="Decor 9002"/>
          <p:cNvSpPr/>
          <p:nvPr/>
        </p:nvSpPr>
        <p:spPr>
          <a:xfrm>
            <a:off x="9300000" y="-1500000"/>
            <a:ext cx="3600000" cy="3600000"/>
          </a:xfrm>
          <a:prstGeom prst="ellipse">
            <a:avLst/>
          </a:prstGeom>
          <a:noFill/>
          <a:ln w="19050">
            <a:solidFill>
              <a:srgbClr val="4A5BC4">
                <a:alpha val="22000"/>
              </a:srgbClr>
            </a:solidFill>
          </a:ln>
        </p:spPr>
        <p:txBody>
          <a:bodyPr/>
          <a:lstStyle/>
          <a:p>
            <a:endParaRPr lang="en-US"/>
          </a:p>
        </p:txBody>
      </p:sp>
      <p:sp>
        <p:nvSpPr>
          <p:cNvPr id="9003" name="Decor 9003"/>
          <p:cNvSpPr/>
          <p:nvPr/>
        </p:nvSpPr>
        <p:spPr>
          <a:xfrm>
            <a:off x="-1500000" y="5000000"/>
            <a:ext cx="3300000" cy="3300000"/>
          </a:xfrm>
          <a:prstGeom prst="ellipse">
            <a:avLst/>
          </a:prstGeom>
          <a:solidFill>
            <a:srgbClr val="22D3A6">
              <a:alpha val="9000"/>
            </a:srgbClr>
          </a:solidFill>
          <a:ln>
            <a:noFill/>
          </a:ln>
        </p:spPr>
        <p:txBody>
          <a:bodyPr/>
          <a:lstStyle/>
          <a:p>
            <a:endParaRPr lang="en-US"/>
          </a:p>
        </p:txBody>
      </p:sp>
      <p:sp>
        <p:nvSpPr>
          <p:cNvPr id="9004" name="Decor 9004"/>
          <p:cNvSpPr/>
          <p:nvPr/>
        </p:nvSpPr>
        <p:spPr>
          <a:xfrm>
            <a:off x="-900000" y="5600000"/>
            <a:ext cx="1900000" cy="1900000"/>
          </a:xfrm>
          <a:prstGeom prst="ellipse">
            <a:avLst/>
          </a:prstGeom>
          <a:noFill/>
          <a:ln w="19050">
            <a:solidFill>
              <a:srgbClr val="4A5BC4">
                <a:alpha val="14000"/>
              </a:srgbClr>
            </a:solidFill>
          </a:ln>
        </p:spPr>
        <p:txBody>
          <a:bodyPr/>
          <a:lstStyle/>
          <a:p>
            <a:endParaRPr lang="en-US"/>
          </a:p>
        </p:txBody>
      </p:sp>
      <p:sp>
        <p:nvSpPr>
          <p:cNvPr id="4" name="TextBox 3"/>
          <p:cNvSpPr txBox="1"/>
          <p:nvPr/>
        </p:nvSpPr>
        <p:spPr>
          <a:xfrm>
            <a:off x="704248" y="481586"/>
            <a:ext cx="10881360" cy="566928"/>
          </a:xfrm>
          <a:prstGeom prst="rect">
            <a:avLst/>
          </a:prstGeom>
          <a:noFill/>
        </p:spPr>
        <p:txBody>
          <a:bodyPr wrap="square" lIns="0" tIns="0" rIns="0" bIns="0" anchor="ctr">
            <a:noAutofit/>
          </a:bodyPr>
          <a:lstStyle/>
          <a:p>
            <a:pPr algn="l"/>
            <a:r>
              <a:rPr sz="3000" b="1" i="0">
                <a:solidFill>
                  <a:srgbClr val="1B1F3B"/>
                </a:solidFill>
                <a:latin typeface="Cambria"/>
              </a:rPr>
              <a:t>Existing System</a:t>
            </a:r>
          </a:p>
        </p:txBody>
      </p:sp>
      <p:sp>
        <p:nvSpPr>
          <p:cNvPr id="5" name="Rounded Rectangle 4"/>
          <p:cNvSpPr/>
          <p:nvPr/>
        </p:nvSpPr>
        <p:spPr>
          <a:xfrm>
            <a:off x="704248" y="1295402"/>
            <a:ext cx="3465575" cy="2194560"/>
          </a:xfrm>
          <a:prstGeom prst="roundRect">
            <a:avLst>
              <a:gd name="adj" fmla="val 3333"/>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6" name="Oval 5"/>
          <p:cNvSpPr/>
          <p:nvPr/>
        </p:nvSpPr>
        <p:spPr>
          <a:xfrm>
            <a:off x="932848" y="1496570"/>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7" name="Picture 6" descr="image.png"/>
          <p:cNvPicPr>
            <a:picLocks noChangeAspect="1"/>
          </p:cNvPicPr>
          <p:nvPr/>
        </p:nvPicPr>
        <p:blipFill>
          <a:blip r:embed="rId2"/>
          <a:stretch>
            <a:fillRect/>
          </a:stretch>
        </p:blipFill>
        <p:spPr>
          <a:xfrm>
            <a:off x="1032700" y="1596422"/>
            <a:ext cx="275783" cy="275783"/>
          </a:xfrm>
          <a:prstGeom prst="rect">
            <a:avLst/>
          </a:prstGeom>
        </p:spPr>
      </p:pic>
      <p:sp>
        <p:nvSpPr>
          <p:cNvPr id="8" name="TextBox 7"/>
          <p:cNvSpPr txBox="1"/>
          <p:nvPr/>
        </p:nvSpPr>
        <p:spPr>
          <a:xfrm>
            <a:off x="1545496" y="1496570"/>
            <a:ext cx="2414015" cy="475488"/>
          </a:xfrm>
          <a:prstGeom prst="rect">
            <a:avLst/>
          </a:prstGeom>
          <a:noFill/>
        </p:spPr>
        <p:txBody>
          <a:bodyPr wrap="square" lIns="0" tIns="0" rIns="0" bIns="0" anchor="ctr">
            <a:noAutofit/>
          </a:bodyPr>
          <a:lstStyle/>
          <a:p>
            <a:pPr algn="l"/>
            <a:r>
              <a:rPr sz="1650" b="1" i="0">
                <a:solidFill>
                  <a:srgbClr val="1B1F3B"/>
                </a:solidFill>
                <a:latin typeface="Calibri"/>
              </a:rPr>
              <a:t>Current Method</a:t>
            </a:r>
          </a:p>
        </p:txBody>
      </p:sp>
      <p:sp>
        <p:nvSpPr>
          <p:cNvPr id="9" name="TextBox 8"/>
          <p:cNvSpPr txBox="1"/>
          <p:nvPr/>
        </p:nvSpPr>
        <p:spPr>
          <a:xfrm>
            <a:off x="978568" y="2136650"/>
            <a:ext cx="2916935" cy="1234439"/>
          </a:xfrm>
          <a:prstGeom prst="rect">
            <a:avLst/>
          </a:prstGeom>
          <a:noFill/>
        </p:spPr>
        <p:txBody>
          <a:bodyPr wrap="square" lIns="0" tIns="0" rIns="0" bIns="0" anchor="t">
            <a:noAutofit/>
          </a:bodyPr>
          <a:lstStyle/>
          <a:p>
            <a:pPr algn="l">
              <a:spcAft>
                <a:spcPts val="300"/>
              </a:spcAft>
            </a:pPr>
            <a:r>
              <a:rPr sz="1400" b="0" i="0">
                <a:solidFill>
                  <a:srgbClr val="0B1220"/>
                </a:solidFill>
                <a:latin typeface="Calibri"/>
              </a:rPr>
              <a:t>Recruitment is handled manually. HR teams read resumes one at a time and decide on personal judgement.</a:t>
            </a:r>
          </a:p>
        </p:txBody>
      </p:sp>
      <p:sp>
        <p:nvSpPr>
          <p:cNvPr id="10" name="Rounded Rectangle 9"/>
          <p:cNvSpPr/>
          <p:nvPr/>
        </p:nvSpPr>
        <p:spPr>
          <a:xfrm>
            <a:off x="4425856" y="1295402"/>
            <a:ext cx="3465575" cy="2194560"/>
          </a:xfrm>
          <a:prstGeom prst="roundRect">
            <a:avLst>
              <a:gd name="adj" fmla="val 3333"/>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11" name="Oval 10"/>
          <p:cNvSpPr/>
          <p:nvPr/>
        </p:nvSpPr>
        <p:spPr>
          <a:xfrm>
            <a:off x="4654456" y="1496570"/>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12" name="Picture 11" descr="image.png"/>
          <p:cNvPicPr>
            <a:picLocks noChangeAspect="1"/>
          </p:cNvPicPr>
          <p:nvPr/>
        </p:nvPicPr>
        <p:blipFill>
          <a:blip r:embed="rId3"/>
          <a:stretch>
            <a:fillRect/>
          </a:stretch>
        </p:blipFill>
        <p:spPr>
          <a:xfrm>
            <a:off x="4754308" y="1596422"/>
            <a:ext cx="275783" cy="275783"/>
          </a:xfrm>
          <a:prstGeom prst="rect">
            <a:avLst/>
          </a:prstGeom>
        </p:spPr>
      </p:pic>
      <p:sp>
        <p:nvSpPr>
          <p:cNvPr id="13" name="TextBox 12"/>
          <p:cNvSpPr txBox="1"/>
          <p:nvPr/>
        </p:nvSpPr>
        <p:spPr>
          <a:xfrm>
            <a:off x="5267104" y="1496570"/>
            <a:ext cx="2414015" cy="475488"/>
          </a:xfrm>
          <a:prstGeom prst="rect">
            <a:avLst/>
          </a:prstGeom>
          <a:noFill/>
        </p:spPr>
        <p:txBody>
          <a:bodyPr wrap="square" lIns="0" tIns="0" rIns="0" bIns="0" anchor="ctr">
            <a:noAutofit/>
          </a:bodyPr>
          <a:lstStyle/>
          <a:p>
            <a:pPr algn="l"/>
            <a:r>
              <a:rPr sz="1650" b="1" i="0">
                <a:solidFill>
                  <a:srgbClr val="1B1F3B"/>
                </a:solidFill>
                <a:latin typeface="Calibri"/>
              </a:rPr>
              <a:t>Current Workflow</a:t>
            </a:r>
          </a:p>
        </p:txBody>
      </p:sp>
      <p:sp>
        <p:nvSpPr>
          <p:cNvPr id="14" name="TextBox 13"/>
          <p:cNvSpPr txBox="1"/>
          <p:nvPr/>
        </p:nvSpPr>
        <p:spPr>
          <a:xfrm>
            <a:off x="4700175" y="2136650"/>
            <a:ext cx="2916935" cy="1234439"/>
          </a:xfrm>
          <a:prstGeom prst="rect">
            <a:avLst/>
          </a:prstGeom>
          <a:noFill/>
        </p:spPr>
        <p:txBody>
          <a:bodyPr wrap="square" lIns="0" tIns="0" rIns="0" bIns="0" anchor="t">
            <a:noAutofit/>
          </a:bodyPr>
          <a:lstStyle/>
          <a:p>
            <a:pPr marL="201168" indent="-201168" algn="l">
              <a:spcAft>
                <a:spcPts val="300"/>
              </a:spcAft>
              <a:buFont typeface="Arial"/>
              <a:buChar char="•"/>
            </a:pPr>
            <a:r>
              <a:rPr sz="1400" b="0" i="0">
                <a:solidFill>
                  <a:srgbClr val="0B1220"/>
                </a:solidFill>
                <a:latin typeface="Calibri"/>
              </a:rPr>
              <a:t>Collect resumes</a:t>
            </a:r>
          </a:p>
          <a:p>
            <a:pPr marL="201168" indent="-201168" algn="l">
              <a:spcAft>
                <a:spcPts val="300"/>
              </a:spcAft>
              <a:buFont typeface="Arial"/>
              <a:buChar char="•"/>
            </a:pPr>
            <a:r>
              <a:rPr sz="1400" b="0" i="0">
                <a:solidFill>
                  <a:srgbClr val="0B1220"/>
                </a:solidFill>
                <a:latin typeface="Calibri"/>
              </a:rPr>
              <a:t>Screen them one by one</a:t>
            </a:r>
          </a:p>
          <a:p>
            <a:pPr marL="201168" indent="-201168" algn="l">
              <a:spcAft>
                <a:spcPts val="300"/>
              </a:spcAft>
              <a:buFont typeface="Arial"/>
              <a:buChar char="•"/>
            </a:pPr>
            <a:r>
              <a:rPr sz="1400" b="0" i="0">
                <a:solidFill>
                  <a:srgbClr val="0B1220"/>
                </a:solidFill>
                <a:latin typeface="Calibri"/>
              </a:rPr>
              <a:t>Schedule tests and interviews separately</a:t>
            </a:r>
          </a:p>
          <a:p>
            <a:pPr marL="201168" indent="-201168" algn="l">
              <a:spcAft>
                <a:spcPts val="300"/>
              </a:spcAft>
              <a:buFont typeface="Arial"/>
              <a:buChar char="•"/>
            </a:pPr>
            <a:r>
              <a:rPr sz="1400" b="0" i="0">
                <a:solidFill>
                  <a:srgbClr val="0B1220"/>
                </a:solidFill>
                <a:latin typeface="Calibri"/>
              </a:rPr>
              <a:t>Reviewers decide subjectively</a:t>
            </a:r>
          </a:p>
        </p:txBody>
      </p:sp>
      <p:sp>
        <p:nvSpPr>
          <p:cNvPr id="15" name="Rounded Rectangle 14"/>
          <p:cNvSpPr/>
          <p:nvPr/>
        </p:nvSpPr>
        <p:spPr>
          <a:xfrm>
            <a:off x="8147463" y="1295402"/>
            <a:ext cx="3465575" cy="2194560"/>
          </a:xfrm>
          <a:prstGeom prst="roundRect">
            <a:avLst>
              <a:gd name="adj" fmla="val 3333"/>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16" name="Oval 15"/>
          <p:cNvSpPr/>
          <p:nvPr/>
        </p:nvSpPr>
        <p:spPr>
          <a:xfrm>
            <a:off x="8376063" y="1496570"/>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17" name="Picture 16" descr="image.png"/>
          <p:cNvPicPr>
            <a:picLocks noChangeAspect="1"/>
          </p:cNvPicPr>
          <p:nvPr/>
        </p:nvPicPr>
        <p:blipFill>
          <a:blip r:embed="rId4"/>
          <a:stretch>
            <a:fillRect/>
          </a:stretch>
        </p:blipFill>
        <p:spPr>
          <a:xfrm>
            <a:off x="8475916" y="1596422"/>
            <a:ext cx="275783" cy="275783"/>
          </a:xfrm>
          <a:prstGeom prst="rect">
            <a:avLst/>
          </a:prstGeom>
        </p:spPr>
      </p:pic>
      <p:sp>
        <p:nvSpPr>
          <p:cNvPr id="18" name="TextBox 17"/>
          <p:cNvSpPr txBox="1"/>
          <p:nvPr/>
        </p:nvSpPr>
        <p:spPr>
          <a:xfrm>
            <a:off x="8988711" y="1496570"/>
            <a:ext cx="2414015" cy="475488"/>
          </a:xfrm>
          <a:prstGeom prst="rect">
            <a:avLst/>
          </a:prstGeom>
          <a:noFill/>
        </p:spPr>
        <p:txBody>
          <a:bodyPr wrap="square" lIns="0" tIns="0" rIns="0" bIns="0" anchor="ctr">
            <a:noAutofit/>
          </a:bodyPr>
          <a:lstStyle/>
          <a:p>
            <a:pPr algn="l"/>
            <a:r>
              <a:rPr sz="1650" b="1" i="0">
                <a:solidFill>
                  <a:srgbClr val="1B1F3B"/>
                </a:solidFill>
                <a:latin typeface="Calibri"/>
              </a:rPr>
              <a:t>Manual / Inefficient Processes</a:t>
            </a:r>
          </a:p>
        </p:txBody>
      </p:sp>
      <p:sp>
        <p:nvSpPr>
          <p:cNvPr id="19" name="TextBox 18"/>
          <p:cNvSpPr txBox="1"/>
          <p:nvPr/>
        </p:nvSpPr>
        <p:spPr>
          <a:xfrm>
            <a:off x="8421783" y="2136650"/>
            <a:ext cx="2916935" cy="1234439"/>
          </a:xfrm>
          <a:prstGeom prst="rect">
            <a:avLst/>
          </a:prstGeom>
          <a:noFill/>
        </p:spPr>
        <p:txBody>
          <a:bodyPr wrap="square" lIns="0" tIns="0" rIns="0" bIns="0" anchor="t">
            <a:noAutofit/>
          </a:bodyPr>
          <a:lstStyle/>
          <a:p>
            <a:pPr algn="l">
              <a:spcAft>
                <a:spcPts val="300"/>
              </a:spcAft>
            </a:pPr>
            <a:r>
              <a:rPr sz="1400" b="0" i="0">
                <a:solidFill>
                  <a:srgbClr val="0B1220"/>
                </a:solidFill>
                <a:latin typeface="Calibri"/>
              </a:rPr>
              <a:t>Resume screening, scheduling and score comparison are done by hand, adding repetitive work for HR.</a:t>
            </a:r>
          </a:p>
        </p:txBody>
      </p:sp>
      <p:sp>
        <p:nvSpPr>
          <p:cNvPr id="20" name="Rounded Rectangle 19"/>
          <p:cNvSpPr/>
          <p:nvPr/>
        </p:nvSpPr>
        <p:spPr>
          <a:xfrm>
            <a:off x="704248" y="3764282"/>
            <a:ext cx="5326380" cy="2194560"/>
          </a:xfrm>
          <a:prstGeom prst="roundRect">
            <a:avLst>
              <a:gd name="adj" fmla="val 3333"/>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21" name="Oval 20"/>
          <p:cNvSpPr/>
          <p:nvPr/>
        </p:nvSpPr>
        <p:spPr>
          <a:xfrm>
            <a:off x="932848" y="3965450"/>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22" name="Picture 21" descr="image.png"/>
          <p:cNvPicPr>
            <a:picLocks noChangeAspect="1"/>
          </p:cNvPicPr>
          <p:nvPr/>
        </p:nvPicPr>
        <p:blipFill>
          <a:blip r:embed="rId5"/>
          <a:stretch>
            <a:fillRect/>
          </a:stretch>
        </p:blipFill>
        <p:spPr>
          <a:xfrm>
            <a:off x="1032700" y="4065302"/>
            <a:ext cx="275783" cy="275783"/>
          </a:xfrm>
          <a:prstGeom prst="rect">
            <a:avLst/>
          </a:prstGeom>
        </p:spPr>
      </p:pic>
      <p:sp>
        <p:nvSpPr>
          <p:cNvPr id="23" name="TextBox 22"/>
          <p:cNvSpPr txBox="1"/>
          <p:nvPr/>
        </p:nvSpPr>
        <p:spPr>
          <a:xfrm>
            <a:off x="1545496" y="3965450"/>
            <a:ext cx="4274820" cy="475488"/>
          </a:xfrm>
          <a:prstGeom prst="rect">
            <a:avLst/>
          </a:prstGeom>
          <a:noFill/>
        </p:spPr>
        <p:txBody>
          <a:bodyPr wrap="square" lIns="0" tIns="0" rIns="0" bIns="0" anchor="ctr">
            <a:noAutofit/>
          </a:bodyPr>
          <a:lstStyle/>
          <a:p>
            <a:pPr algn="l"/>
            <a:r>
              <a:rPr sz="1650" b="1" i="0">
                <a:solidFill>
                  <a:srgbClr val="1B1F3B"/>
                </a:solidFill>
                <a:latin typeface="Calibri"/>
              </a:rPr>
              <a:t>Problems in the Existing System</a:t>
            </a:r>
          </a:p>
        </p:txBody>
      </p:sp>
      <p:sp>
        <p:nvSpPr>
          <p:cNvPr id="24" name="TextBox 23"/>
          <p:cNvSpPr txBox="1"/>
          <p:nvPr/>
        </p:nvSpPr>
        <p:spPr>
          <a:xfrm>
            <a:off x="978568" y="4605530"/>
            <a:ext cx="4777740" cy="1234439"/>
          </a:xfrm>
          <a:prstGeom prst="rect">
            <a:avLst/>
          </a:prstGeom>
          <a:noFill/>
        </p:spPr>
        <p:txBody>
          <a:bodyPr wrap="square" lIns="0" tIns="0" rIns="0" bIns="0" anchor="t">
            <a:noAutofit/>
          </a:bodyPr>
          <a:lstStyle/>
          <a:p>
            <a:pPr marL="201168" indent="-201168" algn="l">
              <a:spcAft>
                <a:spcPts val="300"/>
              </a:spcAft>
              <a:buFont typeface="Arial"/>
              <a:buChar char="•"/>
            </a:pPr>
            <a:r>
              <a:rPr sz="1400" b="0" i="0">
                <a:solidFill>
                  <a:srgbClr val="0B1220"/>
                </a:solidFill>
                <a:latin typeface="Calibri"/>
              </a:rPr>
              <a:t>Slow decision finalization</a:t>
            </a:r>
          </a:p>
          <a:p>
            <a:pPr marL="201168" indent="-201168" algn="l">
              <a:spcAft>
                <a:spcPts val="300"/>
              </a:spcAft>
              <a:buFont typeface="Arial"/>
              <a:buChar char="•"/>
            </a:pPr>
            <a:r>
              <a:rPr sz="1400" b="0" i="0">
                <a:solidFill>
                  <a:srgbClr val="0B1220"/>
                </a:solidFill>
                <a:latin typeface="Calibri"/>
              </a:rPr>
              <a:t>Subjective, reviewer-dependent evaluation</a:t>
            </a:r>
          </a:p>
          <a:p>
            <a:pPr marL="201168" indent="-201168" algn="l">
              <a:spcAft>
                <a:spcPts val="300"/>
              </a:spcAft>
              <a:buFont typeface="Arial"/>
              <a:buChar char="•"/>
            </a:pPr>
            <a:r>
              <a:rPr sz="1400" b="0" i="0">
                <a:solidFill>
                  <a:srgbClr val="0B1220"/>
                </a:solidFill>
                <a:latin typeface="Calibri"/>
              </a:rPr>
              <a:t>No standardized scoring across candidates</a:t>
            </a:r>
          </a:p>
        </p:txBody>
      </p:sp>
      <p:sp>
        <p:nvSpPr>
          <p:cNvPr id="25" name="Rounded Rectangle 24"/>
          <p:cNvSpPr/>
          <p:nvPr/>
        </p:nvSpPr>
        <p:spPr>
          <a:xfrm>
            <a:off x="6286660" y="3764282"/>
            <a:ext cx="5326380" cy="2194560"/>
          </a:xfrm>
          <a:prstGeom prst="roundRect">
            <a:avLst>
              <a:gd name="adj" fmla="val 3333"/>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26" name="Oval 25"/>
          <p:cNvSpPr/>
          <p:nvPr/>
        </p:nvSpPr>
        <p:spPr>
          <a:xfrm>
            <a:off x="6515260" y="3965450"/>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27" name="Picture 26" descr="image.png"/>
          <p:cNvPicPr>
            <a:picLocks noChangeAspect="1"/>
          </p:cNvPicPr>
          <p:nvPr/>
        </p:nvPicPr>
        <p:blipFill>
          <a:blip r:embed="rId6"/>
          <a:stretch>
            <a:fillRect/>
          </a:stretch>
        </p:blipFill>
        <p:spPr>
          <a:xfrm>
            <a:off x="6615112" y="4065302"/>
            <a:ext cx="275783" cy="275783"/>
          </a:xfrm>
          <a:prstGeom prst="rect">
            <a:avLst/>
          </a:prstGeom>
        </p:spPr>
      </p:pic>
      <p:sp>
        <p:nvSpPr>
          <p:cNvPr id="28" name="TextBox 27"/>
          <p:cNvSpPr txBox="1"/>
          <p:nvPr/>
        </p:nvSpPr>
        <p:spPr>
          <a:xfrm>
            <a:off x="7127908" y="3965450"/>
            <a:ext cx="4274820" cy="475488"/>
          </a:xfrm>
          <a:prstGeom prst="rect">
            <a:avLst/>
          </a:prstGeom>
          <a:noFill/>
        </p:spPr>
        <p:txBody>
          <a:bodyPr wrap="square" lIns="0" tIns="0" rIns="0" bIns="0" anchor="ctr">
            <a:noAutofit/>
          </a:bodyPr>
          <a:lstStyle/>
          <a:p>
            <a:pPr algn="l"/>
            <a:r>
              <a:rPr sz="1650" b="1" i="0">
                <a:solidFill>
                  <a:srgbClr val="1B1F3B"/>
                </a:solidFill>
                <a:latin typeface="Calibri"/>
              </a:rPr>
              <a:t>Limitations</a:t>
            </a:r>
          </a:p>
        </p:txBody>
      </p:sp>
      <p:sp>
        <p:nvSpPr>
          <p:cNvPr id="29" name="TextBox 28"/>
          <p:cNvSpPr txBox="1"/>
          <p:nvPr/>
        </p:nvSpPr>
        <p:spPr>
          <a:xfrm>
            <a:off x="6560980" y="4605530"/>
            <a:ext cx="4777740" cy="1234439"/>
          </a:xfrm>
          <a:prstGeom prst="rect">
            <a:avLst/>
          </a:prstGeom>
          <a:noFill/>
        </p:spPr>
        <p:txBody>
          <a:bodyPr wrap="square" lIns="0" tIns="0" rIns="0" bIns="0" anchor="t">
            <a:noAutofit/>
          </a:bodyPr>
          <a:lstStyle/>
          <a:p>
            <a:pPr marL="201168" indent="-201168" algn="l">
              <a:spcAft>
                <a:spcPts val="300"/>
              </a:spcAft>
              <a:buFont typeface="Arial"/>
              <a:buChar char="•"/>
            </a:pPr>
            <a:r>
              <a:rPr sz="1400" b="0" i="0">
                <a:solidFill>
                  <a:srgbClr val="0B1220"/>
                </a:solidFill>
                <a:latin typeface="Calibri"/>
              </a:rPr>
              <a:t>Little data to support process improvement</a:t>
            </a:r>
          </a:p>
          <a:p>
            <a:pPr marL="201168" indent="-201168" algn="l">
              <a:spcAft>
                <a:spcPts val="300"/>
              </a:spcAft>
              <a:buFont typeface="Arial"/>
              <a:buChar char="•"/>
            </a:pPr>
            <a:r>
              <a:rPr sz="1400" b="0" i="0">
                <a:solidFill>
                  <a:srgbClr val="0B1220"/>
                </a:solidFill>
                <a:latin typeface="Calibri"/>
              </a:rPr>
              <a:t>Does not scale as applicant volume grows</a:t>
            </a:r>
          </a:p>
          <a:p>
            <a:pPr marL="201168" indent="-201168" algn="l">
              <a:spcAft>
                <a:spcPts val="300"/>
              </a:spcAft>
              <a:buFont typeface="Arial"/>
              <a:buChar char="•"/>
            </a:pPr>
            <a:r>
              <a:rPr sz="1400" b="0" i="0">
                <a:solidFill>
                  <a:srgbClr val="0B1220"/>
                </a:solidFill>
                <a:latin typeface="Calibri"/>
              </a:rPr>
              <a:t>Unconscious bias can affect shortlisting</a:t>
            </a:r>
          </a:p>
        </p:txBody>
      </p:sp>
      <p:sp>
        <p:nvSpPr>
          <p:cNvPr id="30" name="TextBox 29"/>
          <p:cNvSpPr txBox="1"/>
          <p:nvPr/>
        </p:nvSpPr>
        <p:spPr>
          <a:xfrm>
            <a:off x="640080" y="6537960"/>
            <a:ext cx="2926080" cy="201168"/>
          </a:xfrm>
          <a:prstGeom prst="rect">
            <a:avLst/>
          </a:prstGeom>
          <a:noFill/>
        </p:spPr>
        <p:txBody>
          <a:bodyPr wrap="square" lIns="0" tIns="0" rIns="0" bIns="0" anchor="ctr">
            <a:noAutofit/>
          </a:bodyPr>
          <a:lstStyle/>
          <a:p>
            <a:pPr algn="l"/>
            <a:r>
              <a:rPr sz="1000" b="1" i="0">
                <a:solidFill>
                  <a:srgbClr val="002060"/>
                </a:solidFill>
                <a:latin typeface="Calibri"/>
              </a:rPr>
              <a:t>INTELLIGENT HIRING SYSTEM</a:t>
            </a:r>
          </a:p>
        </p:txBody>
      </p:sp>
      <p:sp>
        <p:nvSpPr>
          <p:cNvPr id="31" name="Oval 30"/>
          <p:cNvSpPr/>
          <p:nvPr/>
        </p:nvSpPr>
        <p:spPr>
          <a:xfrm>
            <a:off x="11256264" y="6492240"/>
            <a:ext cx="292608" cy="292608"/>
          </a:xfrm>
          <a:prstGeom prst="ellipse">
            <a:avLst/>
          </a:prstGeom>
          <a:solidFill>
            <a:srgbClr val="F4F7FE"/>
          </a:solidFill>
          <a:ln>
            <a:noFill/>
          </a:ln>
        </p:spPr>
        <p:txBody>
          <a:bodyPr rtlCol="0" anchor="ctr"/>
          <a:lstStyle/>
          <a:p>
            <a:pPr algn="ctr"/>
            <a:endParaRPr/>
          </a:p>
        </p:txBody>
      </p:sp>
      <p:sp>
        <p:nvSpPr>
          <p:cNvPr id="32" name="TextBox 31"/>
          <p:cNvSpPr txBox="1"/>
          <p:nvPr/>
        </p:nvSpPr>
        <p:spPr>
          <a:xfrm>
            <a:off x="11256264" y="6492240"/>
            <a:ext cx="292608" cy="292608"/>
          </a:xfrm>
          <a:prstGeom prst="rect">
            <a:avLst/>
          </a:prstGeom>
          <a:noFill/>
        </p:spPr>
        <p:txBody>
          <a:bodyPr wrap="square" lIns="0" tIns="0" rIns="0" bIns="0" anchor="ctr">
            <a:noAutofit/>
          </a:bodyPr>
          <a:lstStyle/>
          <a:p>
            <a:pPr algn="ctr"/>
            <a:r>
              <a:rPr sz="950" b="1" i="0">
                <a:solidFill>
                  <a:srgbClr val="1E2761"/>
                </a:solidFill>
                <a:latin typeface="Calibri"/>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FAFBFF"/>
            </a:gs>
            <a:gs pos="100000">
              <a:srgbClr val="E4ECFC"/>
            </a:gs>
          </a:gsLst>
          <a:lin ang="2700000" scaled="0"/>
        </a:gradFill>
        <a:effectLst/>
      </p:bgPr>
    </p:bg>
    <p:spTree>
      <p:nvGrpSpPr>
        <p:cNvPr id="1" name=""/>
        <p:cNvGrpSpPr/>
        <p:nvPr/>
      </p:nvGrpSpPr>
      <p:grpSpPr>
        <a:xfrm>
          <a:off x="0" y="0"/>
          <a:ext cx="0" cy="0"/>
          <a:chOff x="0" y="0"/>
          <a:chExt cx="0" cy="0"/>
        </a:xfrm>
      </p:grpSpPr>
      <p:sp>
        <p:nvSpPr>
          <p:cNvPr id="9001" name="Decor 9001"/>
          <p:cNvSpPr/>
          <p:nvPr/>
        </p:nvSpPr>
        <p:spPr>
          <a:xfrm>
            <a:off x="8300000" y="-2300000"/>
            <a:ext cx="5200000" cy="5200000"/>
          </a:xfrm>
          <a:prstGeom prst="ellipse">
            <a:avLst/>
          </a:prstGeom>
          <a:solidFill>
            <a:srgbClr val="4A5BC4">
              <a:alpha val="9000"/>
            </a:srgbClr>
          </a:solidFill>
          <a:ln>
            <a:noFill/>
          </a:ln>
        </p:spPr>
        <p:txBody>
          <a:bodyPr/>
          <a:lstStyle/>
          <a:p>
            <a:endParaRPr lang="en-US"/>
          </a:p>
        </p:txBody>
      </p:sp>
      <p:sp>
        <p:nvSpPr>
          <p:cNvPr id="9002" name="Decor 9002"/>
          <p:cNvSpPr/>
          <p:nvPr/>
        </p:nvSpPr>
        <p:spPr>
          <a:xfrm>
            <a:off x="9300000" y="-1500000"/>
            <a:ext cx="3600000" cy="3600000"/>
          </a:xfrm>
          <a:prstGeom prst="ellipse">
            <a:avLst/>
          </a:prstGeom>
          <a:noFill/>
          <a:ln w="19050">
            <a:solidFill>
              <a:srgbClr val="4A5BC4">
                <a:alpha val="22000"/>
              </a:srgbClr>
            </a:solidFill>
          </a:ln>
        </p:spPr>
        <p:txBody>
          <a:bodyPr/>
          <a:lstStyle/>
          <a:p>
            <a:endParaRPr lang="en-US"/>
          </a:p>
        </p:txBody>
      </p:sp>
      <p:sp>
        <p:nvSpPr>
          <p:cNvPr id="9003" name="Decor 9003"/>
          <p:cNvSpPr/>
          <p:nvPr/>
        </p:nvSpPr>
        <p:spPr>
          <a:xfrm>
            <a:off x="-1500000" y="5000000"/>
            <a:ext cx="3300000" cy="3300000"/>
          </a:xfrm>
          <a:prstGeom prst="ellipse">
            <a:avLst/>
          </a:prstGeom>
          <a:solidFill>
            <a:srgbClr val="22D3A6">
              <a:alpha val="9000"/>
            </a:srgbClr>
          </a:solidFill>
          <a:ln>
            <a:noFill/>
          </a:ln>
        </p:spPr>
        <p:txBody>
          <a:bodyPr/>
          <a:lstStyle/>
          <a:p>
            <a:endParaRPr lang="en-US"/>
          </a:p>
        </p:txBody>
      </p:sp>
      <p:sp>
        <p:nvSpPr>
          <p:cNvPr id="9004" name="Decor 9004"/>
          <p:cNvSpPr/>
          <p:nvPr/>
        </p:nvSpPr>
        <p:spPr>
          <a:xfrm>
            <a:off x="-900000" y="5600000"/>
            <a:ext cx="1900000" cy="1900000"/>
          </a:xfrm>
          <a:prstGeom prst="ellipse">
            <a:avLst/>
          </a:prstGeom>
          <a:noFill/>
          <a:ln w="19050">
            <a:solidFill>
              <a:srgbClr val="4A5BC4">
                <a:alpha val="14000"/>
              </a:srgbClr>
            </a:solidFill>
          </a:ln>
        </p:spPr>
        <p:txBody>
          <a:bodyPr/>
          <a:lstStyle/>
          <a:p>
            <a:endParaRPr lang="en-US"/>
          </a:p>
        </p:txBody>
      </p:sp>
      <p:sp>
        <p:nvSpPr>
          <p:cNvPr id="4" name="TextBox 3"/>
          <p:cNvSpPr txBox="1"/>
          <p:nvPr/>
        </p:nvSpPr>
        <p:spPr>
          <a:xfrm>
            <a:off x="640080" y="449502"/>
            <a:ext cx="10881360" cy="566928"/>
          </a:xfrm>
          <a:prstGeom prst="rect">
            <a:avLst/>
          </a:prstGeom>
          <a:noFill/>
        </p:spPr>
        <p:txBody>
          <a:bodyPr wrap="square" lIns="0" tIns="0" rIns="0" bIns="0" anchor="ctr">
            <a:noAutofit/>
          </a:bodyPr>
          <a:lstStyle/>
          <a:p>
            <a:pPr algn="l"/>
            <a:r>
              <a:rPr sz="3000" b="1" i="0">
                <a:solidFill>
                  <a:srgbClr val="1B1F3B"/>
                </a:solidFill>
                <a:latin typeface="Cambria"/>
              </a:rPr>
              <a:t>Proposed System</a:t>
            </a:r>
          </a:p>
        </p:txBody>
      </p:sp>
      <p:sp>
        <p:nvSpPr>
          <p:cNvPr id="5" name="Rounded Rectangle 4"/>
          <p:cNvSpPr/>
          <p:nvPr/>
        </p:nvSpPr>
        <p:spPr>
          <a:xfrm>
            <a:off x="640080" y="1263318"/>
            <a:ext cx="5317236" cy="1828800"/>
          </a:xfrm>
          <a:prstGeom prst="roundRect">
            <a:avLst>
              <a:gd name="adj" fmla="val 4000"/>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6" name="Oval 5"/>
          <p:cNvSpPr/>
          <p:nvPr/>
        </p:nvSpPr>
        <p:spPr>
          <a:xfrm>
            <a:off x="868680" y="1464486"/>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7" name="Picture 6" descr="image.png"/>
          <p:cNvPicPr>
            <a:picLocks noChangeAspect="1"/>
          </p:cNvPicPr>
          <p:nvPr/>
        </p:nvPicPr>
        <p:blipFill>
          <a:blip r:embed="rId2"/>
          <a:stretch>
            <a:fillRect/>
          </a:stretch>
        </p:blipFill>
        <p:spPr>
          <a:xfrm>
            <a:off x="968532" y="1564338"/>
            <a:ext cx="275783" cy="275783"/>
          </a:xfrm>
          <a:prstGeom prst="rect">
            <a:avLst/>
          </a:prstGeom>
        </p:spPr>
      </p:pic>
      <p:sp>
        <p:nvSpPr>
          <p:cNvPr id="8" name="TextBox 7"/>
          <p:cNvSpPr txBox="1"/>
          <p:nvPr/>
        </p:nvSpPr>
        <p:spPr>
          <a:xfrm>
            <a:off x="1481328" y="1464486"/>
            <a:ext cx="4265676" cy="475488"/>
          </a:xfrm>
          <a:prstGeom prst="rect">
            <a:avLst/>
          </a:prstGeom>
          <a:noFill/>
        </p:spPr>
        <p:txBody>
          <a:bodyPr wrap="square" lIns="0" tIns="0" rIns="0" bIns="0" anchor="ctr">
            <a:noAutofit/>
          </a:bodyPr>
          <a:lstStyle/>
          <a:p>
            <a:pPr algn="l"/>
            <a:r>
              <a:rPr sz="1650" b="1" i="0">
                <a:solidFill>
                  <a:srgbClr val="1B1F3B"/>
                </a:solidFill>
                <a:latin typeface="Calibri"/>
              </a:rPr>
              <a:t>Overview</a:t>
            </a:r>
          </a:p>
        </p:txBody>
      </p:sp>
      <p:sp>
        <p:nvSpPr>
          <p:cNvPr id="9" name="TextBox 8"/>
          <p:cNvSpPr txBox="1"/>
          <p:nvPr/>
        </p:nvSpPr>
        <p:spPr>
          <a:xfrm>
            <a:off x="914400" y="2104566"/>
            <a:ext cx="4768596" cy="868680"/>
          </a:xfrm>
          <a:prstGeom prst="rect">
            <a:avLst/>
          </a:prstGeom>
          <a:noFill/>
        </p:spPr>
        <p:txBody>
          <a:bodyPr wrap="square" lIns="0" tIns="0" rIns="0" bIns="0" anchor="t">
            <a:noAutofit/>
          </a:bodyPr>
          <a:lstStyle/>
          <a:p>
            <a:pPr algn="l">
              <a:spcAft>
                <a:spcPts val="300"/>
              </a:spcAft>
            </a:pPr>
            <a:r>
              <a:rPr sz="1500" b="0" i="0">
                <a:solidFill>
                  <a:srgbClr val="0B1220"/>
                </a:solidFill>
                <a:latin typeface="Calibri"/>
              </a:rPr>
              <a:t>An AI-based web system that analyses resumes, tests candidates online and ranks them objectively on one platform.</a:t>
            </a:r>
          </a:p>
        </p:txBody>
      </p:sp>
      <p:sp>
        <p:nvSpPr>
          <p:cNvPr id="10" name="Rounded Rectangle 9"/>
          <p:cNvSpPr/>
          <p:nvPr/>
        </p:nvSpPr>
        <p:spPr>
          <a:xfrm>
            <a:off x="6231636" y="1263318"/>
            <a:ext cx="5317236" cy="1828800"/>
          </a:xfrm>
          <a:prstGeom prst="roundRect">
            <a:avLst>
              <a:gd name="adj" fmla="val 4000"/>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11" name="Oval 10"/>
          <p:cNvSpPr/>
          <p:nvPr/>
        </p:nvSpPr>
        <p:spPr>
          <a:xfrm>
            <a:off x="6460236" y="1464486"/>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12" name="Picture 11" descr="image.png"/>
          <p:cNvPicPr>
            <a:picLocks noChangeAspect="1"/>
          </p:cNvPicPr>
          <p:nvPr/>
        </p:nvPicPr>
        <p:blipFill>
          <a:blip r:embed="rId3"/>
          <a:stretch>
            <a:fillRect/>
          </a:stretch>
        </p:blipFill>
        <p:spPr>
          <a:xfrm>
            <a:off x="6560088" y="1564338"/>
            <a:ext cx="275783" cy="275783"/>
          </a:xfrm>
          <a:prstGeom prst="rect">
            <a:avLst/>
          </a:prstGeom>
        </p:spPr>
      </p:pic>
      <p:sp>
        <p:nvSpPr>
          <p:cNvPr id="13" name="TextBox 12"/>
          <p:cNvSpPr txBox="1"/>
          <p:nvPr/>
        </p:nvSpPr>
        <p:spPr>
          <a:xfrm>
            <a:off x="7072884" y="1464486"/>
            <a:ext cx="4265676" cy="475488"/>
          </a:xfrm>
          <a:prstGeom prst="rect">
            <a:avLst/>
          </a:prstGeom>
          <a:noFill/>
        </p:spPr>
        <p:txBody>
          <a:bodyPr wrap="square" lIns="0" tIns="0" rIns="0" bIns="0" anchor="ctr">
            <a:noAutofit/>
          </a:bodyPr>
          <a:lstStyle/>
          <a:p>
            <a:pPr algn="l"/>
            <a:r>
              <a:rPr sz="1650" b="1" i="0">
                <a:solidFill>
                  <a:srgbClr val="1B1F3B"/>
                </a:solidFill>
                <a:latin typeface="Calibri"/>
              </a:rPr>
              <a:t>How It Solves the Problem</a:t>
            </a:r>
          </a:p>
        </p:txBody>
      </p:sp>
      <p:sp>
        <p:nvSpPr>
          <p:cNvPr id="14" name="TextBox 13"/>
          <p:cNvSpPr txBox="1"/>
          <p:nvPr/>
        </p:nvSpPr>
        <p:spPr>
          <a:xfrm>
            <a:off x="6505956" y="2104566"/>
            <a:ext cx="4768596" cy="868680"/>
          </a:xfrm>
          <a:prstGeom prst="rect">
            <a:avLst/>
          </a:prstGeom>
          <a:noFill/>
        </p:spPr>
        <p:txBody>
          <a:bodyPr wrap="square" lIns="0" tIns="0" rIns="0" bIns="0" anchor="t">
            <a:noAutofit/>
          </a:bodyPr>
          <a:lstStyle/>
          <a:p>
            <a:pPr algn="l">
              <a:spcAft>
                <a:spcPts val="300"/>
              </a:spcAft>
            </a:pPr>
            <a:r>
              <a:rPr sz="1500" b="0" i="0">
                <a:solidFill>
                  <a:srgbClr val="0B1220"/>
                </a:solidFill>
                <a:latin typeface="Calibri"/>
              </a:rPr>
              <a:t>Automated analysis replaces one-at-a-time screening, and standard tests and scoring replace subjective judgement.</a:t>
            </a:r>
          </a:p>
        </p:txBody>
      </p:sp>
      <p:sp>
        <p:nvSpPr>
          <p:cNvPr id="15" name="Rounded Rectangle 14"/>
          <p:cNvSpPr/>
          <p:nvPr/>
        </p:nvSpPr>
        <p:spPr>
          <a:xfrm>
            <a:off x="640080" y="3366438"/>
            <a:ext cx="5303520" cy="2468880"/>
          </a:xfrm>
          <a:prstGeom prst="roundRect">
            <a:avLst>
              <a:gd name="adj" fmla="val 2962"/>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16" name="Oval 15"/>
          <p:cNvSpPr/>
          <p:nvPr/>
        </p:nvSpPr>
        <p:spPr>
          <a:xfrm>
            <a:off x="868680" y="3567605"/>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17" name="Picture 16" descr="image.png"/>
          <p:cNvPicPr>
            <a:picLocks noChangeAspect="1"/>
          </p:cNvPicPr>
          <p:nvPr/>
        </p:nvPicPr>
        <p:blipFill>
          <a:blip r:embed="rId4"/>
          <a:stretch>
            <a:fillRect/>
          </a:stretch>
        </p:blipFill>
        <p:spPr>
          <a:xfrm>
            <a:off x="968532" y="3667458"/>
            <a:ext cx="275783" cy="275783"/>
          </a:xfrm>
          <a:prstGeom prst="rect">
            <a:avLst/>
          </a:prstGeom>
        </p:spPr>
      </p:pic>
      <p:sp>
        <p:nvSpPr>
          <p:cNvPr id="18" name="TextBox 17"/>
          <p:cNvSpPr txBox="1"/>
          <p:nvPr/>
        </p:nvSpPr>
        <p:spPr>
          <a:xfrm>
            <a:off x="1481328" y="3567605"/>
            <a:ext cx="5303520" cy="475488"/>
          </a:xfrm>
          <a:prstGeom prst="rect">
            <a:avLst/>
          </a:prstGeom>
          <a:noFill/>
        </p:spPr>
        <p:txBody>
          <a:bodyPr wrap="square" lIns="0" tIns="0" rIns="0" bIns="0" anchor="ctr">
            <a:noAutofit/>
          </a:bodyPr>
          <a:lstStyle/>
          <a:p>
            <a:pPr algn="l"/>
            <a:r>
              <a:rPr sz="1500" b="1" i="0">
                <a:solidFill>
                  <a:srgbClr val="1B1F3B"/>
                </a:solidFill>
                <a:latin typeface="Calibri"/>
              </a:rPr>
              <a:t>Key Features</a:t>
            </a:r>
          </a:p>
        </p:txBody>
      </p:sp>
      <p:sp>
        <p:nvSpPr>
          <p:cNvPr id="19" name="TextBox 18"/>
          <p:cNvSpPr txBox="1"/>
          <p:nvPr/>
        </p:nvSpPr>
        <p:spPr>
          <a:xfrm>
            <a:off x="914400" y="4280838"/>
            <a:ext cx="3017520" cy="1371600"/>
          </a:xfrm>
          <a:prstGeom prst="rect">
            <a:avLst/>
          </a:prstGeom>
          <a:noFill/>
        </p:spPr>
        <p:txBody>
          <a:bodyPr wrap="square" lIns="0" tIns="0" rIns="0" bIns="0" anchor="t">
            <a:noAutofit/>
          </a:bodyPr>
          <a:lstStyle/>
          <a:p>
            <a:pPr marL="201168" indent="-201168" algn="l">
              <a:spcAft>
                <a:spcPts val="400"/>
              </a:spcAft>
              <a:buFont typeface="Arial"/>
              <a:buChar char="•"/>
            </a:pPr>
            <a:r>
              <a:rPr sz="1500" b="0" i="0">
                <a:solidFill>
                  <a:srgbClr val="0B1220"/>
                </a:solidFill>
                <a:latin typeface="Calibri"/>
              </a:rPr>
              <a:t>Resume analysis</a:t>
            </a:r>
          </a:p>
          <a:p>
            <a:pPr marL="201168" indent="-201168" algn="l">
              <a:spcAft>
                <a:spcPts val="400"/>
              </a:spcAft>
              <a:buFont typeface="Arial"/>
              <a:buChar char="•"/>
            </a:pPr>
            <a:r>
              <a:rPr sz="1500" b="0" i="0">
                <a:solidFill>
                  <a:srgbClr val="0B1220"/>
                </a:solidFill>
                <a:latin typeface="Calibri"/>
              </a:rPr>
              <a:t>Aptitude test</a:t>
            </a:r>
          </a:p>
          <a:p>
            <a:pPr marL="201168" indent="-201168" algn="l">
              <a:spcAft>
                <a:spcPts val="400"/>
              </a:spcAft>
              <a:buFont typeface="Arial"/>
              <a:buChar char="•"/>
            </a:pPr>
            <a:r>
              <a:rPr sz="1500" b="0" i="0">
                <a:solidFill>
                  <a:srgbClr val="0B1220"/>
                </a:solidFill>
                <a:latin typeface="Calibri"/>
              </a:rPr>
              <a:t>Personality test</a:t>
            </a:r>
          </a:p>
        </p:txBody>
      </p:sp>
      <p:sp>
        <p:nvSpPr>
          <p:cNvPr id="20" name="TextBox 19"/>
          <p:cNvSpPr txBox="1"/>
          <p:nvPr/>
        </p:nvSpPr>
        <p:spPr>
          <a:xfrm>
            <a:off x="3018329" y="4280838"/>
            <a:ext cx="3017520" cy="1371600"/>
          </a:xfrm>
          <a:prstGeom prst="rect">
            <a:avLst/>
          </a:prstGeom>
          <a:noFill/>
        </p:spPr>
        <p:txBody>
          <a:bodyPr wrap="square" lIns="0" tIns="0" rIns="0" bIns="0" anchor="t">
            <a:noAutofit/>
          </a:bodyPr>
          <a:lstStyle/>
          <a:p>
            <a:pPr marL="201168" indent="-201168" algn="l">
              <a:spcAft>
                <a:spcPts val="400"/>
              </a:spcAft>
              <a:buFont typeface="Arial"/>
              <a:buChar char="•"/>
            </a:pPr>
            <a:r>
              <a:rPr sz="1500" b="0" i="0" dirty="0">
                <a:solidFill>
                  <a:srgbClr val="0B1220"/>
                </a:solidFill>
                <a:latin typeface="Calibri"/>
              </a:rPr>
              <a:t>Candidate scoring</a:t>
            </a:r>
          </a:p>
          <a:p>
            <a:pPr marL="201168" indent="-201168" algn="l">
              <a:spcAft>
                <a:spcPts val="400"/>
              </a:spcAft>
              <a:buFont typeface="Arial"/>
              <a:buChar char="•"/>
            </a:pPr>
            <a:r>
              <a:rPr sz="1500" b="0" i="0" dirty="0">
                <a:solidFill>
                  <a:srgbClr val="0B1220"/>
                </a:solidFill>
                <a:latin typeface="Calibri"/>
              </a:rPr>
              <a:t>Automated ranking</a:t>
            </a:r>
          </a:p>
          <a:p>
            <a:pPr marL="201168" indent="-201168" algn="l">
              <a:spcAft>
                <a:spcPts val="400"/>
              </a:spcAft>
              <a:buFont typeface="Arial"/>
              <a:buChar char="•"/>
            </a:pPr>
            <a:r>
              <a:rPr sz="1500" b="0" i="0" dirty="0">
                <a:solidFill>
                  <a:srgbClr val="0B1220"/>
                </a:solidFill>
                <a:latin typeface="Calibri"/>
              </a:rPr>
              <a:t>HR dashboard</a:t>
            </a:r>
          </a:p>
        </p:txBody>
      </p:sp>
      <p:sp>
        <p:nvSpPr>
          <p:cNvPr id="21" name="Rounded Rectangle 20"/>
          <p:cNvSpPr/>
          <p:nvPr/>
        </p:nvSpPr>
        <p:spPr>
          <a:xfrm>
            <a:off x="6245352" y="3366438"/>
            <a:ext cx="5303520" cy="2468880"/>
          </a:xfrm>
          <a:prstGeom prst="roundRect">
            <a:avLst>
              <a:gd name="adj" fmla="val 2962"/>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22" name="Oval 21"/>
          <p:cNvSpPr/>
          <p:nvPr/>
        </p:nvSpPr>
        <p:spPr>
          <a:xfrm>
            <a:off x="6514368" y="3558461"/>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23" name="Picture 22" descr="image.png"/>
          <p:cNvPicPr>
            <a:picLocks noChangeAspect="1"/>
          </p:cNvPicPr>
          <p:nvPr/>
        </p:nvPicPr>
        <p:blipFill>
          <a:blip r:embed="rId5"/>
          <a:stretch>
            <a:fillRect/>
          </a:stretch>
        </p:blipFill>
        <p:spPr>
          <a:xfrm>
            <a:off x="6614220" y="3658314"/>
            <a:ext cx="275783" cy="275783"/>
          </a:xfrm>
          <a:prstGeom prst="rect">
            <a:avLst/>
          </a:prstGeom>
        </p:spPr>
      </p:pic>
      <p:sp>
        <p:nvSpPr>
          <p:cNvPr id="24" name="TextBox 23"/>
          <p:cNvSpPr txBox="1"/>
          <p:nvPr/>
        </p:nvSpPr>
        <p:spPr>
          <a:xfrm>
            <a:off x="7127016" y="3558461"/>
            <a:ext cx="3108960" cy="475488"/>
          </a:xfrm>
          <a:prstGeom prst="rect">
            <a:avLst/>
          </a:prstGeom>
          <a:noFill/>
        </p:spPr>
        <p:txBody>
          <a:bodyPr wrap="square" lIns="0" tIns="0" rIns="0" bIns="0" anchor="ctr">
            <a:noAutofit/>
          </a:bodyPr>
          <a:lstStyle/>
          <a:p>
            <a:pPr algn="l"/>
            <a:r>
              <a:rPr sz="1500" b="1" i="0">
                <a:solidFill>
                  <a:srgbClr val="1B1F3B"/>
                </a:solidFill>
                <a:latin typeface="Calibri"/>
              </a:rPr>
              <a:t>Improvements</a:t>
            </a:r>
          </a:p>
        </p:txBody>
      </p:sp>
      <p:sp>
        <p:nvSpPr>
          <p:cNvPr id="25" name="TextBox 24"/>
          <p:cNvSpPr txBox="1"/>
          <p:nvPr/>
        </p:nvSpPr>
        <p:spPr>
          <a:xfrm>
            <a:off x="6560088" y="4271694"/>
            <a:ext cx="3611880" cy="1463040"/>
          </a:xfrm>
          <a:prstGeom prst="rect">
            <a:avLst/>
          </a:prstGeom>
          <a:noFill/>
        </p:spPr>
        <p:txBody>
          <a:bodyPr wrap="square" lIns="0" tIns="0" rIns="0" bIns="0" anchor="t">
            <a:noAutofit/>
          </a:bodyPr>
          <a:lstStyle/>
          <a:p>
            <a:pPr marL="201168" indent="-201168" algn="l">
              <a:spcAft>
                <a:spcPts val="400"/>
              </a:spcAft>
              <a:buFont typeface="Arial"/>
              <a:buChar char="•"/>
            </a:pPr>
            <a:r>
              <a:rPr sz="1400" b="0" i="0">
                <a:solidFill>
                  <a:srgbClr val="0B1220"/>
                </a:solidFill>
                <a:latin typeface="Calibri"/>
              </a:rPr>
              <a:t>Faster, automated shortlisting</a:t>
            </a:r>
          </a:p>
          <a:p>
            <a:pPr marL="201168" indent="-201168" algn="l">
              <a:spcAft>
                <a:spcPts val="400"/>
              </a:spcAft>
              <a:buFont typeface="Arial"/>
              <a:buChar char="•"/>
            </a:pPr>
            <a:r>
              <a:rPr sz="1400" b="0" i="0">
                <a:solidFill>
                  <a:srgbClr val="0B1220"/>
                </a:solidFill>
                <a:latin typeface="Calibri"/>
              </a:rPr>
              <a:t>Consistent, criteria-based scoring</a:t>
            </a:r>
          </a:p>
          <a:p>
            <a:pPr marL="201168" indent="-201168" algn="l">
              <a:spcAft>
                <a:spcPts val="400"/>
              </a:spcAft>
              <a:buFont typeface="Arial"/>
              <a:buChar char="•"/>
            </a:pPr>
            <a:r>
              <a:rPr sz="1400" b="0" i="0">
                <a:solidFill>
                  <a:srgbClr val="0B1220"/>
                </a:solidFill>
                <a:latin typeface="Calibri"/>
              </a:rPr>
              <a:t>Central data for HR decisions</a:t>
            </a:r>
          </a:p>
        </p:txBody>
      </p:sp>
      <p:sp>
        <p:nvSpPr>
          <p:cNvPr id="26" name="TextBox 25"/>
          <p:cNvSpPr txBox="1"/>
          <p:nvPr/>
        </p:nvSpPr>
        <p:spPr>
          <a:xfrm>
            <a:off x="640080" y="6537960"/>
            <a:ext cx="2926080" cy="201168"/>
          </a:xfrm>
          <a:prstGeom prst="rect">
            <a:avLst/>
          </a:prstGeom>
          <a:noFill/>
        </p:spPr>
        <p:txBody>
          <a:bodyPr wrap="square" lIns="0" tIns="0" rIns="0" bIns="0" anchor="ctr">
            <a:noAutofit/>
          </a:bodyPr>
          <a:lstStyle/>
          <a:p>
            <a:pPr algn="l"/>
            <a:r>
              <a:rPr sz="1000" b="1" i="0">
                <a:solidFill>
                  <a:srgbClr val="002060"/>
                </a:solidFill>
                <a:latin typeface="Calibri"/>
              </a:rPr>
              <a:t>INTELLIGENT HIRING SYSTEM</a:t>
            </a:r>
          </a:p>
        </p:txBody>
      </p:sp>
      <p:sp>
        <p:nvSpPr>
          <p:cNvPr id="27" name="Oval 26"/>
          <p:cNvSpPr/>
          <p:nvPr/>
        </p:nvSpPr>
        <p:spPr>
          <a:xfrm>
            <a:off x="11256264" y="6492240"/>
            <a:ext cx="292608" cy="292608"/>
          </a:xfrm>
          <a:prstGeom prst="ellipse">
            <a:avLst/>
          </a:prstGeom>
          <a:solidFill>
            <a:srgbClr val="F4F7FE"/>
          </a:solidFill>
          <a:ln>
            <a:noFill/>
          </a:ln>
        </p:spPr>
        <p:txBody>
          <a:bodyPr rtlCol="0" anchor="ctr"/>
          <a:lstStyle/>
          <a:p>
            <a:pPr algn="ctr"/>
            <a:endParaRPr/>
          </a:p>
        </p:txBody>
      </p:sp>
      <p:sp>
        <p:nvSpPr>
          <p:cNvPr id="28" name="TextBox 27"/>
          <p:cNvSpPr txBox="1"/>
          <p:nvPr/>
        </p:nvSpPr>
        <p:spPr>
          <a:xfrm>
            <a:off x="11256264" y="6492240"/>
            <a:ext cx="292608" cy="292608"/>
          </a:xfrm>
          <a:prstGeom prst="rect">
            <a:avLst/>
          </a:prstGeom>
          <a:noFill/>
        </p:spPr>
        <p:txBody>
          <a:bodyPr wrap="square" lIns="0" tIns="0" rIns="0" bIns="0" anchor="ctr">
            <a:noAutofit/>
          </a:bodyPr>
          <a:lstStyle/>
          <a:p>
            <a:pPr algn="ctr"/>
            <a:r>
              <a:rPr sz="950" b="1" i="0">
                <a:solidFill>
                  <a:srgbClr val="1E2761"/>
                </a:solidFill>
                <a:latin typeface="Calibri"/>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FAFBFF"/>
            </a:gs>
            <a:gs pos="100000">
              <a:srgbClr val="E4ECFC"/>
            </a:gs>
          </a:gsLst>
          <a:lin ang="2700000" scaled="0"/>
        </a:gradFill>
        <a:effectLst/>
      </p:bgPr>
    </p:bg>
    <p:spTree>
      <p:nvGrpSpPr>
        <p:cNvPr id="1" name=""/>
        <p:cNvGrpSpPr/>
        <p:nvPr/>
      </p:nvGrpSpPr>
      <p:grpSpPr>
        <a:xfrm>
          <a:off x="0" y="0"/>
          <a:ext cx="0" cy="0"/>
          <a:chOff x="0" y="0"/>
          <a:chExt cx="0" cy="0"/>
        </a:xfrm>
      </p:grpSpPr>
      <p:sp>
        <p:nvSpPr>
          <p:cNvPr id="9001" name="Decor 9001"/>
          <p:cNvSpPr/>
          <p:nvPr/>
        </p:nvSpPr>
        <p:spPr>
          <a:xfrm>
            <a:off x="8300000" y="-2300000"/>
            <a:ext cx="5200000" cy="5200000"/>
          </a:xfrm>
          <a:prstGeom prst="ellipse">
            <a:avLst/>
          </a:prstGeom>
          <a:solidFill>
            <a:srgbClr val="4A5BC4">
              <a:alpha val="9000"/>
            </a:srgbClr>
          </a:solidFill>
          <a:ln>
            <a:noFill/>
          </a:ln>
        </p:spPr>
        <p:txBody>
          <a:bodyPr/>
          <a:lstStyle/>
          <a:p>
            <a:endParaRPr lang="en-US"/>
          </a:p>
        </p:txBody>
      </p:sp>
      <p:sp>
        <p:nvSpPr>
          <p:cNvPr id="9002" name="Decor 9002"/>
          <p:cNvSpPr/>
          <p:nvPr/>
        </p:nvSpPr>
        <p:spPr>
          <a:xfrm>
            <a:off x="9300000" y="-1500000"/>
            <a:ext cx="3600000" cy="3600000"/>
          </a:xfrm>
          <a:prstGeom prst="ellipse">
            <a:avLst/>
          </a:prstGeom>
          <a:noFill/>
          <a:ln w="19050">
            <a:solidFill>
              <a:srgbClr val="4A5BC4">
                <a:alpha val="22000"/>
              </a:srgbClr>
            </a:solidFill>
          </a:ln>
        </p:spPr>
        <p:txBody>
          <a:bodyPr/>
          <a:lstStyle/>
          <a:p>
            <a:endParaRPr lang="en-US"/>
          </a:p>
        </p:txBody>
      </p:sp>
      <p:sp>
        <p:nvSpPr>
          <p:cNvPr id="9003" name="Decor 9003"/>
          <p:cNvSpPr/>
          <p:nvPr/>
        </p:nvSpPr>
        <p:spPr>
          <a:xfrm>
            <a:off x="-1500000" y="5000000"/>
            <a:ext cx="3300000" cy="3300000"/>
          </a:xfrm>
          <a:prstGeom prst="ellipse">
            <a:avLst/>
          </a:prstGeom>
          <a:solidFill>
            <a:srgbClr val="22D3A6">
              <a:alpha val="9000"/>
            </a:srgbClr>
          </a:solidFill>
          <a:ln>
            <a:noFill/>
          </a:ln>
        </p:spPr>
        <p:txBody>
          <a:bodyPr/>
          <a:lstStyle/>
          <a:p>
            <a:endParaRPr lang="en-US"/>
          </a:p>
        </p:txBody>
      </p:sp>
      <p:sp>
        <p:nvSpPr>
          <p:cNvPr id="9004" name="Decor 9004"/>
          <p:cNvSpPr/>
          <p:nvPr/>
        </p:nvSpPr>
        <p:spPr>
          <a:xfrm>
            <a:off x="-900000" y="5600000"/>
            <a:ext cx="1900000" cy="1900000"/>
          </a:xfrm>
          <a:prstGeom prst="ellipse">
            <a:avLst/>
          </a:prstGeom>
          <a:noFill/>
          <a:ln w="19050">
            <a:solidFill>
              <a:srgbClr val="4A5BC4">
                <a:alpha val="14000"/>
              </a:srgbClr>
            </a:solidFill>
          </a:ln>
        </p:spPr>
        <p:txBody>
          <a:bodyPr/>
          <a:lstStyle/>
          <a:p>
            <a:endParaRPr lang="en-US"/>
          </a:p>
        </p:txBody>
      </p:sp>
      <p:sp>
        <p:nvSpPr>
          <p:cNvPr id="4" name="TextBox 3"/>
          <p:cNvSpPr txBox="1"/>
          <p:nvPr/>
        </p:nvSpPr>
        <p:spPr>
          <a:xfrm>
            <a:off x="640080" y="537733"/>
            <a:ext cx="10881360" cy="566928"/>
          </a:xfrm>
          <a:prstGeom prst="rect">
            <a:avLst/>
          </a:prstGeom>
          <a:noFill/>
        </p:spPr>
        <p:txBody>
          <a:bodyPr wrap="square" lIns="0" tIns="0" rIns="0" bIns="0" anchor="ctr">
            <a:noAutofit/>
          </a:bodyPr>
          <a:lstStyle/>
          <a:p>
            <a:pPr algn="l"/>
            <a:r>
              <a:rPr sz="3000" b="1" i="0">
                <a:solidFill>
                  <a:srgbClr val="1B1F3B"/>
                </a:solidFill>
                <a:latin typeface="Cambria"/>
              </a:rPr>
              <a:t>Scope of the Project</a:t>
            </a:r>
          </a:p>
        </p:txBody>
      </p:sp>
      <p:sp>
        <p:nvSpPr>
          <p:cNvPr id="5" name="Rounded Rectangle 4"/>
          <p:cNvSpPr/>
          <p:nvPr/>
        </p:nvSpPr>
        <p:spPr>
          <a:xfrm>
            <a:off x="640080" y="1207171"/>
            <a:ext cx="3465575" cy="2194560"/>
          </a:xfrm>
          <a:prstGeom prst="roundRect">
            <a:avLst>
              <a:gd name="adj" fmla="val 3333"/>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6" name="Oval 5"/>
          <p:cNvSpPr/>
          <p:nvPr/>
        </p:nvSpPr>
        <p:spPr>
          <a:xfrm>
            <a:off x="868680" y="1408339"/>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7" name="Picture 6" descr="image.png"/>
          <p:cNvPicPr>
            <a:picLocks noChangeAspect="1"/>
          </p:cNvPicPr>
          <p:nvPr/>
        </p:nvPicPr>
        <p:blipFill>
          <a:blip r:embed="rId2"/>
          <a:stretch>
            <a:fillRect/>
          </a:stretch>
        </p:blipFill>
        <p:spPr>
          <a:xfrm>
            <a:off x="968532" y="1508191"/>
            <a:ext cx="275783" cy="275783"/>
          </a:xfrm>
          <a:prstGeom prst="rect">
            <a:avLst/>
          </a:prstGeom>
        </p:spPr>
      </p:pic>
      <p:sp>
        <p:nvSpPr>
          <p:cNvPr id="8" name="TextBox 7"/>
          <p:cNvSpPr txBox="1"/>
          <p:nvPr/>
        </p:nvSpPr>
        <p:spPr>
          <a:xfrm>
            <a:off x="1481328" y="1408339"/>
            <a:ext cx="2414015" cy="475488"/>
          </a:xfrm>
          <a:prstGeom prst="rect">
            <a:avLst/>
          </a:prstGeom>
          <a:noFill/>
        </p:spPr>
        <p:txBody>
          <a:bodyPr wrap="square" lIns="0" tIns="0" rIns="0" bIns="0" anchor="ctr">
            <a:noAutofit/>
          </a:bodyPr>
          <a:lstStyle/>
          <a:p>
            <a:pPr algn="l"/>
            <a:r>
              <a:rPr sz="1650" b="1" i="0">
                <a:solidFill>
                  <a:srgbClr val="1B1F3B"/>
                </a:solidFill>
                <a:latin typeface="Calibri"/>
              </a:rPr>
              <a:t>Target Users</a:t>
            </a:r>
          </a:p>
        </p:txBody>
      </p:sp>
      <p:sp>
        <p:nvSpPr>
          <p:cNvPr id="9" name="TextBox 8"/>
          <p:cNvSpPr txBox="1"/>
          <p:nvPr/>
        </p:nvSpPr>
        <p:spPr>
          <a:xfrm>
            <a:off x="914400" y="2048419"/>
            <a:ext cx="2916935" cy="1234439"/>
          </a:xfrm>
          <a:prstGeom prst="rect">
            <a:avLst/>
          </a:prstGeom>
          <a:noFill/>
        </p:spPr>
        <p:txBody>
          <a:bodyPr wrap="square" lIns="0" tIns="0" rIns="0" bIns="0" anchor="t">
            <a:noAutofit/>
          </a:bodyPr>
          <a:lstStyle/>
          <a:p>
            <a:pPr marL="201168" indent="-201168" algn="l">
              <a:spcAft>
                <a:spcPts val="300"/>
              </a:spcAft>
              <a:buFont typeface="Arial"/>
              <a:buChar char="•"/>
            </a:pPr>
            <a:r>
              <a:rPr sz="1450" b="0" i="0">
                <a:solidFill>
                  <a:srgbClr val="0B1220"/>
                </a:solidFill>
                <a:latin typeface="Calibri"/>
              </a:rPr>
              <a:t>Candidates / job applicants</a:t>
            </a:r>
          </a:p>
          <a:p>
            <a:pPr marL="201168" indent="-201168" algn="l">
              <a:spcAft>
                <a:spcPts val="300"/>
              </a:spcAft>
              <a:buFont typeface="Arial"/>
              <a:buChar char="•"/>
            </a:pPr>
            <a:r>
              <a:rPr sz="1450" b="0" i="0">
                <a:solidFill>
                  <a:srgbClr val="0B1220"/>
                </a:solidFill>
                <a:latin typeface="Calibri"/>
              </a:rPr>
              <a:t>HR recruiters</a:t>
            </a:r>
          </a:p>
          <a:p>
            <a:pPr marL="201168" indent="-201168" algn="l">
              <a:spcAft>
                <a:spcPts val="300"/>
              </a:spcAft>
              <a:buFont typeface="Arial"/>
              <a:buChar char="•"/>
            </a:pPr>
            <a:r>
              <a:rPr sz="1450" b="0" i="0">
                <a:solidFill>
                  <a:srgbClr val="0B1220"/>
                </a:solidFill>
                <a:latin typeface="Calibri"/>
              </a:rPr>
              <a:t>System administrators</a:t>
            </a:r>
          </a:p>
        </p:txBody>
      </p:sp>
      <p:sp>
        <p:nvSpPr>
          <p:cNvPr id="10" name="Rounded Rectangle 9"/>
          <p:cNvSpPr/>
          <p:nvPr/>
        </p:nvSpPr>
        <p:spPr>
          <a:xfrm>
            <a:off x="4361688" y="1207171"/>
            <a:ext cx="3465575" cy="2194560"/>
          </a:xfrm>
          <a:prstGeom prst="roundRect">
            <a:avLst>
              <a:gd name="adj" fmla="val 3333"/>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11" name="Oval 10"/>
          <p:cNvSpPr/>
          <p:nvPr/>
        </p:nvSpPr>
        <p:spPr>
          <a:xfrm>
            <a:off x="4590288" y="1408339"/>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12" name="Picture 11" descr="image.png"/>
          <p:cNvPicPr>
            <a:picLocks noChangeAspect="1"/>
          </p:cNvPicPr>
          <p:nvPr/>
        </p:nvPicPr>
        <p:blipFill>
          <a:blip r:embed="rId3"/>
          <a:stretch>
            <a:fillRect/>
          </a:stretch>
        </p:blipFill>
        <p:spPr>
          <a:xfrm>
            <a:off x="4690140" y="1508191"/>
            <a:ext cx="275783" cy="275783"/>
          </a:xfrm>
          <a:prstGeom prst="rect">
            <a:avLst/>
          </a:prstGeom>
        </p:spPr>
      </p:pic>
      <p:sp>
        <p:nvSpPr>
          <p:cNvPr id="13" name="TextBox 12"/>
          <p:cNvSpPr txBox="1"/>
          <p:nvPr/>
        </p:nvSpPr>
        <p:spPr>
          <a:xfrm>
            <a:off x="5202936" y="1408339"/>
            <a:ext cx="2414015" cy="475488"/>
          </a:xfrm>
          <a:prstGeom prst="rect">
            <a:avLst/>
          </a:prstGeom>
          <a:noFill/>
        </p:spPr>
        <p:txBody>
          <a:bodyPr wrap="square" lIns="0" tIns="0" rIns="0" bIns="0" anchor="ctr">
            <a:noAutofit/>
          </a:bodyPr>
          <a:lstStyle/>
          <a:p>
            <a:pPr algn="l"/>
            <a:r>
              <a:rPr sz="1650" b="1" i="0">
                <a:solidFill>
                  <a:srgbClr val="1B1F3B"/>
                </a:solidFill>
                <a:latin typeface="Calibri"/>
              </a:rPr>
              <a:t>Functional Coverage</a:t>
            </a:r>
          </a:p>
        </p:txBody>
      </p:sp>
      <p:sp>
        <p:nvSpPr>
          <p:cNvPr id="14" name="TextBox 13"/>
          <p:cNvSpPr txBox="1"/>
          <p:nvPr/>
        </p:nvSpPr>
        <p:spPr>
          <a:xfrm>
            <a:off x="4636007" y="2048419"/>
            <a:ext cx="2916935" cy="1234439"/>
          </a:xfrm>
          <a:prstGeom prst="rect">
            <a:avLst/>
          </a:prstGeom>
          <a:noFill/>
        </p:spPr>
        <p:txBody>
          <a:bodyPr wrap="square" lIns="0" tIns="0" rIns="0" bIns="0" anchor="t">
            <a:noAutofit/>
          </a:bodyPr>
          <a:lstStyle/>
          <a:p>
            <a:pPr marL="201168" indent="-201168" algn="l">
              <a:spcAft>
                <a:spcPts val="300"/>
              </a:spcAft>
              <a:buFont typeface="Arial"/>
              <a:buChar char="•"/>
            </a:pPr>
            <a:r>
              <a:rPr sz="1450" b="0" i="0">
                <a:solidFill>
                  <a:srgbClr val="0B1220"/>
                </a:solidFill>
                <a:latin typeface="Calibri"/>
              </a:rPr>
              <a:t>Resume evaluation</a:t>
            </a:r>
          </a:p>
          <a:p>
            <a:pPr marL="201168" indent="-201168" algn="l">
              <a:spcAft>
                <a:spcPts val="300"/>
              </a:spcAft>
              <a:buFont typeface="Arial"/>
              <a:buChar char="•"/>
            </a:pPr>
            <a:r>
              <a:rPr sz="1450" b="0" i="0">
                <a:solidFill>
                  <a:srgbClr val="0B1220"/>
                </a:solidFill>
                <a:latin typeface="Calibri"/>
              </a:rPr>
              <a:t>Aptitude and personality assessment</a:t>
            </a:r>
          </a:p>
          <a:p>
            <a:pPr marL="201168" indent="-201168" algn="l">
              <a:spcAft>
                <a:spcPts val="300"/>
              </a:spcAft>
              <a:buFont typeface="Arial"/>
              <a:buChar char="•"/>
            </a:pPr>
            <a:r>
              <a:rPr sz="1450" b="0" i="0">
                <a:solidFill>
                  <a:srgbClr val="0B1220"/>
                </a:solidFill>
                <a:latin typeface="Calibri"/>
              </a:rPr>
              <a:t>Candidate ranking and HR dashboards</a:t>
            </a:r>
          </a:p>
        </p:txBody>
      </p:sp>
      <p:sp>
        <p:nvSpPr>
          <p:cNvPr id="15" name="Rounded Rectangle 14"/>
          <p:cNvSpPr/>
          <p:nvPr/>
        </p:nvSpPr>
        <p:spPr>
          <a:xfrm>
            <a:off x="8083295" y="1207171"/>
            <a:ext cx="3465575" cy="2194560"/>
          </a:xfrm>
          <a:prstGeom prst="roundRect">
            <a:avLst>
              <a:gd name="adj" fmla="val 3333"/>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16" name="Oval 15"/>
          <p:cNvSpPr/>
          <p:nvPr/>
        </p:nvSpPr>
        <p:spPr>
          <a:xfrm>
            <a:off x="8311895" y="1408339"/>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17" name="Picture 16" descr="image.png"/>
          <p:cNvPicPr>
            <a:picLocks noChangeAspect="1"/>
          </p:cNvPicPr>
          <p:nvPr/>
        </p:nvPicPr>
        <p:blipFill>
          <a:blip r:embed="rId4"/>
          <a:stretch>
            <a:fillRect/>
          </a:stretch>
        </p:blipFill>
        <p:spPr>
          <a:xfrm>
            <a:off x="8411748" y="1508191"/>
            <a:ext cx="275783" cy="275783"/>
          </a:xfrm>
          <a:prstGeom prst="rect">
            <a:avLst/>
          </a:prstGeom>
        </p:spPr>
      </p:pic>
      <p:sp>
        <p:nvSpPr>
          <p:cNvPr id="18" name="TextBox 17"/>
          <p:cNvSpPr txBox="1"/>
          <p:nvPr/>
        </p:nvSpPr>
        <p:spPr>
          <a:xfrm>
            <a:off x="8924543" y="1408339"/>
            <a:ext cx="2414015" cy="475488"/>
          </a:xfrm>
          <a:prstGeom prst="rect">
            <a:avLst/>
          </a:prstGeom>
          <a:noFill/>
        </p:spPr>
        <p:txBody>
          <a:bodyPr wrap="square" lIns="0" tIns="0" rIns="0" bIns="0" anchor="ctr">
            <a:noAutofit/>
          </a:bodyPr>
          <a:lstStyle/>
          <a:p>
            <a:pPr algn="l"/>
            <a:r>
              <a:rPr sz="1650" b="1" i="0">
                <a:solidFill>
                  <a:srgbClr val="1B1F3B"/>
                </a:solidFill>
                <a:latin typeface="Calibri"/>
              </a:rPr>
              <a:t>Application Areas</a:t>
            </a:r>
          </a:p>
        </p:txBody>
      </p:sp>
      <p:sp>
        <p:nvSpPr>
          <p:cNvPr id="19" name="TextBox 18"/>
          <p:cNvSpPr txBox="1"/>
          <p:nvPr/>
        </p:nvSpPr>
        <p:spPr>
          <a:xfrm>
            <a:off x="8357615" y="2048419"/>
            <a:ext cx="2916935" cy="1234439"/>
          </a:xfrm>
          <a:prstGeom prst="rect">
            <a:avLst/>
          </a:prstGeom>
          <a:noFill/>
        </p:spPr>
        <p:txBody>
          <a:bodyPr wrap="square" lIns="0" tIns="0" rIns="0" bIns="0" anchor="t">
            <a:noAutofit/>
          </a:bodyPr>
          <a:lstStyle/>
          <a:p>
            <a:pPr marL="201168" indent="-201168" algn="l">
              <a:spcAft>
                <a:spcPts val="300"/>
              </a:spcAft>
              <a:buFont typeface="Arial"/>
              <a:buChar char="•"/>
            </a:pPr>
            <a:r>
              <a:rPr sz="1450" b="0" i="0">
                <a:solidFill>
                  <a:srgbClr val="0B1220"/>
                </a:solidFill>
                <a:latin typeface="Calibri"/>
              </a:rPr>
              <a:t>Corporate HR departments</a:t>
            </a:r>
          </a:p>
          <a:p>
            <a:pPr marL="201168" indent="-201168" algn="l">
              <a:spcAft>
                <a:spcPts val="300"/>
              </a:spcAft>
              <a:buFont typeface="Arial"/>
              <a:buChar char="•"/>
            </a:pPr>
            <a:r>
              <a:rPr sz="1450" b="0" i="0">
                <a:solidFill>
                  <a:srgbClr val="0B1220"/>
                </a:solidFill>
                <a:latin typeface="Calibri"/>
              </a:rPr>
              <a:t>Recruitment agencies</a:t>
            </a:r>
          </a:p>
          <a:p>
            <a:pPr marL="201168" indent="-201168" algn="l">
              <a:spcAft>
                <a:spcPts val="300"/>
              </a:spcAft>
              <a:buFont typeface="Arial"/>
              <a:buChar char="•"/>
            </a:pPr>
            <a:r>
              <a:rPr sz="1450" b="0" i="0">
                <a:solidFill>
                  <a:srgbClr val="0B1220"/>
                </a:solidFill>
                <a:latin typeface="Calibri"/>
              </a:rPr>
              <a:t>Campus placement cells</a:t>
            </a:r>
          </a:p>
        </p:txBody>
      </p:sp>
      <p:sp>
        <p:nvSpPr>
          <p:cNvPr id="20" name="Rounded Rectangle 19"/>
          <p:cNvSpPr/>
          <p:nvPr/>
        </p:nvSpPr>
        <p:spPr>
          <a:xfrm>
            <a:off x="640080" y="3676051"/>
            <a:ext cx="5326380" cy="2194560"/>
          </a:xfrm>
          <a:prstGeom prst="roundRect">
            <a:avLst>
              <a:gd name="adj" fmla="val 3333"/>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21" name="Oval 20"/>
          <p:cNvSpPr/>
          <p:nvPr/>
        </p:nvSpPr>
        <p:spPr>
          <a:xfrm>
            <a:off x="868680" y="3877219"/>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22" name="Picture 21" descr="image.png"/>
          <p:cNvPicPr>
            <a:picLocks noChangeAspect="1"/>
          </p:cNvPicPr>
          <p:nvPr/>
        </p:nvPicPr>
        <p:blipFill>
          <a:blip r:embed="rId5"/>
          <a:stretch>
            <a:fillRect/>
          </a:stretch>
        </p:blipFill>
        <p:spPr>
          <a:xfrm>
            <a:off x="968532" y="3977071"/>
            <a:ext cx="275783" cy="275783"/>
          </a:xfrm>
          <a:prstGeom prst="rect">
            <a:avLst/>
          </a:prstGeom>
        </p:spPr>
      </p:pic>
      <p:sp>
        <p:nvSpPr>
          <p:cNvPr id="23" name="TextBox 22"/>
          <p:cNvSpPr txBox="1"/>
          <p:nvPr/>
        </p:nvSpPr>
        <p:spPr>
          <a:xfrm>
            <a:off x="1481328" y="3877219"/>
            <a:ext cx="4274820" cy="475488"/>
          </a:xfrm>
          <a:prstGeom prst="rect">
            <a:avLst/>
          </a:prstGeom>
          <a:noFill/>
        </p:spPr>
        <p:txBody>
          <a:bodyPr wrap="square" lIns="0" tIns="0" rIns="0" bIns="0" anchor="ctr">
            <a:noAutofit/>
          </a:bodyPr>
          <a:lstStyle/>
          <a:p>
            <a:pPr algn="l"/>
            <a:r>
              <a:rPr sz="1650" b="1" i="0">
                <a:solidFill>
                  <a:srgbClr val="1B1F3B"/>
                </a:solidFill>
                <a:latin typeface="Calibri"/>
              </a:rPr>
              <a:t>Included in the Project</a:t>
            </a:r>
          </a:p>
        </p:txBody>
      </p:sp>
      <p:sp>
        <p:nvSpPr>
          <p:cNvPr id="24" name="TextBox 23"/>
          <p:cNvSpPr txBox="1"/>
          <p:nvPr/>
        </p:nvSpPr>
        <p:spPr>
          <a:xfrm>
            <a:off x="914400" y="4517299"/>
            <a:ext cx="4777740" cy="1234439"/>
          </a:xfrm>
          <a:prstGeom prst="rect">
            <a:avLst/>
          </a:prstGeom>
          <a:noFill/>
        </p:spPr>
        <p:txBody>
          <a:bodyPr wrap="square" lIns="0" tIns="0" rIns="0" bIns="0" anchor="t">
            <a:noAutofit/>
          </a:bodyPr>
          <a:lstStyle/>
          <a:p>
            <a:pPr algn="l">
              <a:spcAft>
                <a:spcPts val="300"/>
              </a:spcAft>
            </a:pPr>
            <a:r>
              <a:rPr sz="1450" b="0" i="0">
                <a:solidFill>
                  <a:srgbClr val="0B1220"/>
                </a:solidFill>
                <a:latin typeface="Calibri"/>
              </a:rPr>
              <a:t>User authentication, job management, resume upload, online aptitude and personality tests, score-based ranking, notifications, and candidate and admin dashboards.</a:t>
            </a:r>
          </a:p>
        </p:txBody>
      </p:sp>
      <p:sp>
        <p:nvSpPr>
          <p:cNvPr id="25" name="Rounded Rectangle 24"/>
          <p:cNvSpPr/>
          <p:nvPr/>
        </p:nvSpPr>
        <p:spPr>
          <a:xfrm>
            <a:off x="6222492" y="3676051"/>
            <a:ext cx="5326380" cy="2194560"/>
          </a:xfrm>
          <a:prstGeom prst="roundRect">
            <a:avLst>
              <a:gd name="adj" fmla="val 3333"/>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26" name="Oval 25"/>
          <p:cNvSpPr/>
          <p:nvPr/>
        </p:nvSpPr>
        <p:spPr>
          <a:xfrm>
            <a:off x="6451092" y="3877219"/>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27" name="Picture 26" descr="image.png"/>
          <p:cNvPicPr>
            <a:picLocks noChangeAspect="1"/>
          </p:cNvPicPr>
          <p:nvPr/>
        </p:nvPicPr>
        <p:blipFill>
          <a:blip r:embed="rId6"/>
          <a:stretch>
            <a:fillRect/>
          </a:stretch>
        </p:blipFill>
        <p:spPr>
          <a:xfrm>
            <a:off x="6550944" y="3977071"/>
            <a:ext cx="275783" cy="275783"/>
          </a:xfrm>
          <a:prstGeom prst="rect">
            <a:avLst/>
          </a:prstGeom>
        </p:spPr>
      </p:pic>
      <p:sp>
        <p:nvSpPr>
          <p:cNvPr id="28" name="TextBox 27"/>
          <p:cNvSpPr txBox="1"/>
          <p:nvPr/>
        </p:nvSpPr>
        <p:spPr>
          <a:xfrm>
            <a:off x="7063740" y="3877219"/>
            <a:ext cx="4274820" cy="475488"/>
          </a:xfrm>
          <a:prstGeom prst="rect">
            <a:avLst/>
          </a:prstGeom>
          <a:noFill/>
        </p:spPr>
        <p:txBody>
          <a:bodyPr wrap="square" lIns="0" tIns="0" rIns="0" bIns="0" anchor="ctr">
            <a:noAutofit/>
          </a:bodyPr>
          <a:lstStyle/>
          <a:p>
            <a:pPr algn="l"/>
            <a:r>
              <a:rPr sz="1650" b="1" i="0">
                <a:solidFill>
                  <a:srgbClr val="1B1F3B"/>
                </a:solidFill>
                <a:latin typeface="Calibri"/>
              </a:rPr>
              <a:t>Possible Future Applications</a:t>
            </a:r>
          </a:p>
        </p:txBody>
      </p:sp>
      <p:sp>
        <p:nvSpPr>
          <p:cNvPr id="29" name="TextBox 28"/>
          <p:cNvSpPr txBox="1"/>
          <p:nvPr/>
        </p:nvSpPr>
        <p:spPr>
          <a:xfrm>
            <a:off x="6496812" y="4517299"/>
            <a:ext cx="4777740" cy="1234439"/>
          </a:xfrm>
          <a:prstGeom prst="rect">
            <a:avLst/>
          </a:prstGeom>
          <a:noFill/>
        </p:spPr>
        <p:txBody>
          <a:bodyPr wrap="square" lIns="0" tIns="0" rIns="0" bIns="0" anchor="t">
            <a:noAutofit/>
          </a:bodyPr>
          <a:lstStyle/>
          <a:p>
            <a:pPr algn="l">
              <a:spcAft>
                <a:spcPts val="300"/>
              </a:spcAft>
            </a:pPr>
            <a:r>
              <a:rPr sz="1450" b="0" i="0">
                <a:solidFill>
                  <a:srgbClr val="0B1220"/>
                </a:solidFill>
                <a:latin typeface="Calibri"/>
              </a:rPr>
              <a:t>Extension to new job roles and larger applicant volumes, and integration with external hiring platforms.</a:t>
            </a:r>
          </a:p>
        </p:txBody>
      </p:sp>
      <p:sp>
        <p:nvSpPr>
          <p:cNvPr id="30" name="TextBox 29"/>
          <p:cNvSpPr txBox="1"/>
          <p:nvPr/>
        </p:nvSpPr>
        <p:spPr>
          <a:xfrm>
            <a:off x="640080" y="6537960"/>
            <a:ext cx="2926080" cy="201168"/>
          </a:xfrm>
          <a:prstGeom prst="rect">
            <a:avLst/>
          </a:prstGeom>
          <a:noFill/>
        </p:spPr>
        <p:txBody>
          <a:bodyPr wrap="square" lIns="0" tIns="0" rIns="0" bIns="0" anchor="ctr">
            <a:noAutofit/>
          </a:bodyPr>
          <a:lstStyle/>
          <a:p>
            <a:pPr algn="l"/>
            <a:r>
              <a:rPr sz="1000" b="1" i="0">
                <a:solidFill>
                  <a:srgbClr val="002060"/>
                </a:solidFill>
                <a:latin typeface="Calibri"/>
              </a:rPr>
              <a:t>INTELLIGENT HIRING SYSTEM</a:t>
            </a:r>
          </a:p>
        </p:txBody>
      </p:sp>
      <p:sp>
        <p:nvSpPr>
          <p:cNvPr id="31" name="Oval 30"/>
          <p:cNvSpPr/>
          <p:nvPr/>
        </p:nvSpPr>
        <p:spPr>
          <a:xfrm>
            <a:off x="11256264" y="6492240"/>
            <a:ext cx="292608" cy="292608"/>
          </a:xfrm>
          <a:prstGeom prst="ellipse">
            <a:avLst/>
          </a:prstGeom>
          <a:solidFill>
            <a:srgbClr val="F4F7FE"/>
          </a:solidFill>
          <a:ln>
            <a:noFill/>
          </a:ln>
        </p:spPr>
        <p:txBody>
          <a:bodyPr rtlCol="0" anchor="ctr"/>
          <a:lstStyle/>
          <a:p>
            <a:pPr algn="ctr"/>
            <a:endParaRPr/>
          </a:p>
        </p:txBody>
      </p:sp>
      <p:sp>
        <p:nvSpPr>
          <p:cNvPr id="32" name="TextBox 31"/>
          <p:cNvSpPr txBox="1"/>
          <p:nvPr/>
        </p:nvSpPr>
        <p:spPr>
          <a:xfrm>
            <a:off x="11256264" y="6492240"/>
            <a:ext cx="292608" cy="292608"/>
          </a:xfrm>
          <a:prstGeom prst="rect">
            <a:avLst/>
          </a:prstGeom>
          <a:noFill/>
        </p:spPr>
        <p:txBody>
          <a:bodyPr wrap="square" lIns="0" tIns="0" rIns="0" bIns="0" anchor="ctr">
            <a:noAutofit/>
          </a:bodyPr>
          <a:lstStyle/>
          <a:p>
            <a:pPr algn="ctr"/>
            <a:r>
              <a:rPr sz="950" b="1" i="0">
                <a:solidFill>
                  <a:srgbClr val="1E2761"/>
                </a:solidFill>
                <a:latin typeface="Calibri"/>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FAFBFF"/>
            </a:gs>
            <a:gs pos="100000">
              <a:srgbClr val="E4ECFC"/>
            </a:gs>
          </a:gsLst>
          <a:lin ang="2700000" scaled="0"/>
        </a:gradFill>
        <a:effectLst/>
      </p:bgPr>
    </p:bg>
    <p:spTree>
      <p:nvGrpSpPr>
        <p:cNvPr id="1" name=""/>
        <p:cNvGrpSpPr/>
        <p:nvPr/>
      </p:nvGrpSpPr>
      <p:grpSpPr>
        <a:xfrm>
          <a:off x="0" y="0"/>
          <a:ext cx="0" cy="0"/>
          <a:chOff x="0" y="0"/>
          <a:chExt cx="0" cy="0"/>
        </a:xfrm>
      </p:grpSpPr>
      <p:sp>
        <p:nvSpPr>
          <p:cNvPr id="9001" name="Decor 9001"/>
          <p:cNvSpPr/>
          <p:nvPr/>
        </p:nvSpPr>
        <p:spPr>
          <a:xfrm>
            <a:off x="8300000" y="-2300000"/>
            <a:ext cx="5200000" cy="5200000"/>
          </a:xfrm>
          <a:prstGeom prst="ellipse">
            <a:avLst/>
          </a:prstGeom>
          <a:solidFill>
            <a:srgbClr val="4A5BC4">
              <a:alpha val="9000"/>
            </a:srgbClr>
          </a:solidFill>
          <a:ln>
            <a:noFill/>
          </a:ln>
        </p:spPr>
        <p:txBody>
          <a:bodyPr/>
          <a:lstStyle/>
          <a:p>
            <a:endParaRPr lang="en-US"/>
          </a:p>
        </p:txBody>
      </p:sp>
      <p:sp>
        <p:nvSpPr>
          <p:cNvPr id="9002" name="Decor 9002"/>
          <p:cNvSpPr/>
          <p:nvPr/>
        </p:nvSpPr>
        <p:spPr>
          <a:xfrm>
            <a:off x="9300000" y="-1500000"/>
            <a:ext cx="3600000" cy="3600000"/>
          </a:xfrm>
          <a:prstGeom prst="ellipse">
            <a:avLst/>
          </a:prstGeom>
          <a:noFill/>
          <a:ln w="19050">
            <a:solidFill>
              <a:srgbClr val="4A5BC4">
                <a:alpha val="22000"/>
              </a:srgbClr>
            </a:solidFill>
          </a:ln>
        </p:spPr>
        <p:txBody>
          <a:bodyPr/>
          <a:lstStyle/>
          <a:p>
            <a:endParaRPr lang="en-US"/>
          </a:p>
        </p:txBody>
      </p:sp>
      <p:sp>
        <p:nvSpPr>
          <p:cNvPr id="9003" name="Decor 9003"/>
          <p:cNvSpPr/>
          <p:nvPr/>
        </p:nvSpPr>
        <p:spPr>
          <a:xfrm>
            <a:off x="-1500000" y="5000000"/>
            <a:ext cx="3300000" cy="3300000"/>
          </a:xfrm>
          <a:prstGeom prst="ellipse">
            <a:avLst/>
          </a:prstGeom>
          <a:solidFill>
            <a:srgbClr val="22D3A6">
              <a:alpha val="9000"/>
            </a:srgbClr>
          </a:solidFill>
          <a:ln>
            <a:noFill/>
          </a:ln>
        </p:spPr>
        <p:txBody>
          <a:bodyPr/>
          <a:lstStyle/>
          <a:p>
            <a:endParaRPr lang="en-US"/>
          </a:p>
        </p:txBody>
      </p:sp>
      <p:sp>
        <p:nvSpPr>
          <p:cNvPr id="9004" name="Decor 9004"/>
          <p:cNvSpPr/>
          <p:nvPr/>
        </p:nvSpPr>
        <p:spPr>
          <a:xfrm>
            <a:off x="-900000" y="5600000"/>
            <a:ext cx="1900000" cy="1900000"/>
          </a:xfrm>
          <a:prstGeom prst="ellipse">
            <a:avLst/>
          </a:prstGeom>
          <a:noFill/>
          <a:ln w="19050">
            <a:solidFill>
              <a:srgbClr val="4A5BC4">
                <a:alpha val="14000"/>
              </a:srgbClr>
            </a:solidFill>
          </a:ln>
        </p:spPr>
        <p:txBody>
          <a:bodyPr/>
          <a:lstStyle/>
          <a:p>
            <a:endParaRPr lang="en-US"/>
          </a:p>
        </p:txBody>
      </p:sp>
      <p:sp>
        <p:nvSpPr>
          <p:cNvPr id="4" name="TextBox 3"/>
          <p:cNvSpPr txBox="1"/>
          <p:nvPr/>
        </p:nvSpPr>
        <p:spPr>
          <a:xfrm>
            <a:off x="640080" y="481586"/>
            <a:ext cx="10881360" cy="566928"/>
          </a:xfrm>
          <a:prstGeom prst="rect">
            <a:avLst/>
          </a:prstGeom>
          <a:noFill/>
        </p:spPr>
        <p:txBody>
          <a:bodyPr wrap="square" lIns="0" tIns="0" rIns="0" bIns="0" anchor="ctr">
            <a:noAutofit/>
          </a:bodyPr>
          <a:lstStyle/>
          <a:p>
            <a:pPr algn="l"/>
            <a:r>
              <a:rPr sz="3000" b="1" i="0">
                <a:solidFill>
                  <a:srgbClr val="1B1F3B"/>
                </a:solidFill>
                <a:latin typeface="Cambria"/>
              </a:rPr>
              <a:t>Literature Review</a:t>
            </a:r>
          </a:p>
        </p:txBody>
      </p:sp>
      <p:graphicFrame>
        <p:nvGraphicFramePr>
          <p:cNvPr id="5" name="Table 4"/>
          <p:cNvGraphicFramePr>
            <a:graphicFrameLocks noGrp="1"/>
          </p:cNvGraphicFramePr>
          <p:nvPr>
            <p:extLst>
              <p:ext uri="{D42A27DB-BD31-4B8C-83A1-F6EECF244321}">
                <p14:modId xmlns:p14="http://schemas.microsoft.com/office/powerpoint/2010/main" val="1426227954"/>
              </p:ext>
            </p:extLst>
          </p:nvPr>
        </p:nvGraphicFramePr>
        <p:xfrm>
          <a:off x="640080" y="1203962"/>
          <a:ext cx="10908791" cy="4066032"/>
        </p:xfrm>
        <a:graphic>
          <a:graphicData uri="http://schemas.openxmlformats.org/drawingml/2006/table">
            <a:tbl>
              <a:tblPr/>
              <a:tblGrid>
                <a:gridCol w="22402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1874519">
                  <a:extLst>
                    <a:ext uri="{9D8B030D-6E8A-4147-A177-3AD203B41FA5}">
                      <a16:colId xmlns:a16="http://schemas.microsoft.com/office/drawing/2014/main" val="20003"/>
                    </a:ext>
                  </a:extLst>
                </a:gridCol>
                <a:gridCol w="1325880">
                  <a:extLst>
                    <a:ext uri="{9D8B030D-6E8A-4147-A177-3AD203B41FA5}">
                      <a16:colId xmlns:a16="http://schemas.microsoft.com/office/drawing/2014/main" val="20004"/>
                    </a:ext>
                  </a:extLst>
                </a:gridCol>
                <a:gridCol w="2221992">
                  <a:extLst>
                    <a:ext uri="{9D8B030D-6E8A-4147-A177-3AD203B41FA5}">
                      <a16:colId xmlns:a16="http://schemas.microsoft.com/office/drawing/2014/main" val="20005"/>
                    </a:ext>
                  </a:extLst>
                </a:gridCol>
              </a:tblGrid>
              <a:tr h="384048">
                <a:tc>
                  <a:txBody>
                    <a:bodyPr/>
                    <a:lstStyle/>
                    <a:p>
                      <a:r>
                        <a:rPr sz="1100" b="1" i="0">
                          <a:solidFill>
                            <a:srgbClr val="FFFFFF"/>
                          </a:solidFill>
                          <a:latin typeface="Calibri"/>
                        </a:rPr>
                        <a:t>Title &amp; Year</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1E2761"/>
                    </a:solidFill>
                  </a:tcPr>
                </a:tc>
                <a:tc>
                  <a:txBody>
                    <a:bodyPr/>
                    <a:lstStyle/>
                    <a:p>
                      <a:r>
                        <a:rPr sz="1100" b="1" i="0">
                          <a:solidFill>
                            <a:srgbClr val="FFFFFF"/>
                          </a:solidFill>
                          <a:latin typeface="Calibri"/>
                        </a:rPr>
                        <a:t>Author &amp; Publication</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1E2761"/>
                    </a:solidFill>
                  </a:tcPr>
                </a:tc>
                <a:tc>
                  <a:txBody>
                    <a:bodyPr/>
                    <a:lstStyle/>
                    <a:p>
                      <a:r>
                        <a:rPr sz="1100" b="1" i="0">
                          <a:solidFill>
                            <a:srgbClr val="FFFFFF"/>
                          </a:solidFill>
                          <a:latin typeface="Calibri"/>
                        </a:rPr>
                        <a:t>Algorithm Used</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1E2761"/>
                    </a:solidFill>
                  </a:tcPr>
                </a:tc>
                <a:tc>
                  <a:txBody>
                    <a:bodyPr/>
                    <a:lstStyle/>
                    <a:p>
                      <a:r>
                        <a:rPr sz="1100" b="1" i="0">
                          <a:solidFill>
                            <a:srgbClr val="FFFFFF"/>
                          </a:solidFill>
                          <a:latin typeface="Calibri"/>
                        </a:rPr>
                        <a:t>Feature Extracted / Methodology</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1E2761"/>
                    </a:solidFill>
                  </a:tcPr>
                </a:tc>
                <a:tc>
                  <a:txBody>
                    <a:bodyPr/>
                    <a:lstStyle/>
                    <a:p>
                      <a:r>
                        <a:rPr sz="1100" b="1" i="0">
                          <a:solidFill>
                            <a:srgbClr val="FFFFFF"/>
                          </a:solidFill>
                          <a:latin typeface="Calibri"/>
                        </a:rPr>
                        <a:t>Performance Metric</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1E2761"/>
                    </a:solidFill>
                  </a:tcPr>
                </a:tc>
                <a:tc>
                  <a:txBody>
                    <a:bodyPr/>
                    <a:lstStyle/>
                    <a:p>
                      <a:r>
                        <a:rPr sz="1100" b="1" i="0">
                          <a:solidFill>
                            <a:srgbClr val="FFFFFF"/>
                          </a:solidFill>
                          <a:latin typeface="Calibri"/>
                        </a:rPr>
                        <a:t>Result / Findings</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1E2761"/>
                    </a:solidFill>
                  </a:tcPr>
                </a:tc>
                <a:extLst>
                  <a:ext uri="{0D108BD9-81ED-4DB2-BD59-A6C34878D82A}">
                    <a16:rowId xmlns:a16="http://schemas.microsoft.com/office/drawing/2014/main" val="10000"/>
                  </a:ext>
                </a:extLst>
              </a:tr>
              <a:tr h="731520">
                <a:tc>
                  <a:txBody>
                    <a:bodyPr/>
                    <a:lstStyle/>
                    <a:p>
                      <a:r>
                        <a:rPr sz="1050" b="1" i="0">
                          <a:solidFill>
                            <a:srgbClr val="1B1F3B"/>
                          </a:solidFill>
                          <a:latin typeface="Calibri"/>
                        </a:rPr>
                        <a:t>Application of LLM Agents in Recruitment: A Novel Framework for Automated Resume Screening (2024)</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FFFFF"/>
                    </a:solidFill>
                  </a:tcPr>
                </a:tc>
                <a:tc>
                  <a:txBody>
                    <a:bodyPr/>
                    <a:lstStyle/>
                    <a:p>
                      <a:r>
                        <a:rPr sz="1050" b="0" i="0">
                          <a:solidFill>
                            <a:srgbClr val="0B1220"/>
                          </a:solidFill>
                          <a:latin typeface="Calibri"/>
                        </a:rPr>
                        <a:t>C. Gan, Q. Zhang, T. Mori; Journal of Information Processing</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FFFFF"/>
                    </a:solidFill>
                  </a:tcPr>
                </a:tc>
                <a:tc>
                  <a:txBody>
                    <a:bodyPr/>
                    <a:lstStyle/>
                    <a:p>
                      <a:r>
                        <a:rPr sz="1050" b="0" i="0">
                          <a:solidFill>
                            <a:srgbClr val="0B1220"/>
                          </a:solidFill>
                          <a:latin typeface="Calibri"/>
                        </a:rPr>
                        <a:t>LLM agent framework (fine-tuned LLMs)</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FFFFF"/>
                    </a:solidFill>
                  </a:tcPr>
                </a:tc>
                <a:tc>
                  <a:txBody>
                    <a:bodyPr/>
                    <a:lstStyle/>
                    <a:p>
                      <a:r>
                        <a:rPr sz="1050" b="0" i="0">
                          <a:solidFill>
                            <a:srgbClr val="0B1220"/>
                          </a:solidFill>
                          <a:latin typeface="Calibri"/>
                        </a:rPr>
                        <a:t>Summarizes, grades and classifies resume sentences; agents support offer decisions</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FFFFF"/>
                    </a:solidFill>
                  </a:tcPr>
                </a:tc>
                <a:tc>
                  <a:txBody>
                    <a:bodyPr/>
                    <a:lstStyle/>
                    <a:p>
                      <a:r>
                        <a:rPr sz="1050" b="0" i="0">
                          <a:solidFill>
                            <a:srgbClr val="0B1220"/>
                          </a:solidFill>
                          <a:latin typeface="Calibri"/>
                        </a:rPr>
                        <a:t>Processing speed; F1-score</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FFFFF"/>
                    </a:solidFill>
                  </a:tcPr>
                </a:tc>
                <a:tc>
                  <a:txBody>
                    <a:bodyPr/>
                    <a:lstStyle/>
                    <a:p>
                      <a:r>
                        <a:rPr sz="1050" b="0" i="0">
                          <a:solidFill>
                            <a:srgbClr val="0B1220"/>
                          </a:solidFill>
                          <a:latin typeface="Calibri"/>
                        </a:rPr>
                        <a:t>~11x faster than manual screening; F1 of 87.73% in resume sentence classification</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FFFFF"/>
                    </a:solidFill>
                  </a:tcPr>
                </a:tc>
                <a:extLst>
                  <a:ext uri="{0D108BD9-81ED-4DB2-BD59-A6C34878D82A}">
                    <a16:rowId xmlns:a16="http://schemas.microsoft.com/office/drawing/2014/main" val="10001"/>
                  </a:ext>
                </a:extLst>
              </a:tr>
              <a:tr h="731520">
                <a:tc>
                  <a:txBody>
                    <a:bodyPr/>
                    <a:lstStyle/>
                    <a:p>
                      <a:r>
                        <a:rPr sz="1050" b="1" i="0">
                          <a:solidFill>
                            <a:srgbClr val="1B1F3B"/>
                          </a:solidFill>
                          <a:latin typeface="Calibri"/>
                        </a:rPr>
                        <a:t>Resume Screening Using Ensemble Models (2025)</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4F7FE"/>
                    </a:solidFill>
                  </a:tcPr>
                </a:tc>
                <a:tc>
                  <a:txBody>
                    <a:bodyPr/>
                    <a:lstStyle/>
                    <a:p>
                      <a:r>
                        <a:rPr sz="1050" b="0" i="0">
                          <a:solidFill>
                            <a:srgbClr val="0B1220"/>
                          </a:solidFill>
                          <a:latin typeface="Calibri"/>
                        </a:rPr>
                        <a:t>M. R. Dontha, S. Thaslim, M. Tripura; IEEE</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4F7FE"/>
                    </a:solidFill>
                  </a:tcPr>
                </a:tc>
                <a:tc>
                  <a:txBody>
                    <a:bodyPr/>
                    <a:lstStyle/>
                    <a:p>
                      <a:r>
                        <a:rPr sz="1050" b="0" i="0">
                          <a:solidFill>
                            <a:srgbClr val="0B1220"/>
                          </a:solidFill>
                          <a:latin typeface="Calibri"/>
                        </a:rPr>
                        <a:t>Ensemble machine learning models</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4F7FE"/>
                    </a:solidFill>
                  </a:tcPr>
                </a:tc>
                <a:tc>
                  <a:txBody>
                    <a:bodyPr/>
                    <a:lstStyle/>
                    <a:p>
                      <a:r>
                        <a:rPr sz="1050" b="0" i="0">
                          <a:solidFill>
                            <a:srgbClr val="0B1220"/>
                          </a:solidFill>
                          <a:latin typeface="Calibri"/>
                        </a:rPr>
                        <a:t>Resume classification and candidate ranking</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4F7FE"/>
                    </a:solidFill>
                  </a:tcPr>
                </a:tc>
                <a:tc>
                  <a:txBody>
                    <a:bodyPr/>
                    <a:lstStyle/>
                    <a:p>
                      <a:r>
                        <a:rPr sz="1050" b="0" i="0">
                          <a:solidFill>
                            <a:srgbClr val="0B1220"/>
                          </a:solidFill>
                          <a:latin typeface="Calibri"/>
                        </a:rPr>
                        <a:t>Ranking accuracy</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4F7FE"/>
                    </a:solidFill>
                  </a:tcPr>
                </a:tc>
                <a:tc>
                  <a:txBody>
                    <a:bodyPr/>
                    <a:lstStyle/>
                    <a:p>
                      <a:r>
                        <a:rPr sz="1050" b="0" i="0">
                          <a:solidFill>
                            <a:srgbClr val="0B1220"/>
                          </a:solidFill>
                          <a:latin typeface="Calibri"/>
                        </a:rPr>
                        <a:t>Better ranking and accuracy; needs more computing power and is complex</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4F7FE"/>
                    </a:solidFill>
                  </a:tcPr>
                </a:tc>
                <a:extLst>
                  <a:ext uri="{0D108BD9-81ED-4DB2-BD59-A6C34878D82A}">
                    <a16:rowId xmlns:a16="http://schemas.microsoft.com/office/drawing/2014/main" val="10002"/>
                  </a:ext>
                </a:extLst>
              </a:tr>
              <a:tr h="731520">
                <a:tc>
                  <a:txBody>
                    <a:bodyPr/>
                    <a:lstStyle/>
                    <a:p>
                      <a:r>
                        <a:rPr sz="1050" b="1" i="0">
                          <a:solidFill>
                            <a:srgbClr val="1B1F3B"/>
                          </a:solidFill>
                          <a:latin typeface="Calibri"/>
                        </a:rPr>
                        <a:t>Resume Screening Using Large Language Models (2025)</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FFFFF"/>
                    </a:solidFill>
                  </a:tcPr>
                </a:tc>
                <a:tc>
                  <a:txBody>
                    <a:bodyPr/>
                    <a:lstStyle/>
                    <a:p>
                      <a:r>
                        <a:rPr sz="1050" b="0" i="0">
                          <a:solidFill>
                            <a:srgbClr val="0B1220"/>
                          </a:solidFill>
                          <a:latin typeface="Calibri"/>
                        </a:rPr>
                        <a:t>Authors to be confirmed; IEEE</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FFFFF"/>
                    </a:solidFill>
                  </a:tcPr>
                </a:tc>
                <a:tc>
                  <a:txBody>
                    <a:bodyPr/>
                    <a:lstStyle/>
                    <a:p>
                      <a:r>
                        <a:rPr sz="1050" b="0" i="0">
                          <a:solidFill>
                            <a:srgbClr val="0B1220"/>
                          </a:solidFill>
                          <a:latin typeface="Calibri"/>
                        </a:rPr>
                        <a:t>Large Language Models</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FFFFF"/>
                    </a:solidFill>
                  </a:tcPr>
                </a:tc>
                <a:tc>
                  <a:txBody>
                    <a:bodyPr/>
                    <a:lstStyle/>
                    <a:p>
                      <a:r>
                        <a:rPr sz="1050" b="0" i="0">
                          <a:solidFill>
                            <a:srgbClr val="0B1220"/>
                          </a:solidFill>
                          <a:latin typeface="Calibri"/>
                        </a:rPr>
                        <a:t>LLM-based automated resume screening</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FFFFF"/>
                    </a:solidFill>
                  </a:tcPr>
                </a:tc>
                <a:tc>
                  <a:txBody>
                    <a:bodyPr/>
                    <a:lstStyle/>
                    <a:p>
                      <a:r>
                        <a:rPr sz="1050" b="0" i="0">
                          <a:solidFill>
                            <a:srgbClr val="0B1220"/>
                          </a:solidFill>
                          <a:latin typeface="Calibri"/>
                        </a:rPr>
                        <a:t>Time saved</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FFFFF"/>
                    </a:solidFill>
                  </a:tcPr>
                </a:tc>
                <a:tc>
                  <a:txBody>
                    <a:bodyPr/>
                    <a:lstStyle/>
                    <a:p>
                      <a:r>
                        <a:rPr sz="1050" b="0" i="0">
                          <a:solidFill>
                            <a:srgbClr val="0B1220"/>
                          </a:solidFill>
                          <a:latin typeface="Calibri"/>
                        </a:rPr>
                        <a:t>Automates screening and saves time; relies on paid AI tools and raises privacy concerns</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FFFFF"/>
                    </a:solidFill>
                  </a:tcPr>
                </a:tc>
                <a:extLst>
                  <a:ext uri="{0D108BD9-81ED-4DB2-BD59-A6C34878D82A}">
                    <a16:rowId xmlns:a16="http://schemas.microsoft.com/office/drawing/2014/main" val="10003"/>
                  </a:ext>
                </a:extLst>
              </a:tr>
              <a:tr h="731520">
                <a:tc>
                  <a:txBody>
                    <a:bodyPr/>
                    <a:lstStyle/>
                    <a:p>
                      <a:r>
                        <a:rPr sz="1050" b="1" i="0">
                          <a:solidFill>
                            <a:srgbClr val="1B1F3B"/>
                          </a:solidFill>
                          <a:latin typeface="Calibri"/>
                        </a:rPr>
                        <a:t>Cracking the AI Recruitment Code: Striving for Transparency in Finding the Right Person–Job Fit (2024)</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4F7FE"/>
                    </a:solidFill>
                  </a:tcPr>
                </a:tc>
                <a:tc>
                  <a:txBody>
                    <a:bodyPr/>
                    <a:lstStyle/>
                    <a:p>
                      <a:r>
                        <a:rPr sz="1050" b="0" i="0">
                          <a:solidFill>
                            <a:srgbClr val="0B1220"/>
                          </a:solidFill>
                          <a:latin typeface="Calibri"/>
                        </a:rPr>
                        <a:t>A. Chen, F. Han, X. Zhang, Y. Lu; Elsevier</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4F7FE"/>
                    </a:solidFill>
                  </a:tcPr>
                </a:tc>
                <a:tc>
                  <a:txBody>
                    <a:bodyPr/>
                    <a:lstStyle/>
                    <a:p>
                      <a:r>
                        <a:rPr sz="1050" b="0" i="0">
                          <a:solidFill>
                            <a:srgbClr val="0B1220"/>
                          </a:solidFill>
                          <a:latin typeface="Calibri"/>
                        </a:rPr>
                        <a:t>None (research study)</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4F7FE"/>
                    </a:solidFill>
                  </a:tcPr>
                </a:tc>
                <a:tc>
                  <a:txBody>
                    <a:bodyPr/>
                    <a:lstStyle/>
                    <a:p>
                      <a:r>
                        <a:rPr sz="1050" b="0" i="0">
                          <a:solidFill>
                            <a:srgbClr val="0B1220"/>
                          </a:solidFill>
                          <a:latin typeface="Calibri"/>
                        </a:rPr>
                        <a:t>Examines transparency and fairness in AI-driven recruitment decisions</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4F7FE"/>
                    </a:solidFill>
                  </a:tcPr>
                </a:tc>
                <a:tc>
                  <a:txBody>
                    <a:bodyPr/>
                    <a:lstStyle/>
                    <a:p>
                      <a:r>
                        <a:rPr sz="1050" b="0" i="0">
                          <a:solidFill>
                            <a:srgbClr val="0B1220"/>
                          </a:solidFill>
                          <a:latin typeface="Calibri"/>
                        </a:rPr>
                        <a:t>Transparency; fairness</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4F7FE"/>
                    </a:solidFill>
                  </a:tcPr>
                </a:tc>
                <a:tc>
                  <a:txBody>
                    <a:bodyPr/>
                    <a:lstStyle/>
                    <a:p>
                      <a:r>
                        <a:rPr sz="1050" b="0" i="0">
                          <a:solidFill>
                            <a:srgbClr val="0B1220"/>
                          </a:solidFill>
                          <a:latin typeface="Calibri"/>
                        </a:rPr>
                        <a:t>AI hiring becomes more transparent and fair; a research idea, not a complete system</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4F7FE"/>
                    </a:solidFill>
                  </a:tcPr>
                </a:tc>
                <a:extLst>
                  <a:ext uri="{0D108BD9-81ED-4DB2-BD59-A6C34878D82A}">
                    <a16:rowId xmlns:a16="http://schemas.microsoft.com/office/drawing/2014/main" val="10004"/>
                  </a:ext>
                </a:extLst>
              </a:tr>
              <a:tr h="731520">
                <a:tc>
                  <a:txBody>
                    <a:bodyPr/>
                    <a:lstStyle/>
                    <a:p>
                      <a:r>
                        <a:rPr sz="1050" b="1" i="0">
                          <a:solidFill>
                            <a:srgbClr val="1B1F3B"/>
                          </a:solidFill>
                          <a:latin typeface="Calibri"/>
                        </a:rPr>
                        <a:t>Machine Learning in Recruiting: Predicting Personality from CVs and Short Text Responses (2024)</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FFFFF"/>
                    </a:solidFill>
                  </a:tcPr>
                </a:tc>
                <a:tc>
                  <a:txBody>
                    <a:bodyPr/>
                    <a:lstStyle/>
                    <a:p>
                      <a:r>
                        <a:rPr sz="1050" b="0" i="0">
                          <a:solidFill>
                            <a:srgbClr val="0B1220"/>
                          </a:solidFill>
                          <a:latin typeface="Calibri"/>
                        </a:rPr>
                        <a:t>E. Grunenberg, H. Peters, M. J. Francis, M. D. Back, S. C. Matz; Frontiers</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FFFFF"/>
                    </a:solidFill>
                  </a:tcPr>
                </a:tc>
                <a:tc>
                  <a:txBody>
                    <a:bodyPr/>
                    <a:lstStyle/>
                    <a:p>
                      <a:r>
                        <a:rPr sz="1050" b="0" i="0">
                          <a:solidFill>
                            <a:srgbClr val="0B1220"/>
                          </a:solidFill>
                          <a:latin typeface="Calibri"/>
                        </a:rPr>
                        <a:t>Machine-learning text models</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FFFFF"/>
                    </a:solidFill>
                  </a:tcPr>
                </a:tc>
                <a:tc>
                  <a:txBody>
                    <a:bodyPr/>
                    <a:lstStyle/>
                    <a:p>
                      <a:r>
                        <a:rPr sz="1050" b="0" i="0">
                          <a:solidFill>
                            <a:srgbClr val="0B1220"/>
                          </a:solidFill>
                          <a:latin typeface="Calibri"/>
                        </a:rPr>
                        <a:t>Predicts personality from CV and short text responses</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FFFFF"/>
                    </a:solidFill>
                  </a:tcPr>
                </a:tc>
                <a:tc>
                  <a:txBody>
                    <a:bodyPr/>
                    <a:lstStyle/>
                    <a:p>
                      <a:r>
                        <a:rPr sz="1050" b="0" i="0">
                          <a:solidFill>
                            <a:srgbClr val="0B1220"/>
                          </a:solidFill>
                          <a:latin typeface="Calibri"/>
                        </a:rPr>
                        <a:t>Prediction accuracy</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FFFFF"/>
                    </a:solidFill>
                  </a:tcPr>
                </a:tc>
                <a:tc>
                  <a:txBody>
                    <a:bodyPr/>
                    <a:lstStyle/>
                    <a:p>
                      <a:r>
                        <a:rPr sz="1050" b="0" i="0">
                          <a:solidFill>
                            <a:srgbClr val="0B1220"/>
                          </a:solidFill>
                          <a:latin typeface="Calibri"/>
                        </a:rPr>
                        <a:t>Predicts personality at low cost; predictions are not always accurate</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FFFFF"/>
                    </a:solidFill>
                  </a:tcPr>
                </a:tc>
                <a:extLst>
                  <a:ext uri="{0D108BD9-81ED-4DB2-BD59-A6C34878D82A}">
                    <a16:rowId xmlns:a16="http://schemas.microsoft.com/office/drawing/2014/main" val="10005"/>
                  </a:ext>
                </a:extLst>
              </a:tr>
            </a:tbl>
          </a:graphicData>
        </a:graphic>
      </p:graphicFrame>
      <p:sp>
        <p:nvSpPr>
          <p:cNvPr id="6" name="Rounded Rectangle 5"/>
          <p:cNvSpPr/>
          <p:nvPr/>
        </p:nvSpPr>
        <p:spPr>
          <a:xfrm>
            <a:off x="640080" y="5455922"/>
            <a:ext cx="10908792" cy="566928"/>
          </a:xfrm>
          <a:prstGeom prst="roundRect">
            <a:avLst>
              <a:gd name="adj" fmla="val 16129"/>
            </a:avLst>
          </a:prstGeom>
          <a:gradFill rotWithShape="1">
            <a:gsLst>
              <a:gs pos="0">
                <a:srgbClr val="1E2761"/>
              </a:gs>
              <a:gs pos="100000">
                <a:srgbClr val="2F3A9A"/>
              </a:gs>
            </a:gsLst>
            <a:lin ang="2700000" scaled="0"/>
          </a:gradFill>
          <a:ln>
            <a:noFill/>
          </a:ln>
          <a:effectLst>
            <a:outerShdw blurRad="203200" dist="63500" dir="5400000" algn="t" rotWithShape="0">
              <a:srgbClr val="1E2761">
                <a:alpha val="22000"/>
              </a:srgbClr>
            </a:outerShdw>
          </a:effectLst>
        </p:spPr>
        <p:txBody>
          <a:bodyPr rtlCol="0" anchor="ctr"/>
          <a:lstStyle/>
          <a:p>
            <a:pPr algn="ctr"/>
            <a:endParaRPr/>
          </a:p>
        </p:txBody>
      </p:sp>
      <p:sp>
        <p:nvSpPr>
          <p:cNvPr id="7" name="TextBox 6"/>
          <p:cNvSpPr txBox="1"/>
          <p:nvPr/>
        </p:nvSpPr>
        <p:spPr>
          <a:xfrm>
            <a:off x="868680" y="5455922"/>
            <a:ext cx="10469880" cy="566928"/>
          </a:xfrm>
          <a:prstGeom prst="rect">
            <a:avLst/>
          </a:prstGeom>
          <a:noFill/>
        </p:spPr>
        <p:txBody>
          <a:bodyPr wrap="square" lIns="0" tIns="0" rIns="0" bIns="0" anchor="ctr">
            <a:noAutofit/>
          </a:bodyPr>
          <a:lstStyle/>
          <a:p>
            <a:pPr algn="l"/>
            <a:r>
              <a:rPr sz="1200" b="1" i="0" dirty="0">
                <a:solidFill>
                  <a:srgbClr val="CADCFC"/>
                </a:solidFill>
                <a:latin typeface="Calibri"/>
              </a:rPr>
              <a:t>Research Gap: </a:t>
            </a:r>
            <a:r>
              <a:rPr sz="1200" b="0" i="0" dirty="0">
                <a:solidFill>
                  <a:srgbClr val="FFFFFF"/>
                </a:solidFill>
                <a:latin typeface="Calibri"/>
              </a:rPr>
              <a:t>existing studies address individual recruitment tasks; there is no unified AI-based hiring platform.  </a:t>
            </a:r>
            <a:endParaRPr lang="en-US" sz="1200" b="0" i="0" dirty="0">
              <a:solidFill>
                <a:srgbClr val="FFFFFF"/>
              </a:solidFill>
              <a:latin typeface="Calibri"/>
            </a:endParaRPr>
          </a:p>
          <a:p>
            <a:pPr algn="l"/>
            <a:r>
              <a:rPr sz="1200" b="1" i="0" dirty="0">
                <a:solidFill>
                  <a:srgbClr val="CADCFC"/>
                </a:solidFill>
                <a:latin typeface="Calibri"/>
              </a:rPr>
              <a:t>Proposed Solution: </a:t>
            </a:r>
            <a:r>
              <a:rPr sz="1200" b="0" i="0" dirty="0">
                <a:solidFill>
                  <a:srgbClr val="FFFFFF"/>
                </a:solidFill>
                <a:latin typeface="Calibri"/>
              </a:rPr>
              <a:t>Integrated Intelligent Hiring System.</a:t>
            </a:r>
          </a:p>
        </p:txBody>
      </p:sp>
      <p:sp>
        <p:nvSpPr>
          <p:cNvPr id="8" name="TextBox 7"/>
          <p:cNvSpPr txBox="1"/>
          <p:nvPr/>
        </p:nvSpPr>
        <p:spPr>
          <a:xfrm>
            <a:off x="640080" y="6537960"/>
            <a:ext cx="2926080" cy="201168"/>
          </a:xfrm>
          <a:prstGeom prst="rect">
            <a:avLst/>
          </a:prstGeom>
          <a:noFill/>
        </p:spPr>
        <p:txBody>
          <a:bodyPr wrap="square" lIns="0" tIns="0" rIns="0" bIns="0" anchor="ctr">
            <a:noAutofit/>
          </a:bodyPr>
          <a:lstStyle/>
          <a:p>
            <a:pPr algn="l"/>
            <a:r>
              <a:rPr sz="1000" b="1" i="0">
                <a:solidFill>
                  <a:srgbClr val="002060"/>
                </a:solidFill>
                <a:latin typeface="Calibri"/>
              </a:rPr>
              <a:t>INTELLIGENT HIRING SYSTEM</a:t>
            </a:r>
          </a:p>
        </p:txBody>
      </p:sp>
      <p:sp>
        <p:nvSpPr>
          <p:cNvPr id="9" name="Oval 8"/>
          <p:cNvSpPr/>
          <p:nvPr/>
        </p:nvSpPr>
        <p:spPr>
          <a:xfrm>
            <a:off x="11256264" y="6492240"/>
            <a:ext cx="292608" cy="292608"/>
          </a:xfrm>
          <a:prstGeom prst="ellipse">
            <a:avLst/>
          </a:prstGeom>
          <a:solidFill>
            <a:srgbClr val="F4F7FE"/>
          </a:solidFill>
          <a:ln>
            <a:noFill/>
          </a:ln>
        </p:spPr>
        <p:txBody>
          <a:bodyPr rtlCol="0" anchor="ctr"/>
          <a:lstStyle/>
          <a:p>
            <a:pPr algn="ctr"/>
            <a:endParaRPr/>
          </a:p>
        </p:txBody>
      </p:sp>
      <p:sp>
        <p:nvSpPr>
          <p:cNvPr id="10" name="TextBox 9"/>
          <p:cNvSpPr txBox="1"/>
          <p:nvPr/>
        </p:nvSpPr>
        <p:spPr>
          <a:xfrm>
            <a:off x="11256264" y="6492240"/>
            <a:ext cx="292608" cy="292608"/>
          </a:xfrm>
          <a:prstGeom prst="rect">
            <a:avLst/>
          </a:prstGeom>
          <a:noFill/>
        </p:spPr>
        <p:txBody>
          <a:bodyPr wrap="square" lIns="0" tIns="0" rIns="0" bIns="0" anchor="ctr">
            <a:noAutofit/>
          </a:bodyPr>
          <a:lstStyle/>
          <a:p>
            <a:pPr algn="ctr"/>
            <a:r>
              <a:rPr sz="950" b="1" i="0">
                <a:solidFill>
                  <a:srgbClr val="1E2761"/>
                </a:solidFill>
                <a:latin typeface="Calibri"/>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40080" y="591007"/>
            <a:ext cx="9601200" cy="566928"/>
          </a:xfrm>
          <a:prstGeom prst="rect">
            <a:avLst/>
          </a:prstGeom>
          <a:noFill/>
          <a:ln/>
        </p:spPr>
        <p:txBody>
          <a:bodyPr wrap="square" lIns="0" tIns="0" rIns="0" bIns="0"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Technologies Used</a:t>
            </a:r>
            <a:endParaRPr lang="en-US" sz="3000" dirty="0"/>
          </a:p>
        </p:txBody>
      </p:sp>
      <p:sp>
        <p:nvSpPr>
          <p:cNvPr id="5" name="Text 3"/>
          <p:cNvSpPr/>
          <p:nvPr/>
        </p:nvSpPr>
        <p:spPr>
          <a:xfrm>
            <a:off x="640080" y="1139647"/>
            <a:ext cx="9875520" cy="365760"/>
          </a:xfrm>
          <a:prstGeom prst="rect">
            <a:avLst/>
          </a:prstGeom>
          <a:noFill/>
          <a:ln/>
        </p:spPr>
        <p:txBody>
          <a:bodyPr wrap="square" lIns="0" tIns="0" rIns="0" bIns="0" rtlCol="0" anchor="ctr"/>
          <a:lstStyle/>
          <a:p>
            <a:pPr marL="0" indent="0">
              <a:buNone/>
            </a:pPr>
            <a:r>
              <a:rPr lang="en-US" sz="1250" dirty="0">
                <a:solidFill>
                  <a:srgbClr val="1B1F3B"/>
                </a:solidFill>
                <a:latin typeface="Calibri" pitchFamily="34" charset="0"/>
                <a:ea typeface="Calibri" pitchFamily="34" charset="-122"/>
                <a:cs typeface="Calibri" pitchFamily="34" charset="-120"/>
              </a:rPr>
              <a:t>Technologies used to design, build, and manage the system.</a:t>
            </a:r>
            <a:endParaRPr lang="en-US" sz="1250" dirty="0">
              <a:solidFill>
                <a:srgbClr val="1B1F3B"/>
              </a:solidFill>
            </a:endParaRPr>
          </a:p>
        </p:txBody>
      </p:sp>
      <p:sp>
        <p:nvSpPr>
          <p:cNvPr id="40" name="Card 0"/>
          <p:cNvSpPr/>
          <p:nvPr/>
        </p:nvSpPr>
        <p:spPr>
          <a:xfrm>
            <a:off x="640080" y="1954543"/>
            <a:ext cx="2556000" cy="3886200"/>
          </a:xfrm>
          <a:prstGeom prst="roundRect">
            <a:avLst>
              <a:gd name="adj" fmla="val 3721"/>
            </a:avLst>
          </a:prstGeom>
          <a:solidFill>
            <a:srgbClr val="FFFFFF"/>
          </a:solidFill>
          <a:ln>
            <a:solidFill>
              <a:srgbClr val="002060"/>
            </a:solidFill>
          </a:ln>
          <a:effectLst>
            <a:outerShdw blurRad="203200" dist="63500" dir="5400000" algn="t" rotWithShape="0">
              <a:srgbClr val="1E2761">
                <a:alpha val="16000"/>
              </a:srgbClr>
            </a:outerShdw>
          </a:effectLst>
        </p:spPr>
        <p:txBody>
          <a:bodyPr/>
          <a:lstStyle/>
          <a:p>
            <a:endParaRPr/>
          </a:p>
        </p:txBody>
      </p:sp>
      <p:sp>
        <p:nvSpPr>
          <p:cNvPr id="41" name="IconCircle 0"/>
          <p:cNvSpPr/>
          <p:nvPr/>
        </p:nvSpPr>
        <p:spPr>
          <a:xfrm>
            <a:off x="868680" y="2183143"/>
            <a:ext cx="530352" cy="530352"/>
          </a:xfrm>
          <a:prstGeom prst="ellipse">
            <a:avLst/>
          </a:prstGeom>
          <a:gradFill rotWithShape="1">
            <a:gsLst>
              <a:gs pos="0">
                <a:srgbClr val="1E2761"/>
              </a:gs>
              <a:gs pos="100000">
                <a:srgbClr val="4A5BC4"/>
              </a:gs>
            </a:gsLst>
            <a:lin ang="2700000" scaled="0"/>
          </a:gradFill>
          <a:ln/>
        </p:spPr>
        <p:txBody>
          <a:bodyPr/>
          <a:lstStyle/>
          <a:p>
            <a:endParaRPr/>
          </a:p>
        </p:txBody>
      </p:sp>
      <p:sp>
        <p:nvSpPr>
          <p:cNvPr id="43" name="CatTitle 0"/>
          <p:cNvSpPr/>
          <p:nvPr/>
        </p:nvSpPr>
        <p:spPr>
          <a:xfrm>
            <a:off x="868680" y="2823223"/>
            <a:ext cx="2098800" cy="344424"/>
          </a:xfrm>
          <a:prstGeom prst="rect">
            <a:avLst/>
          </a:prstGeom>
          <a:noFill/>
          <a:ln/>
        </p:spPr>
        <p:txBody>
          <a:bodyPr wrap="square" lIns="0" tIns="0" rIns="0" bIns="0" rtlCol="0" anchor="ctr"/>
          <a:lstStyle/>
          <a:p>
            <a:pPr marL="0" indent="0">
              <a:buNone/>
            </a:pPr>
            <a:r>
              <a:rPr lang="en-US" sz="1500" b="1" dirty="0">
                <a:solidFill>
                  <a:srgbClr val="1B1F3B"/>
                </a:solidFill>
                <a:latin typeface="Calibri" pitchFamily="34" charset="0"/>
                <a:ea typeface="Calibri" pitchFamily="34" charset="-122"/>
                <a:cs typeface="Calibri" pitchFamily="34" charset="-120"/>
              </a:rPr>
              <a:t>Frontend</a:t>
            </a:r>
            <a:endParaRPr lang="en-US" sz="1500" dirty="0"/>
          </a:p>
        </p:txBody>
      </p:sp>
      <p:sp>
        <p:nvSpPr>
          <p:cNvPr id="44" name="CatDesc 0"/>
          <p:cNvSpPr/>
          <p:nvPr/>
        </p:nvSpPr>
        <p:spPr>
          <a:xfrm>
            <a:off x="868680" y="3213367"/>
            <a:ext cx="2098800" cy="450000"/>
          </a:xfrm>
          <a:prstGeom prst="rect">
            <a:avLst/>
          </a:prstGeom>
          <a:noFill/>
          <a:ln/>
        </p:spPr>
        <p:txBody>
          <a:bodyPr wrap="square" lIns="0" tIns="0" rIns="0" bIns="0" rtlCol="0" anchor="ctr"/>
          <a:lstStyle/>
          <a:p>
            <a:pPr marL="0" indent="0">
              <a:buNone/>
            </a:pPr>
            <a:r>
              <a:rPr lang="en-US" sz="1050" b="0" dirty="0">
                <a:solidFill>
                  <a:srgbClr val="1B1F3B"/>
                </a:solidFill>
                <a:latin typeface="Calibri" pitchFamily="34" charset="0"/>
                <a:ea typeface="Calibri" pitchFamily="34" charset="-122"/>
                <a:cs typeface="Calibri" pitchFamily="34" charset="-120"/>
              </a:rPr>
              <a:t>Client-side interface and interactions</a:t>
            </a:r>
            <a:endParaRPr lang="en-US" sz="1050" dirty="0">
              <a:solidFill>
                <a:srgbClr val="1B1F3B"/>
              </a:solidFill>
            </a:endParaRPr>
          </a:p>
        </p:txBody>
      </p:sp>
      <p:sp>
        <p:nvSpPr>
          <p:cNvPr id="45" name="Chip 0_0 bg"/>
          <p:cNvSpPr/>
          <p:nvPr/>
        </p:nvSpPr>
        <p:spPr>
          <a:xfrm>
            <a:off x="868680" y="3941287"/>
            <a:ext cx="2098800" cy="313944"/>
          </a:xfrm>
          <a:prstGeom prst="roundRect">
            <a:avLst>
              <a:gd name="adj" fmla="val 50000"/>
            </a:avLst>
          </a:prstGeom>
          <a:solidFill>
            <a:srgbClr val="FFFFFF"/>
          </a:solidFill>
          <a:ln w="9525">
            <a:solidFill>
              <a:srgbClr val="2DC7FF">
                <a:alpha val="45000"/>
              </a:srgbClr>
            </a:solidFill>
          </a:ln>
        </p:spPr>
        <p:txBody>
          <a:bodyPr/>
          <a:lstStyle/>
          <a:p>
            <a:endParaRPr/>
          </a:p>
        </p:txBody>
      </p:sp>
      <p:sp>
        <p:nvSpPr>
          <p:cNvPr id="46" name="Chip 0_0 txt"/>
          <p:cNvSpPr/>
          <p:nvPr/>
        </p:nvSpPr>
        <p:spPr>
          <a:xfrm>
            <a:off x="868680" y="3941287"/>
            <a:ext cx="2098800" cy="313944"/>
          </a:xfrm>
          <a:prstGeom prst="rect">
            <a:avLst/>
          </a:prstGeom>
          <a:noFill/>
          <a:ln/>
        </p:spPr>
        <p:txBody>
          <a:bodyPr wrap="square" lIns="0" tIns="0" rIns="0" bIns="0" rtlCol="0" anchor="ctr"/>
          <a:lstStyle/>
          <a:p>
            <a:pPr marL="0" indent="0" algn="ctr">
              <a:buNone/>
            </a:pPr>
            <a:r>
              <a:rPr lang="en-US" sz="1200" b="1" dirty="0">
                <a:latin typeface="Calibri" pitchFamily="34" charset="0"/>
                <a:ea typeface="Calibri" pitchFamily="34" charset="-122"/>
                <a:cs typeface="Calibri" pitchFamily="34" charset="-120"/>
              </a:rPr>
              <a:t>HTML</a:t>
            </a:r>
            <a:endParaRPr lang="en-US" sz="1200" dirty="0"/>
          </a:p>
        </p:txBody>
      </p:sp>
      <p:sp>
        <p:nvSpPr>
          <p:cNvPr id="47" name="Chip 0_1 bg"/>
          <p:cNvSpPr/>
          <p:nvPr/>
        </p:nvSpPr>
        <p:spPr>
          <a:xfrm>
            <a:off x="868680" y="4346671"/>
            <a:ext cx="2098800" cy="313944"/>
          </a:xfrm>
          <a:prstGeom prst="roundRect">
            <a:avLst>
              <a:gd name="adj" fmla="val 50000"/>
            </a:avLst>
          </a:prstGeom>
          <a:solidFill>
            <a:srgbClr val="FFFFFF"/>
          </a:solidFill>
          <a:ln w="9525">
            <a:solidFill>
              <a:srgbClr val="2DC7FF">
                <a:alpha val="45000"/>
              </a:srgbClr>
            </a:solidFill>
          </a:ln>
        </p:spPr>
        <p:txBody>
          <a:bodyPr/>
          <a:lstStyle/>
          <a:p>
            <a:endParaRPr/>
          </a:p>
        </p:txBody>
      </p:sp>
      <p:sp>
        <p:nvSpPr>
          <p:cNvPr id="48" name="Chip 0_1 txt"/>
          <p:cNvSpPr/>
          <p:nvPr/>
        </p:nvSpPr>
        <p:spPr>
          <a:xfrm>
            <a:off x="868680" y="4346671"/>
            <a:ext cx="2098800" cy="313944"/>
          </a:xfrm>
          <a:prstGeom prst="rect">
            <a:avLst/>
          </a:prstGeom>
          <a:noFill/>
          <a:ln/>
        </p:spPr>
        <p:txBody>
          <a:bodyPr wrap="square" lIns="0" tIns="0" rIns="0" bIns="0" rtlCol="0" anchor="ctr"/>
          <a:lstStyle/>
          <a:p>
            <a:pPr marL="0" indent="0" algn="ctr">
              <a:buNone/>
            </a:pPr>
            <a:r>
              <a:rPr lang="en-US" sz="1200" b="1" dirty="0">
                <a:latin typeface="Calibri" pitchFamily="34" charset="0"/>
                <a:ea typeface="Calibri" pitchFamily="34" charset="-122"/>
                <a:cs typeface="Calibri" pitchFamily="34" charset="-120"/>
              </a:rPr>
              <a:t>CSS</a:t>
            </a:r>
            <a:endParaRPr lang="en-US" sz="1200" dirty="0"/>
          </a:p>
        </p:txBody>
      </p:sp>
      <p:sp>
        <p:nvSpPr>
          <p:cNvPr id="49" name="Chip 0_2 bg"/>
          <p:cNvSpPr/>
          <p:nvPr/>
        </p:nvSpPr>
        <p:spPr>
          <a:xfrm>
            <a:off x="868680" y="4752055"/>
            <a:ext cx="2098800" cy="313944"/>
          </a:xfrm>
          <a:prstGeom prst="roundRect">
            <a:avLst>
              <a:gd name="adj" fmla="val 50000"/>
            </a:avLst>
          </a:prstGeom>
          <a:solidFill>
            <a:srgbClr val="FFFFFF"/>
          </a:solidFill>
          <a:ln w="9525">
            <a:solidFill>
              <a:srgbClr val="2DC7FF">
                <a:alpha val="45000"/>
              </a:srgbClr>
            </a:solidFill>
          </a:ln>
        </p:spPr>
        <p:txBody>
          <a:bodyPr/>
          <a:lstStyle/>
          <a:p>
            <a:endParaRPr/>
          </a:p>
        </p:txBody>
      </p:sp>
      <p:sp>
        <p:nvSpPr>
          <p:cNvPr id="50" name="Chip 0_2 txt"/>
          <p:cNvSpPr/>
          <p:nvPr/>
        </p:nvSpPr>
        <p:spPr>
          <a:xfrm>
            <a:off x="868680" y="4752055"/>
            <a:ext cx="2098800" cy="313944"/>
          </a:xfrm>
          <a:prstGeom prst="rect">
            <a:avLst/>
          </a:prstGeom>
          <a:noFill/>
          <a:ln/>
        </p:spPr>
        <p:txBody>
          <a:bodyPr wrap="square" lIns="0" tIns="0" rIns="0" bIns="0" rtlCol="0" anchor="ctr"/>
          <a:lstStyle/>
          <a:p>
            <a:pPr marL="0" indent="0" algn="ctr">
              <a:buNone/>
            </a:pPr>
            <a:r>
              <a:rPr lang="en-US" sz="1200" b="1" dirty="0">
                <a:latin typeface="Calibri" pitchFamily="34" charset="0"/>
                <a:ea typeface="Calibri" pitchFamily="34" charset="-122"/>
                <a:cs typeface="Calibri" pitchFamily="34" charset="-120"/>
              </a:rPr>
              <a:t>Bootstrap</a:t>
            </a:r>
            <a:endParaRPr lang="en-US" sz="1200" dirty="0"/>
          </a:p>
        </p:txBody>
      </p:sp>
      <p:sp>
        <p:nvSpPr>
          <p:cNvPr id="51" name="Chip 0_3 bg"/>
          <p:cNvSpPr/>
          <p:nvPr/>
        </p:nvSpPr>
        <p:spPr>
          <a:xfrm>
            <a:off x="868680" y="5157439"/>
            <a:ext cx="2098800" cy="313944"/>
          </a:xfrm>
          <a:prstGeom prst="roundRect">
            <a:avLst>
              <a:gd name="adj" fmla="val 50000"/>
            </a:avLst>
          </a:prstGeom>
          <a:solidFill>
            <a:srgbClr val="FFFFFF"/>
          </a:solidFill>
          <a:ln w="9525">
            <a:solidFill>
              <a:srgbClr val="2DC7FF">
                <a:alpha val="45000"/>
              </a:srgbClr>
            </a:solidFill>
          </a:ln>
        </p:spPr>
        <p:txBody>
          <a:bodyPr/>
          <a:lstStyle/>
          <a:p>
            <a:endParaRPr/>
          </a:p>
        </p:txBody>
      </p:sp>
      <p:sp>
        <p:nvSpPr>
          <p:cNvPr id="52" name="Chip 0_3 txt"/>
          <p:cNvSpPr/>
          <p:nvPr/>
        </p:nvSpPr>
        <p:spPr>
          <a:xfrm>
            <a:off x="868680" y="5157439"/>
            <a:ext cx="2098800" cy="313944"/>
          </a:xfrm>
          <a:prstGeom prst="rect">
            <a:avLst/>
          </a:prstGeom>
          <a:noFill/>
          <a:ln/>
        </p:spPr>
        <p:txBody>
          <a:bodyPr wrap="square" lIns="0" tIns="0" rIns="0" bIns="0" rtlCol="0" anchor="ctr"/>
          <a:lstStyle/>
          <a:p>
            <a:pPr marL="0" indent="0" algn="ctr">
              <a:buNone/>
            </a:pPr>
            <a:r>
              <a:rPr lang="en-US" sz="1200" b="1" dirty="0">
                <a:latin typeface="Calibri" pitchFamily="34" charset="0"/>
                <a:ea typeface="Calibri" pitchFamily="34" charset="-122"/>
                <a:cs typeface="Calibri" pitchFamily="34" charset="-120"/>
              </a:rPr>
              <a:t>JavaScript</a:t>
            </a:r>
            <a:endParaRPr lang="en-US" sz="1200" dirty="0"/>
          </a:p>
        </p:txBody>
      </p:sp>
      <p:sp>
        <p:nvSpPr>
          <p:cNvPr id="53" name="Card 1"/>
          <p:cNvSpPr/>
          <p:nvPr/>
        </p:nvSpPr>
        <p:spPr>
          <a:xfrm>
            <a:off x="3424680" y="1954543"/>
            <a:ext cx="2556000" cy="3886200"/>
          </a:xfrm>
          <a:prstGeom prst="roundRect">
            <a:avLst>
              <a:gd name="adj" fmla="val 3721"/>
            </a:avLst>
          </a:prstGeom>
          <a:solidFill>
            <a:srgbClr val="FFFFFF"/>
          </a:solidFill>
          <a:ln>
            <a:solidFill>
              <a:srgbClr val="002060"/>
            </a:solidFill>
          </a:ln>
          <a:effectLst>
            <a:outerShdw blurRad="203200" dist="63500" dir="5400000" algn="t" rotWithShape="0">
              <a:srgbClr val="1E2761">
                <a:alpha val="16000"/>
              </a:srgbClr>
            </a:outerShdw>
          </a:effectLst>
        </p:spPr>
        <p:txBody>
          <a:bodyPr/>
          <a:lstStyle/>
          <a:p>
            <a:endParaRPr/>
          </a:p>
        </p:txBody>
      </p:sp>
      <p:sp>
        <p:nvSpPr>
          <p:cNvPr id="54" name="IconCircle 1"/>
          <p:cNvSpPr/>
          <p:nvPr/>
        </p:nvSpPr>
        <p:spPr>
          <a:xfrm>
            <a:off x="3653280" y="2183143"/>
            <a:ext cx="530352" cy="530352"/>
          </a:xfrm>
          <a:prstGeom prst="ellipse">
            <a:avLst/>
          </a:prstGeom>
          <a:gradFill rotWithShape="1">
            <a:gsLst>
              <a:gs pos="0">
                <a:srgbClr val="1E2761"/>
              </a:gs>
              <a:gs pos="100000">
                <a:srgbClr val="4A5BC4"/>
              </a:gs>
            </a:gsLst>
            <a:lin ang="2700000" scaled="0"/>
          </a:gradFill>
          <a:ln/>
        </p:spPr>
        <p:txBody>
          <a:bodyPr/>
          <a:lstStyle/>
          <a:p>
            <a:endParaRPr/>
          </a:p>
        </p:txBody>
      </p:sp>
      <p:sp>
        <p:nvSpPr>
          <p:cNvPr id="56" name="CatTitle 1"/>
          <p:cNvSpPr/>
          <p:nvPr/>
        </p:nvSpPr>
        <p:spPr>
          <a:xfrm>
            <a:off x="3653280" y="2823223"/>
            <a:ext cx="2098800" cy="344424"/>
          </a:xfrm>
          <a:prstGeom prst="rect">
            <a:avLst/>
          </a:prstGeom>
          <a:noFill/>
          <a:ln/>
        </p:spPr>
        <p:txBody>
          <a:bodyPr wrap="square" lIns="0" tIns="0" rIns="0" bIns="0" rtlCol="0" anchor="ctr"/>
          <a:lstStyle/>
          <a:p>
            <a:pPr marL="0" indent="0">
              <a:buNone/>
            </a:pPr>
            <a:r>
              <a:rPr lang="en-US" sz="1500" b="1" dirty="0">
                <a:solidFill>
                  <a:srgbClr val="1B1F3B"/>
                </a:solidFill>
                <a:latin typeface="Calibri" pitchFamily="34" charset="0"/>
                <a:ea typeface="Calibri" pitchFamily="34" charset="-122"/>
                <a:cs typeface="Calibri" pitchFamily="34" charset="-120"/>
              </a:rPr>
              <a:t>Backend</a:t>
            </a:r>
            <a:endParaRPr lang="en-US" sz="1500" dirty="0"/>
          </a:p>
        </p:txBody>
      </p:sp>
      <p:sp>
        <p:nvSpPr>
          <p:cNvPr id="57" name="CatDesc 1"/>
          <p:cNvSpPr/>
          <p:nvPr/>
        </p:nvSpPr>
        <p:spPr>
          <a:xfrm>
            <a:off x="3653280" y="3213367"/>
            <a:ext cx="2098800" cy="450000"/>
          </a:xfrm>
          <a:prstGeom prst="rect">
            <a:avLst/>
          </a:prstGeom>
          <a:noFill/>
          <a:ln/>
        </p:spPr>
        <p:txBody>
          <a:bodyPr wrap="square" lIns="0" tIns="0" rIns="0" bIns="0" rtlCol="0" anchor="ctr"/>
          <a:lstStyle/>
          <a:p>
            <a:pPr marL="0" indent="0">
              <a:buNone/>
            </a:pPr>
            <a:r>
              <a:rPr lang="en-US" sz="1050" b="0" dirty="0">
                <a:solidFill>
                  <a:srgbClr val="0B1220"/>
                </a:solidFill>
                <a:latin typeface="Calibri" pitchFamily="34" charset="0"/>
                <a:ea typeface="Calibri" pitchFamily="34" charset="-122"/>
                <a:cs typeface="Calibri" pitchFamily="34" charset="-120"/>
              </a:rPr>
              <a:t>Server-side logic and processing</a:t>
            </a:r>
            <a:endParaRPr lang="en-US" sz="1050" dirty="0">
              <a:solidFill>
                <a:srgbClr val="0B1220"/>
              </a:solidFill>
            </a:endParaRPr>
          </a:p>
        </p:txBody>
      </p:sp>
      <p:sp>
        <p:nvSpPr>
          <p:cNvPr id="58" name="Chip 1_0 bg"/>
          <p:cNvSpPr/>
          <p:nvPr/>
        </p:nvSpPr>
        <p:spPr>
          <a:xfrm>
            <a:off x="3653280" y="3941287"/>
            <a:ext cx="2098800" cy="313944"/>
          </a:xfrm>
          <a:prstGeom prst="roundRect">
            <a:avLst>
              <a:gd name="adj" fmla="val 50000"/>
            </a:avLst>
          </a:prstGeom>
          <a:solidFill>
            <a:srgbClr val="FFFFFF"/>
          </a:solidFill>
          <a:ln w="9525">
            <a:solidFill>
              <a:srgbClr val="7C5CFC">
                <a:alpha val="45000"/>
              </a:srgbClr>
            </a:solidFill>
          </a:ln>
        </p:spPr>
        <p:txBody>
          <a:bodyPr/>
          <a:lstStyle/>
          <a:p>
            <a:endParaRPr/>
          </a:p>
        </p:txBody>
      </p:sp>
      <p:sp>
        <p:nvSpPr>
          <p:cNvPr id="59" name="Chip 1_0 txt"/>
          <p:cNvSpPr/>
          <p:nvPr/>
        </p:nvSpPr>
        <p:spPr>
          <a:xfrm>
            <a:off x="3653280" y="3941287"/>
            <a:ext cx="2098800" cy="313944"/>
          </a:xfrm>
          <a:prstGeom prst="rect">
            <a:avLst/>
          </a:prstGeom>
          <a:noFill/>
          <a:ln/>
        </p:spPr>
        <p:txBody>
          <a:bodyPr wrap="square" lIns="0" tIns="0" rIns="0" bIns="0" rtlCol="0" anchor="ctr"/>
          <a:lstStyle/>
          <a:p>
            <a:pPr marL="0" indent="0" algn="ctr">
              <a:buNone/>
            </a:pPr>
            <a:r>
              <a:rPr lang="en-US" sz="1200" b="1" dirty="0">
                <a:latin typeface="Calibri" pitchFamily="34" charset="0"/>
                <a:ea typeface="Calibri" pitchFamily="34" charset="-122"/>
                <a:cs typeface="Calibri" pitchFamily="34" charset="-120"/>
              </a:rPr>
              <a:t>Python</a:t>
            </a:r>
            <a:endParaRPr lang="en-US" sz="1200" dirty="0"/>
          </a:p>
        </p:txBody>
      </p:sp>
      <p:sp>
        <p:nvSpPr>
          <p:cNvPr id="60" name="Chip 1_1 bg"/>
          <p:cNvSpPr/>
          <p:nvPr/>
        </p:nvSpPr>
        <p:spPr>
          <a:xfrm>
            <a:off x="3653280" y="4346671"/>
            <a:ext cx="2098800" cy="313944"/>
          </a:xfrm>
          <a:prstGeom prst="roundRect">
            <a:avLst>
              <a:gd name="adj" fmla="val 50000"/>
            </a:avLst>
          </a:prstGeom>
          <a:solidFill>
            <a:srgbClr val="FFFFFF"/>
          </a:solidFill>
          <a:ln w="9525">
            <a:solidFill>
              <a:srgbClr val="7C5CFC">
                <a:alpha val="45000"/>
              </a:srgbClr>
            </a:solidFill>
          </a:ln>
        </p:spPr>
        <p:txBody>
          <a:bodyPr/>
          <a:lstStyle/>
          <a:p>
            <a:endParaRPr/>
          </a:p>
        </p:txBody>
      </p:sp>
      <p:sp>
        <p:nvSpPr>
          <p:cNvPr id="61" name="Chip 1_1 txt"/>
          <p:cNvSpPr/>
          <p:nvPr/>
        </p:nvSpPr>
        <p:spPr>
          <a:xfrm>
            <a:off x="3653280" y="4346671"/>
            <a:ext cx="2098800" cy="313944"/>
          </a:xfrm>
          <a:prstGeom prst="rect">
            <a:avLst/>
          </a:prstGeom>
          <a:noFill/>
          <a:ln/>
        </p:spPr>
        <p:txBody>
          <a:bodyPr wrap="square" lIns="0" tIns="0" rIns="0" bIns="0" rtlCol="0" anchor="ctr"/>
          <a:lstStyle/>
          <a:p>
            <a:pPr marL="0" indent="0" algn="ctr">
              <a:buNone/>
            </a:pPr>
            <a:r>
              <a:rPr lang="en-US" sz="1200" b="1" dirty="0">
                <a:latin typeface="Calibri" pitchFamily="34" charset="0"/>
                <a:ea typeface="Calibri" pitchFamily="34" charset="-122"/>
                <a:cs typeface="Calibri" pitchFamily="34" charset="-120"/>
              </a:rPr>
              <a:t>Django</a:t>
            </a:r>
            <a:endParaRPr lang="en-US" sz="1200" dirty="0"/>
          </a:p>
        </p:txBody>
      </p:sp>
      <p:sp>
        <p:nvSpPr>
          <p:cNvPr id="62" name="Card 2"/>
          <p:cNvSpPr/>
          <p:nvPr/>
        </p:nvSpPr>
        <p:spPr>
          <a:xfrm>
            <a:off x="6209280" y="1954543"/>
            <a:ext cx="2556000" cy="3886200"/>
          </a:xfrm>
          <a:prstGeom prst="roundRect">
            <a:avLst>
              <a:gd name="adj" fmla="val 3721"/>
            </a:avLst>
          </a:prstGeom>
          <a:solidFill>
            <a:srgbClr val="FFFFFF"/>
          </a:solidFill>
          <a:ln>
            <a:solidFill>
              <a:srgbClr val="002060"/>
            </a:solidFill>
          </a:ln>
          <a:effectLst>
            <a:outerShdw blurRad="203200" dist="63500" dir="5400000" algn="t" rotWithShape="0">
              <a:srgbClr val="1E2761">
                <a:alpha val="16000"/>
              </a:srgbClr>
            </a:outerShdw>
          </a:effectLst>
        </p:spPr>
        <p:txBody>
          <a:bodyPr/>
          <a:lstStyle/>
          <a:p>
            <a:endParaRPr/>
          </a:p>
        </p:txBody>
      </p:sp>
      <p:sp>
        <p:nvSpPr>
          <p:cNvPr id="63" name="IconCircle 2"/>
          <p:cNvSpPr/>
          <p:nvPr/>
        </p:nvSpPr>
        <p:spPr>
          <a:xfrm>
            <a:off x="6437880" y="2183143"/>
            <a:ext cx="530352" cy="530352"/>
          </a:xfrm>
          <a:prstGeom prst="ellipse">
            <a:avLst/>
          </a:prstGeom>
          <a:gradFill rotWithShape="1">
            <a:gsLst>
              <a:gs pos="0">
                <a:srgbClr val="1E2761"/>
              </a:gs>
              <a:gs pos="100000">
                <a:srgbClr val="4A5BC4"/>
              </a:gs>
            </a:gsLst>
            <a:lin ang="2700000" scaled="0"/>
          </a:gradFill>
          <a:ln/>
        </p:spPr>
        <p:txBody>
          <a:bodyPr/>
          <a:lstStyle/>
          <a:p>
            <a:endParaRPr/>
          </a:p>
        </p:txBody>
      </p:sp>
      <p:sp>
        <p:nvSpPr>
          <p:cNvPr id="65" name="CatTitle 2"/>
          <p:cNvSpPr/>
          <p:nvPr/>
        </p:nvSpPr>
        <p:spPr>
          <a:xfrm>
            <a:off x="6437880" y="2823223"/>
            <a:ext cx="2098800" cy="344424"/>
          </a:xfrm>
          <a:prstGeom prst="rect">
            <a:avLst/>
          </a:prstGeom>
          <a:noFill/>
          <a:ln/>
        </p:spPr>
        <p:txBody>
          <a:bodyPr wrap="square" lIns="0" tIns="0" rIns="0" bIns="0" rtlCol="0" anchor="ctr"/>
          <a:lstStyle/>
          <a:p>
            <a:pPr marL="0" indent="0">
              <a:buNone/>
            </a:pPr>
            <a:r>
              <a:rPr lang="en-US" sz="1500" b="1" dirty="0">
                <a:solidFill>
                  <a:srgbClr val="1B1F3B"/>
                </a:solidFill>
                <a:latin typeface="Calibri" pitchFamily="34" charset="0"/>
                <a:ea typeface="Calibri" pitchFamily="34" charset="-122"/>
                <a:cs typeface="Calibri" pitchFamily="34" charset="-120"/>
              </a:rPr>
              <a:t>Database</a:t>
            </a:r>
            <a:endParaRPr lang="en-US" sz="1500" dirty="0"/>
          </a:p>
        </p:txBody>
      </p:sp>
      <p:sp>
        <p:nvSpPr>
          <p:cNvPr id="66" name="CatDesc 2"/>
          <p:cNvSpPr/>
          <p:nvPr/>
        </p:nvSpPr>
        <p:spPr>
          <a:xfrm>
            <a:off x="6437880" y="3213367"/>
            <a:ext cx="2098800" cy="450000"/>
          </a:xfrm>
          <a:prstGeom prst="rect">
            <a:avLst/>
          </a:prstGeom>
          <a:noFill/>
          <a:ln/>
        </p:spPr>
        <p:txBody>
          <a:bodyPr wrap="square" lIns="0" tIns="0" rIns="0" bIns="0" rtlCol="0" anchor="ctr"/>
          <a:lstStyle/>
          <a:p>
            <a:pPr marL="0" indent="0">
              <a:buNone/>
            </a:pPr>
            <a:r>
              <a:rPr lang="en-US" sz="1050" b="0" dirty="0">
                <a:solidFill>
                  <a:srgbClr val="1B1F3B"/>
                </a:solidFill>
                <a:latin typeface="Calibri" pitchFamily="34" charset="0"/>
                <a:ea typeface="Calibri" pitchFamily="34" charset="-122"/>
                <a:cs typeface="Calibri" pitchFamily="34" charset="-120"/>
              </a:rPr>
              <a:t>Data storage and management</a:t>
            </a:r>
            <a:endParaRPr lang="en-US" sz="1050" dirty="0">
              <a:solidFill>
                <a:srgbClr val="1B1F3B"/>
              </a:solidFill>
            </a:endParaRPr>
          </a:p>
        </p:txBody>
      </p:sp>
      <p:sp>
        <p:nvSpPr>
          <p:cNvPr id="67" name="Chip 2_0 bg"/>
          <p:cNvSpPr/>
          <p:nvPr/>
        </p:nvSpPr>
        <p:spPr>
          <a:xfrm>
            <a:off x="6437880" y="3942391"/>
            <a:ext cx="2098800" cy="313944"/>
          </a:xfrm>
          <a:prstGeom prst="roundRect">
            <a:avLst>
              <a:gd name="adj" fmla="val 50000"/>
            </a:avLst>
          </a:prstGeom>
          <a:solidFill>
            <a:srgbClr val="FFFFFF"/>
          </a:solidFill>
          <a:ln w="9525">
            <a:solidFill>
              <a:srgbClr val="22D3A6">
                <a:alpha val="45000"/>
              </a:srgbClr>
            </a:solidFill>
          </a:ln>
        </p:spPr>
        <p:txBody>
          <a:bodyPr/>
          <a:lstStyle/>
          <a:p>
            <a:endParaRPr/>
          </a:p>
        </p:txBody>
      </p:sp>
      <p:sp>
        <p:nvSpPr>
          <p:cNvPr id="68" name="Chip 2_0 txt"/>
          <p:cNvSpPr/>
          <p:nvPr/>
        </p:nvSpPr>
        <p:spPr>
          <a:xfrm>
            <a:off x="6437880" y="3942391"/>
            <a:ext cx="2098800" cy="313944"/>
          </a:xfrm>
          <a:prstGeom prst="rect">
            <a:avLst/>
          </a:prstGeom>
          <a:noFill/>
          <a:ln/>
        </p:spPr>
        <p:txBody>
          <a:bodyPr wrap="square" lIns="0" tIns="0" rIns="0" bIns="0" rtlCol="0" anchor="ctr"/>
          <a:lstStyle/>
          <a:p>
            <a:pPr marL="0" indent="0" algn="ctr">
              <a:buNone/>
            </a:pPr>
            <a:r>
              <a:rPr lang="en-US" sz="1200" b="1" dirty="0">
                <a:latin typeface="Calibri" pitchFamily="34" charset="0"/>
                <a:ea typeface="Calibri" pitchFamily="34" charset="-122"/>
                <a:cs typeface="Calibri" pitchFamily="34" charset="-120"/>
              </a:rPr>
              <a:t>SQLite</a:t>
            </a:r>
            <a:endParaRPr lang="en-US" sz="1200" dirty="0"/>
          </a:p>
        </p:txBody>
      </p:sp>
      <p:sp>
        <p:nvSpPr>
          <p:cNvPr id="69" name="Card 3"/>
          <p:cNvSpPr/>
          <p:nvPr/>
        </p:nvSpPr>
        <p:spPr>
          <a:xfrm>
            <a:off x="8993880" y="1954543"/>
            <a:ext cx="2556000" cy="3886200"/>
          </a:xfrm>
          <a:prstGeom prst="roundRect">
            <a:avLst>
              <a:gd name="adj" fmla="val 3721"/>
            </a:avLst>
          </a:prstGeom>
          <a:solidFill>
            <a:srgbClr val="FFFFFF"/>
          </a:solidFill>
          <a:ln>
            <a:solidFill>
              <a:srgbClr val="002060"/>
            </a:solidFill>
          </a:ln>
          <a:effectLst>
            <a:outerShdw blurRad="203200" dist="63500" dir="5400000" algn="t" rotWithShape="0">
              <a:srgbClr val="1E2761">
                <a:alpha val="16000"/>
              </a:srgbClr>
            </a:outerShdw>
          </a:effectLst>
        </p:spPr>
        <p:txBody>
          <a:bodyPr/>
          <a:lstStyle/>
          <a:p>
            <a:endParaRPr/>
          </a:p>
        </p:txBody>
      </p:sp>
      <p:sp>
        <p:nvSpPr>
          <p:cNvPr id="70" name="IconCircle 3"/>
          <p:cNvSpPr/>
          <p:nvPr/>
        </p:nvSpPr>
        <p:spPr>
          <a:xfrm>
            <a:off x="9222480" y="2183143"/>
            <a:ext cx="530352" cy="530352"/>
          </a:xfrm>
          <a:prstGeom prst="ellipse">
            <a:avLst/>
          </a:prstGeom>
          <a:gradFill rotWithShape="1">
            <a:gsLst>
              <a:gs pos="0">
                <a:srgbClr val="1E2761"/>
              </a:gs>
              <a:gs pos="100000">
                <a:srgbClr val="4A5BC4"/>
              </a:gs>
            </a:gsLst>
            <a:lin ang="2700000" scaled="0"/>
          </a:gradFill>
          <a:ln/>
        </p:spPr>
        <p:txBody>
          <a:bodyPr/>
          <a:lstStyle/>
          <a:p>
            <a:endParaRPr/>
          </a:p>
        </p:txBody>
      </p:sp>
      <p:sp>
        <p:nvSpPr>
          <p:cNvPr id="72" name="CatTitle 3"/>
          <p:cNvSpPr/>
          <p:nvPr/>
        </p:nvSpPr>
        <p:spPr>
          <a:xfrm>
            <a:off x="9222480" y="2823223"/>
            <a:ext cx="2098800" cy="344424"/>
          </a:xfrm>
          <a:prstGeom prst="rect">
            <a:avLst/>
          </a:prstGeom>
          <a:noFill/>
          <a:ln/>
        </p:spPr>
        <p:txBody>
          <a:bodyPr wrap="square" lIns="0" tIns="0" rIns="0" bIns="0" rtlCol="0" anchor="ctr"/>
          <a:lstStyle/>
          <a:p>
            <a:pPr marL="0" indent="0">
              <a:buNone/>
            </a:pPr>
            <a:r>
              <a:rPr lang="en-US" sz="1500" b="1" dirty="0">
                <a:solidFill>
                  <a:srgbClr val="1B1F3B"/>
                </a:solidFill>
                <a:latin typeface="Calibri" pitchFamily="34" charset="0"/>
                <a:ea typeface="Calibri" pitchFamily="34" charset="-122"/>
                <a:cs typeface="Calibri" pitchFamily="34" charset="-120"/>
              </a:rPr>
              <a:t>Tools</a:t>
            </a:r>
            <a:endParaRPr lang="en-US" sz="1500" dirty="0"/>
          </a:p>
        </p:txBody>
      </p:sp>
      <p:sp>
        <p:nvSpPr>
          <p:cNvPr id="73" name="CatDesc 3"/>
          <p:cNvSpPr/>
          <p:nvPr/>
        </p:nvSpPr>
        <p:spPr>
          <a:xfrm>
            <a:off x="9222480" y="3213367"/>
            <a:ext cx="2098800" cy="450000"/>
          </a:xfrm>
          <a:prstGeom prst="rect">
            <a:avLst/>
          </a:prstGeom>
          <a:noFill/>
          <a:ln/>
        </p:spPr>
        <p:txBody>
          <a:bodyPr wrap="square" lIns="0" tIns="0" rIns="0" bIns="0" rtlCol="0" anchor="ctr"/>
          <a:lstStyle/>
          <a:p>
            <a:pPr marL="0" indent="0">
              <a:buNone/>
            </a:pPr>
            <a:r>
              <a:rPr lang="en-US" sz="1050" b="0" dirty="0">
                <a:solidFill>
                  <a:srgbClr val="1B1F3B"/>
                </a:solidFill>
                <a:latin typeface="Calibri" pitchFamily="34" charset="0"/>
                <a:ea typeface="Calibri" pitchFamily="34" charset="-122"/>
                <a:cs typeface="Calibri" pitchFamily="34" charset="-120"/>
              </a:rPr>
              <a:t>Development and design utilities</a:t>
            </a:r>
            <a:endParaRPr lang="en-US" sz="1050" dirty="0">
              <a:solidFill>
                <a:srgbClr val="1B1F3B"/>
              </a:solidFill>
            </a:endParaRPr>
          </a:p>
        </p:txBody>
      </p:sp>
      <p:sp>
        <p:nvSpPr>
          <p:cNvPr id="74" name="Chip 3_0 bg"/>
          <p:cNvSpPr/>
          <p:nvPr/>
        </p:nvSpPr>
        <p:spPr>
          <a:xfrm>
            <a:off x="9222480" y="3941287"/>
            <a:ext cx="2098800" cy="313944"/>
          </a:xfrm>
          <a:prstGeom prst="roundRect">
            <a:avLst>
              <a:gd name="adj" fmla="val 50000"/>
            </a:avLst>
          </a:prstGeom>
          <a:solidFill>
            <a:srgbClr val="FFFFFF"/>
          </a:solidFill>
          <a:ln w="9525">
            <a:solidFill>
              <a:srgbClr val="F2B84B">
                <a:alpha val="45000"/>
              </a:srgbClr>
            </a:solidFill>
          </a:ln>
        </p:spPr>
        <p:txBody>
          <a:bodyPr/>
          <a:lstStyle/>
          <a:p>
            <a:endParaRPr/>
          </a:p>
        </p:txBody>
      </p:sp>
      <p:sp>
        <p:nvSpPr>
          <p:cNvPr id="75" name="Chip 3_0 txt"/>
          <p:cNvSpPr/>
          <p:nvPr/>
        </p:nvSpPr>
        <p:spPr>
          <a:xfrm>
            <a:off x="9222480" y="3941287"/>
            <a:ext cx="2098800" cy="313944"/>
          </a:xfrm>
          <a:prstGeom prst="rect">
            <a:avLst/>
          </a:prstGeom>
          <a:noFill/>
          <a:ln/>
        </p:spPr>
        <p:txBody>
          <a:bodyPr wrap="square" lIns="0" tIns="0" rIns="0" bIns="0" rtlCol="0" anchor="ctr"/>
          <a:lstStyle/>
          <a:p>
            <a:pPr marL="0" indent="0" algn="ctr">
              <a:buNone/>
            </a:pPr>
            <a:r>
              <a:rPr lang="en-US" sz="1200" b="1" dirty="0">
                <a:latin typeface="Calibri" pitchFamily="34" charset="0"/>
                <a:ea typeface="Calibri" pitchFamily="34" charset="-122"/>
                <a:cs typeface="Calibri" pitchFamily="34" charset="-120"/>
              </a:rPr>
              <a:t>VS Code</a:t>
            </a:r>
            <a:endParaRPr lang="en-US" sz="1200" dirty="0"/>
          </a:p>
        </p:txBody>
      </p:sp>
      <p:sp>
        <p:nvSpPr>
          <p:cNvPr id="76" name="Chip 3_1 bg"/>
          <p:cNvSpPr/>
          <p:nvPr/>
        </p:nvSpPr>
        <p:spPr>
          <a:xfrm>
            <a:off x="9222480" y="4346671"/>
            <a:ext cx="2098800" cy="313944"/>
          </a:xfrm>
          <a:prstGeom prst="roundRect">
            <a:avLst>
              <a:gd name="adj" fmla="val 50000"/>
            </a:avLst>
          </a:prstGeom>
          <a:solidFill>
            <a:srgbClr val="FFFFFF"/>
          </a:solidFill>
          <a:ln w="9525">
            <a:solidFill>
              <a:srgbClr val="F2B84B">
                <a:alpha val="45000"/>
              </a:srgbClr>
            </a:solidFill>
          </a:ln>
        </p:spPr>
        <p:txBody>
          <a:bodyPr/>
          <a:lstStyle/>
          <a:p>
            <a:endParaRPr/>
          </a:p>
        </p:txBody>
      </p:sp>
      <p:sp>
        <p:nvSpPr>
          <p:cNvPr id="77" name="Chip 3_1 txt"/>
          <p:cNvSpPr/>
          <p:nvPr/>
        </p:nvSpPr>
        <p:spPr>
          <a:xfrm>
            <a:off x="9222480" y="4346671"/>
            <a:ext cx="2098800" cy="313944"/>
          </a:xfrm>
          <a:prstGeom prst="rect">
            <a:avLst/>
          </a:prstGeom>
          <a:noFill/>
          <a:ln/>
        </p:spPr>
        <p:txBody>
          <a:bodyPr wrap="square" lIns="0" tIns="0" rIns="0" bIns="0" rtlCol="0" anchor="ctr"/>
          <a:lstStyle/>
          <a:p>
            <a:pPr marL="0" indent="0" algn="ctr">
              <a:buNone/>
            </a:pPr>
            <a:r>
              <a:rPr lang="en-US" sz="1200" b="1" dirty="0">
                <a:latin typeface="Calibri" pitchFamily="34" charset="0"/>
                <a:ea typeface="Calibri" pitchFamily="34" charset="-122"/>
                <a:cs typeface="Calibri" pitchFamily="34" charset="-120"/>
              </a:rPr>
              <a:t>StarUML</a:t>
            </a:r>
            <a:endParaRPr lang="en-US" sz="1200" dirty="0"/>
          </a:p>
        </p:txBody>
      </p:sp>
      <p:sp>
        <p:nvSpPr>
          <p:cNvPr id="78" name="Chip 3_2 bg"/>
          <p:cNvSpPr/>
          <p:nvPr/>
        </p:nvSpPr>
        <p:spPr>
          <a:xfrm>
            <a:off x="9222480" y="4752055"/>
            <a:ext cx="2098800" cy="313944"/>
          </a:xfrm>
          <a:prstGeom prst="roundRect">
            <a:avLst>
              <a:gd name="adj" fmla="val 50000"/>
            </a:avLst>
          </a:prstGeom>
          <a:solidFill>
            <a:srgbClr val="FFFFFF"/>
          </a:solidFill>
          <a:ln w="9525">
            <a:solidFill>
              <a:srgbClr val="F2B84B">
                <a:alpha val="45000"/>
              </a:srgbClr>
            </a:solidFill>
          </a:ln>
        </p:spPr>
        <p:txBody>
          <a:bodyPr/>
          <a:lstStyle/>
          <a:p>
            <a:endParaRPr/>
          </a:p>
        </p:txBody>
      </p:sp>
      <p:sp>
        <p:nvSpPr>
          <p:cNvPr id="79" name="Chip 3_2 txt"/>
          <p:cNvSpPr/>
          <p:nvPr/>
        </p:nvSpPr>
        <p:spPr>
          <a:xfrm>
            <a:off x="9222480" y="4752055"/>
            <a:ext cx="2098800" cy="313944"/>
          </a:xfrm>
          <a:prstGeom prst="rect">
            <a:avLst/>
          </a:prstGeom>
          <a:noFill/>
          <a:ln/>
        </p:spPr>
        <p:txBody>
          <a:bodyPr wrap="square" lIns="0" tIns="0" rIns="0" bIns="0" rtlCol="0" anchor="ctr"/>
          <a:lstStyle/>
          <a:p>
            <a:pPr marL="0" indent="0" algn="ctr">
              <a:buNone/>
            </a:pPr>
            <a:r>
              <a:rPr lang="en-US" sz="1200" b="1" dirty="0">
                <a:latin typeface="Calibri" pitchFamily="34" charset="0"/>
                <a:ea typeface="Calibri" pitchFamily="34" charset="-122"/>
                <a:cs typeface="Calibri" pitchFamily="34" charset="-120"/>
              </a:rPr>
              <a:t>Draw.io</a:t>
            </a:r>
            <a:endParaRPr lang="en-US" sz="1200" dirty="0"/>
          </a:p>
        </p:txBody>
      </p:sp>
      <p:sp>
        <p:nvSpPr>
          <p:cNvPr id="80" name="Chip 3_3 bg"/>
          <p:cNvSpPr/>
          <p:nvPr/>
        </p:nvSpPr>
        <p:spPr>
          <a:xfrm>
            <a:off x="9222480" y="5157439"/>
            <a:ext cx="2098800" cy="313944"/>
          </a:xfrm>
          <a:prstGeom prst="roundRect">
            <a:avLst>
              <a:gd name="adj" fmla="val 50000"/>
            </a:avLst>
          </a:prstGeom>
          <a:solidFill>
            <a:srgbClr val="FFFFFF"/>
          </a:solidFill>
          <a:ln w="9525">
            <a:solidFill>
              <a:srgbClr val="F2B84B">
                <a:alpha val="45000"/>
              </a:srgbClr>
            </a:solidFill>
          </a:ln>
        </p:spPr>
        <p:txBody>
          <a:bodyPr/>
          <a:lstStyle/>
          <a:p>
            <a:endParaRPr/>
          </a:p>
        </p:txBody>
      </p:sp>
      <p:sp>
        <p:nvSpPr>
          <p:cNvPr id="81" name="Chip 3_3 txt"/>
          <p:cNvSpPr/>
          <p:nvPr/>
        </p:nvSpPr>
        <p:spPr>
          <a:xfrm>
            <a:off x="9222480" y="5157439"/>
            <a:ext cx="2098800" cy="313944"/>
          </a:xfrm>
          <a:prstGeom prst="rect">
            <a:avLst/>
          </a:prstGeom>
          <a:noFill/>
          <a:ln/>
        </p:spPr>
        <p:txBody>
          <a:bodyPr wrap="square" lIns="0" tIns="0" rIns="0" bIns="0" rtlCol="0" anchor="ctr"/>
          <a:lstStyle/>
          <a:p>
            <a:pPr marL="0" indent="0" algn="ctr">
              <a:buNone/>
            </a:pPr>
            <a:r>
              <a:rPr lang="en-US" sz="1200" b="1" dirty="0">
                <a:latin typeface="Calibri" pitchFamily="34" charset="0"/>
                <a:ea typeface="Calibri" pitchFamily="34" charset="-122"/>
                <a:cs typeface="Calibri" pitchFamily="34" charset="-120"/>
              </a:rPr>
              <a:t>Git</a:t>
            </a:r>
            <a:endParaRPr lang="en-US" sz="1200" dirty="0"/>
          </a:p>
        </p:txBody>
      </p:sp>
      <p:sp>
        <p:nvSpPr>
          <p:cNvPr id="8" name="Shape 5"/>
          <p:cNvSpPr/>
          <p:nvPr/>
        </p:nvSpPr>
        <p:spPr>
          <a:xfrm>
            <a:off x="11256264" y="6492240"/>
            <a:ext cx="292608" cy="292608"/>
          </a:xfrm>
          <a:prstGeom prst="ellipse">
            <a:avLst/>
          </a:prstGeom>
          <a:solidFill>
            <a:srgbClr val="F4F7FE"/>
          </a:solidFill>
          <a:ln/>
        </p:spPr>
        <p:txBody>
          <a:bodyPr/>
          <a:lstStyle/>
          <a:p>
            <a:endParaRPr/>
          </a:p>
        </p:txBody>
      </p:sp>
      <p:sp>
        <p:nvSpPr>
          <p:cNvPr id="9" name="Text 6"/>
          <p:cNvSpPr/>
          <p:nvPr/>
        </p:nvSpPr>
        <p:spPr>
          <a:xfrm>
            <a:off x="11256264" y="6492240"/>
            <a:ext cx="292608" cy="292608"/>
          </a:xfrm>
          <a:prstGeom prst="rect">
            <a:avLst/>
          </a:prstGeom>
          <a:noFill/>
          <a:ln/>
        </p:spPr>
        <p:txBody>
          <a:bodyPr wrap="square" lIns="0" tIns="0" rIns="0" bIns="0" rtlCol="0" anchor="ctr"/>
          <a:lstStyle/>
          <a:p>
            <a:pPr marL="0" indent="0" algn="ctr">
              <a:buNone/>
            </a:pPr>
            <a:r>
              <a:rPr lang="en-US" sz="950" b="1" dirty="0">
                <a:solidFill>
                  <a:srgbClr val="1E2761"/>
                </a:solidFill>
                <a:latin typeface="Calibri" pitchFamily="34" charset="0"/>
                <a:ea typeface="Calibri" pitchFamily="34" charset="-122"/>
                <a:cs typeface="Calibri" pitchFamily="34" charset="-120"/>
              </a:rPr>
              <a:t>10</a:t>
            </a:r>
            <a:endParaRPr lang="en-US" sz="950" dirty="0"/>
          </a:p>
        </p:txBody>
      </p:sp>
      <p:sp>
        <p:nvSpPr>
          <p:cNvPr id="18" name="Text 28">
            <a:extLst>
              <a:ext uri="{FF2B5EF4-FFF2-40B4-BE49-F238E27FC236}">
                <a16:creationId xmlns:a16="http://schemas.microsoft.com/office/drawing/2014/main" id="{1A4A58E4-04B1-4E1F-EF83-940150F19466}"/>
              </a:ext>
            </a:extLst>
          </p:cNvPr>
          <p:cNvSpPr/>
          <p:nvPr/>
        </p:nvSpPr>
        <p:spPr>
          <a:xfrm>
            <a:off x="640080" y="6537960"/>
            <a:ext cx="1828800" cy="201168"/>
          </a:xfrm>
          <a:prstGeom prst="rect">
            <a:avLst/>
          </a:prstGeom>
          <a:noFill/>
          <a:ln/>
        </p:spPr>
        <p:txBody>
          <a:bodyPr wrap="square" lIns="0" tIns="0" rIns="0" bIns="0" rtlCol="0" anchor="ctr"/>
          <a:lstStyle/>
          <a:p>
            <a:endParaRPr lang="en-US" sz="1000" b="1" cap="all" dirty="0">
              <a:solidFill>
                <a:srgbClr val="002060"/>
              </a:solidFill>
            </a:endParaRPr>
          </a:p>
          <a:p>
            <a:r>
              <a:rPr lang="en-US" sz="1000" b="1" cap="all" dirty="0">
                <a:solidFill>
                  <a:srgbClr val="002060"/>
                </a:solidFill>
              </a:rPr>
              <a:t>Intelligent Hiring System</a:t>
            </a:r>
          </a:p>
          <a:p>
            <a:pPr marL="0" indent="0">
              <a:buNone/>
            </a:pPr>
            <a:endParaRPr lang="en-US" sz="900" dirty="0"/>
          </a:p>
        </p:txBody>
      </p:sp>
      <p:pic>
        <p:nvPicPr>
          <p:cNvPr id="3" name="Picture 2" descr="image.png">
            <a:extLst>
              <a:ext uri="{FF2B5EF4-FFF2-40B4-BE49-F238E27FC236}">
                <a16:creationId xmlns:a16="http://schemas.microsoft.com/office/drawing/2014/main" id="{3D23A665-BD70-271A-B1D3-6614CCC9D0FE}"/>
              </a:ext>
            </a:extLst>
          </p:cNvPr>
          <p:cNvPicPr>
            <a:picLocks noChangeAspect="1"/>
          </p:cNvPicPr>
          <p:nvPr/>
        </p:nvPicPr>
        <p:blipFill>
          <a:blip r:embed="rId3"/>
          <a:stretch>
            <a:fillRect/>
          </a:stretch>
        </p:blipFill>
        <p:spPr>
          <a:xfrm>
            <a:off x="995964" y="2310427"/>
            <a:ext cx="275783" cy="275783"/>
          </a:xfrm>
          <a:prstGeom prst="rect">
            <a:avLst/>
          </a:prstGeom>
        </p:spPr>
      </p:pic>
      <p:pic>
        <p:nvPicPr>
          <p:cNvPr id="7" name="Picture 6" descr="image.png">
            <a:extLst>
              <a:ext uri="{FF2B5EF4-FFF2-40B4-BE49-F238E27FC236}">
                <a16:creationId xmlns:a16="http://schemas.microsoft.com/office/drawing/2014/main" id="{FC97DA20-162F-9B92-708F-18265584CF66}"/>
              </a:ext>
            </a:extLst>
          </p:cNvPr>
          <p:cNvPicPr>
            <a:picLocks noChangeAspect="1"/>
          </p:cNvPicPr>
          <p:nvPr/>
        </p:nvPicPr>
        <p:blipFill>
          <a:blip r:embed="rId3"/>
          <a:stretch>
            <a:fillRect/>
          </a:stretch>
        </p:blipFill>
        <p:spPr>
          <a:xfrm>
            <a:off x="3780564" y="2310426"/>
            <a:ext cx="275783" cy="275783"/>
          </a:xfrm>
          <a:prstGeom prst="rect">
            <a:avLst/>
          </a:prstGeom>
        </p:spPr>
      </p:pic>
      <p:pic>
        <p:nvPicPr>
          <p:cNvPr id="13" name="Picture 12" descr="image.png">
            <a:extLst>
              <a:ext uri="{FF2B5EF4-FFF2-40B4-BE49-F238E27FC236}">
                <a16:creationId xmlns:a16="http://schemas.microsoft.com/office/drawing/2014/main" id="{74086723-FE87-4607-2534-DBED85816576}"/>
              </a:ext>
            </a:extLst>
          </p:cNvPr>
          <p:cNvPicPr>
            <a:picLocks noChangeAspect="1"/>
          </p:cNvPicPr>
          <p:nvPr/>
        </p:nvPicPr>
        <p:blipFill>
          <a:blip r:embed="rId3"/>
          <a:stretch>
            <a:fillRect/>
          </a:stretch>
        </p:blipFill>
        <p:spPr>
          <a:xfrm>
            <a:off x="6565164" y="2293393"/>
            <a:ext cx="275783" cy="275783"/>
          </a:xfrm>
          <a:prstGeom prst="rect">
            <a:avLst/>
          </a:prstGeom>
        </p:spPr>
      </p:pic>
      <p:pic>
        <p:nvPicPr>
          <p:cNvPr id="17" name="Picture 16" descr="image.png">
            <a:extLst>
              <a:ext uri="{FF2B5EF4-FFF2-40B4-BE49-F238E27FC236}">
                <a16:creationId xmlns:a16="http://schemas.microsoft.com/office/drawing/2014/main" id="{D178C944-8E4A-A777-DBC7-86F5BE73C442}"/>
              </a:ext>
            </a:extLst>
          </p:cNvPr>
          <p:cNvPicPr>
            <a:picLocks noChangeAspect="1"/>
          </p:cNvPicPr>
          <p:nvPr/>
        </p:nvPicPr>
        <p:blipFill>
          <a:blip r:embed="rId3"/>
          <a:stretch>
            <a:fillRect/>
          </a:stretch>
        </p:blipFill>
        <p:spPr>
          <a:xfrm>
            <a:off x="9349764" y="2304584"/>
            <a:ext cx="275783" cy="275783"/>
          </a:xfrm>
          <a:prstGeom prst="rect">
            <a:avLst/>
          </a:prstGeom>
        </p:spPr>
      </p:pic>
    </p:spTree>
    <p:extLst>
      <p:ext uri="{BB962C8B-B14F-4D97-AF65-F5344CB8AC3E}">
        <p14:creationId xmlns:p14="http://schemas.microsoft.com/office/powerpoint/2010/main" val="30638509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FAFBFF"/>
            </a:gs>
            <a:gs pos="100000">
              <a:srgbClr val="E4ECFC"/>
            </a:gs>
          </a:gsLst>
          <a:lin ang="2700000" scaled="0"/>
        </a:gradFill>
        <a:effectLst/>
      </p:bgPr>
    </p:bg>
    <p:spTree>
      <p:nvGrpSpPr>
        <p:cNvPr id="1" name=""/>
        <p:cNvGrpSpPr/>
        <p:nvPr/>
      </p:nvGrpSpPr>
      <p:grpSpPr>
        <a:xfrm>
          <a:off x="0" y="0"/>
          <a:ext cx="0" cy="0"/>
          <a:chOff x="0" y="0"/>
          <a:chExt cx="0" cy="0"/>
        </a:xfrm>
      </p:grpSpPr>
      <p:sp>
        <p:nvSpPr>
          <p:cNvPr id="9001" name="Decor 9001"/>
          <p:cNvSpPr/>
          <p:nvPr/>
        </p:nvSpPr>
        <p:spPr>
          <a:xfrm>
            <a:off x="8300000" y="-2300000"/>
            <a:ext cx="5200000" cy="5200000"/>
          </a:xfrm>
          <a:prstGeom prst="ellipse">
            <a:avLst/>
          </a:prstGeom>
          <a:solidFill>
            <a:srgbClr val="4A5BC4">
              <a:alpha val="9000"/>
            </a:srgbClr>
          </a:solidFill>
          <a:ln>
            <a:noFill/>
          </a:ln>
        </p:spPr>
        <p:txBody>
          <a:bodyPr/>
          <a:lstStyle/>
          <a:p>
            <a:endParaRPr lang="en-US"/>
          </a:p>
        </p:txBody>
      </p:sp>
      <p:sp>
        <p:nvSpPr>
          <p:cNvPr id="9002" name="Decor 9002"/>
          <p:cNvSpPr/>
          <p:nvPr/>
        </p:nvSpPr>
        <p:spPr>
          <a:xfrm>
            <a:off x="9300000" y="-1500000"/>
            <a:ext cx="3600000" cy="3600000"/>
          </a:xfrm>
          <a:prstGeom prst="ellipse">
            <a:avLst/>
          </a:prstGeom>
          <a:noFill/>
          <a:ln w="19050">
            <a:solidFill>
              <a:srgbClr val="4A5BC4">
                <a:alpha val="22000"/>
              </a:srgbClr>
            </a:solidFill>
          </a:ln>
        </p:spPr>
        <p:txBody>
          <a:bodyPr/>
          <a:lstStyle/>
          <a:p>
            <a:endParaRPr lang="en-US"/>
          </a:p>
        </p:txBody>
      </p:sp>
      <p:sp>
        <p:nvSpPr>
          <p:cNvPr id="9003" name="Decor 9003"/>
          <p:cNvSpPr/>
          <p:nvPr/>
        </p:nvSpPr>
        <p:spPr>
          <a:xfrm>
            <a:off x="-1500000" y="5000000"/>
            <a:ext cx="3300000" cy="3300000"/>
          </a:xfrm>
          <a:prstGeom prst="ellipse">
            <a:avLst/>
          </a:prstGeom>
          <a:solidFill>
            <a:srgbClr val="22D3A6">
              <a:alpha val="9000"/>
            </a:srgbClr>
          </a:solidFill>
          <a:ln>
            <a:noFill/>
          </a:ln>
        </p:spPr>
        <p:txBody>
          <a:bodyPr/>
          <a:lstStyle/>
          <a:p>
            <a:endParaRPr lang="en-US"/>
          </a:p>
        </p:txBody>
      </p:sp>
      <p:sp>
        <p:nvSpPr>
          <p:cNvPr id="9004" name="Decor 9004"/>
          <p:cNvSpPr/>
          <p:nvPr/>
        </p:nvSpPr>
        <p:spPr>
          <a:xfrm>
            <a:off x="-900000" y="5600000"/>
            <a:ext cx="1900000" cy="1900000"/>
          </a:xfrm>
          <a:prstGeom prst="ellipse">
            <a:avLst/>
          </a:prstGeom>
          <a:noFill/>
          <a:ln w="19050">
            <a:solidFill>
              <a:srgbClr val="4A5BC4">
                <a:alpha val="14000"/>
              </a:srgbClr>
            </a:solidFill>
          </a:ln>
        </p:spPr>
        <p:txBody>
          <a:bodyPr/>
          <a:lstStyle/>
          <a:p>
            <a:endParaRPr lang="en-US"/>
          </a:p>
        </p:txBody>
      </p:sp>
      <p:sp>
        <p:nvSpPr>
          <p:cNvPr id="4" name="TextBox 3"/>
          <p:cNvSpPr txBox="1"/>
          <p:nvPr/>
        </p:nvSpPr>
        <p:spPr>
          <a:xfrm>
            <a:off x="640080" y="569817"/>
            <a:ext cx="10881360" cy="566928"/>
          </a:xfrm>
          <a:prstGeom prst="rect">
            <a:avLst/>
          </a:prstGeom>
          <a:noFill/>
        </p:spPr>
        <p:txBody>
          <a:bodyPr wrap="square" lIns="0" tIns="0" rIns="0" bIns="0" anchor="ctr">
            <a:noAutofit/>
          </a:bodyPr>
          <a:lstStyle/>
          <a:p>
            <a:pPr algn="l"/>
            <a:r>
              <a:rPr sz="3000" b="1" i="0">
                <a:solidFill>
                  <a:srgbClr val="1B1F3B"/>
                </a:solidFill>
                <a:latin typeface="Cambria"/>
              </a:rPr>
              <a:t>Software &amp; Hardware Requirements</a:t>
            </a:r>
          </a:p>
        </p:txBody>
      </p:sp>
      <p:sp>
        <p:nvSpPr>
          <p:cNvPr id="5" name="Rounded Rectangle 4"/>
          <p:cNvSpPr/>
          <p:nvPr/>
        </p:nvSpPr>
        <p:spPr>
          <a:xfrm>
            <a:off x="640080" y="1383633"/>
            <a:ext cx="5317236" cy="4434840"/>
          </a:xfrm>
          <a:prstGeom prst="roundRect">
            <a:avLst>
              <a:gd name="adj" fmla="val 1649"/>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6" name="Oval 5"/>
          <p:cNvSpPr/>
          <p:nvPr/>
        </p:nvSpPr>
        <p:spPr>
          <a:xfrm>
            <a:off x="868680" y="1584801"/>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7" name="Picture 6" descr="image.png"/>
          <p:cNvPicPr>
            <a:picLocks noChangeAspect="1"/>
          </p:cNvPicPr>
          <p:nvPr/>
        </p:nvPicPr>
        <p:blipFill>
          <a:blip r:embed="rId2"/>
          <a:stretch>
            <a:fillRect/>
          </a:stretch>
        </p:blipFill>
        <p:spPr>
          <a:xfrm>
            <a:off x="968532" y="1684653"/>
            <a:ext cx="275783" cy="275783"/>
          </a:xfrm>
          <a:prstGeom prst="rect">
            <a:avLst/>
          </a:prstGeom>
        </p:spPr>
      </p:pic>
      <p:sp>
        <p:nvSpPr>
          <p:cNvPr id="8" name="TextBox 7"/>
          <p:cNvSpPr txBox="1"/>
          <p:nvPr/>
        </p:nvSpPr>
        <p:spPr>
          <a:xfrm>
            <a:off x="1481328" y="1584801"/>
            <a:ext cx="4114800" cy="475488"/>
          </a:xfrm>
          <a:prstGeom prst="rect">
            <a:avLst/>
          </a:prstGeom>
          <a:noFill/>
        </p:spPr>
        <p:txBody>
          <a:bodyPr wrap="square" lIns="0" tIns="0" rIns="0" bIns="0" anchor="ctr">
            <a:noAutofit/>
          </a:bodyPr>
          <a:lstStyle/>
          <a:p>
            <a:pPr algn="l"/>
            <a:r>
              <a:rPr sz="1600" b="1" i="0">
                <a:solidFill>
                  <a:srgbClr val="1B1F3B"/>
                </a:solidFill>
                <a:latin typeface="Calibri"/>
              </a:rPr>
              <a:t>Software Requirements</a:t>
            </a:r>
          </a:p>
        </p:txBody>
      </p:sp>
      <p:cxnSp>
        <p:nvCxnSpPr>
          <p:cNvPr id="9" name="Connector 8"/>
          <p:cNvCxnSpPr/>
          <p:nvPr/>
        </p:nvCxnSpPr>
        <p:spPr>
          <a:xfrm>
            <a:off x="914400" y="2298033"/>
            <a:ext cx="4768596" cy="0"/>
          </a:xfrm>
          <a:prstGeom prst="line">
            <a:avLst/>
          </a:prstGeom>
          <a:ln w="9525">
            <a:solidFill>
              <a:srgbClr val="D5DBE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914400" y="2298033"/>
            <a:ext cx="1600200" cy="576072"/>
          </a:xfrm>
          <a:prstGeom prst="rect">
            <a:avLst/>
          </a:prstGeom>
          <a:noFill/>
        </p:spPr>
        <p:txBody>
          <a:bodyPr wrap="square" lIns="0" tIns="0" rIns="0" bIns="0" anchor="ctr">
            <a:noAutofit/>
          </a:bodyPr>
          <a:lstStyle/>
          <a:p>
            <a:pPr algn="l"/>
            <a:r>
              <a:rPr sz="1350" b="1" i="0">
                <a:solidFill>
                  <a:srgbClr val="1E2761"/>
                </a:solidFill>
                <a:latin typeface="Calibri"/>
              </a:rPr>
              <a:t>Operating System</a:t>
            </a:r>
          </a:p>
        </p:txBody>
      </p:sp>
      <p:sp>
        <p:nvSpPr>
          <p:cNvPr id="11" name="TextBox 10"/>
          <p:cNvSpPr txBox="1"/>
          <p:nvPr/>
        </p:nvSpPr>
        <p:spPr>
          <a:xfrm>
            <a:off x="2560320" y="2298033"/>
            <a:ext cx="3108960" cy="576072"/>
          </a:xfrm>
          <a:prstGeom prst="rect">
            <a:avLst/>
          </a:prstGeom>
          <a:noFill/>
        </p:spPr>
        <p:txBody>
          <a:bodyPr wrap="square" lIns="0" tIns="0" rIns="0" bIns="0" anchor="ctr">
            <a:noAutofit/>
          </a:bodyPr>
          <a:lstStyle/>
          <a:p>
            <a:pPr algn="l"/>
            <a:r>
              <a:rPr sz="1400" b="0" i="0">
                <a:solidFill>
                  <a:srgbClr val="0B1220"/>
                </a:solidFill>
                <a:latin typeface="Calibri"/>
              </a:rPr>
              <a:t>Windows 10 / 11</a:t>
            </a:r>
          </a:p>
        </p:txBody>
      </p:sp>
      <p:cxnSp>
        <p:nvCxnSpPr>
          <p:cNvPr id="12" name="Connector 11"/>
          <p:cNvCxnSpPr/>
          <p:nvPr/>
        </p:nvCxnSpPr>
        <p:spPr>
          <a:xfrm>
            <a:off x="914400" y="2874105"/>
            <a:ext cx="4768596" cy="0"/>
          </a:xfrm>
          <a:prstGeom prst="line">
            <a:avLst/>
          </a:prstGeom>
          <a:ln w="9525">
            <a:solidFill>
              <a:srgbClr val="D5DBE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914400" y="2874105"/>
            <a:ext cx="1600200" cy="576072"/>
          </a:xfrm>
          <a:prstGeom prst="rect">
            <a:avLst/>
          </a:prstGeom>
          <a:noFill/>
        </p:spPr>
        <p:txBody>
          <a:bodyPr wrap="square" lIns="0" tIns="0" rIns="0" bIns="0" anchor="ctr">
            <a:noAutofit/>
          </a:bodyPr>
          <a:lstStyle/>
          <a:p>
            <a:pPr algn="l"/>
            <a:r>
              <a:rPr sz="1350" b="1" i="0">
                <a:solidFill>
                  <a:srgbClr val="1E2761"/>
                </a:solidFill>
                <a:latin typeface="Calibri"/>
              </a:rPr>
              <a:t>Language</a:t>
            </a:r>
          </a:p>
        </p:txBody>
      </p:sp>
      <p:sp>
        <p:nvSpPr>
          <p:cNvPr id="14" name="TextBox 13"/>
          <p:cNvSpPr txBox="1"/>
          <p:nvPr/>
        </p:nvSpPr>
        <p:spPr>
          <a:xfrm>
            <a:off x="2560320" y="2874105"/>
            <a:ext cx="3108960" cy="576072"/>
          </a:xfrm>
          <a:prstGeom prst="rect">
            <a:avLst/>
          </a:prstGeom>
          <a:noFill/>
        </p:spPr>
        <p:txBody>
          <a:bodyPr wrap="square" lIns="0" tIns="0" rIns="0" bIns="0" anchor="ctr">
            <a:noAutofit/>
          </a:bodyPr>
          <a:lstStyle/>
          <a:p>
            <a:pPr algn="l"/>
            <a:r>
              <a:rPr sz="1400" b="0" i="0">
                <a:solidFill>
                  <a:srgbClr val="0B1220"/>
                </a:solidFill>
                <a:latin typeface="Calibri"/>
              </a:rPr>
              <a:t>Python 3</a:t>
            </a:r>
          </a:p>
        </p:txBody>
      </p:sp>
      <p:cxnSp>
        <p:nvCxnSpPr>
          <p:cNvPr id="15" name="Connector 14"/>
          <p:cNvCxnSpPr/>
          <p:nvPr/>
        </p:nvCxnSpPr>
        <p:spPr>
          <a:xfrm>
            <a:off x="914400" y="3450177"/>
            <a:ext cx="4768596" cy="0"/>
          </a:xfrm>
          <a:prstGeom prst="line">
            <a:avLst/>
          </a:prstGeom>
          <a:ln w="9525">
            <a:solidFill>
              <a:srgbClr val="D5DBEE"/>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14400" y="3450177"/>
            <a:ext cx="1600200" cy="576072"/>
          </a:xfrm>
          <a:prstGeom prst="rect">
            <a:avLst/>
          </a:prstGeom>
          <a:noFill/>
        </p:spPr>
        <p:txBody>
          <a:bodyPr wrap="square" lIns="0" tIns="0" rIns="0" bIns="0" anchor="ctr">
            <a:noAutofit/>
          </a:bodyPr>
          <a:lstStyle/>
          <a:p>
            <a:pPr algn="l"/>
            <a:r>
              <a:rPr sz="1350" b="1" i="0">
                <a:solidFill>
                  <a:srgbClr val="1E2761"/>
                </a:solidFill>
                <a:latin typeface="Calibri"/>
              </a:rPr>
              <a:t>Web Framework</a:t>
            </a:r>
          </a:p>
        </p:txBody>
      </p:sp>
      <p:sp>
        <p:nvSpPr>
          <p:cNvPr id="17" name="TextBox 16"/>
          <p:cNvSpPr txBox="1"/>
          <p:nvPr/>
        </p:nvSpPr>
        <p:spPr>
          <a:xfrm>
            <a:off x="2560320" y="3450177"/>
            <a:ext cx="3108960" cy="576072"/>
          </a:xfrm>
          <a:prstGeom prst="rect">
            <a:avLst/>
          </a:prstGeom>
          <a:noFill/>
        </p:spPr>
        <p:txBody>
          <a:bodyPr wrap="square" lIns="0" tIns="0" rIns="0" bIns="0" anchor="ctr">
            <a:noAutofit/>
          </a:bodyPr>
          <a:lstStyle/>
          <a:p>
            <a:pPr algn="l"/>
            <a:r>
              <a:rPr sz="1400" b="0" i="0">
                <a:solidFill>
                  <a:srgbClr val="0B1220"/>
                </a:solidFill>
                <a:latin typeface="Calibri"/>
              </a:rPr>
              <a:t>Django</a:t>
            </a:r>
          </a:p>
        </p:txBody>
      </p:sp>
      <p:cxnSp>
        <p:nvCxnSpPr>
          <p:cNvPr id="18" name="Connector 17"/>
          <p:cNvCxnSpPr/>
          <p:nvPr/>
        </p:nvCxnSpPr>
        <p:spPr>
          <a:xfrm>
            <a:off x="914400" y="4026249"/>
            <a:ext cx="4768596" cy="0"/>
          </a:xfrm>
          <a:prstGeom prst="line">
            <a:avLst/>
          </a:prstGeom>
          <a:ln w="9525">
            <a:solidFill>
              <a:srgbClr val="D5DBEE"/>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914400" y="4026249"/>
            <a:ext cx="1600200" cy="576072"/>
          </a:xfrm>
          <a:prstGeom prst="rect">
            <a:avLst/>
          </a:prstGeom>
          <a:noFill/>
        </p:spPr>
        <p:txBody>
          <a:bodyPr wrap="square" lIns="0" tIns="0" rIns="0" bIns="0" anchor="ctr">
            <a:noAutofit/>
          </a:bodyPr>
          <a:lstStyle/>
          <a:p>
            <a:pPr algn="l"/>
            <a:r>
              <a:rPr sz="1350" b="1" i="0">
                <a:solidFill>
                  <a:srgbClr val="1E2761"/>
                </a:solidFill>
                <a:latin typeface="Calibri"/>
              </a:rPr>
              <a:t>Front-end</a:t>
            </a:r>
          </a:p>
        </p:txBody>
      </p:sp>
      <p:sp>
        <p:nvSpPr>
          <p:cNvPr id="20" name="TextBox 19"/>
          <p:cNvSpPr txBox="1"/>
          <p:nvPr/>
        </p:nvSpPr>
        <p:spPr>
          <a:xfrm>
            <a:off x="2560320" y="4026249"/>
            <a:ext cx="3108960" cy="576072"/>
          </a:xfrm>
          <a:prstGeom prst="rect">
            <a:avLst/>
          </a:prstGeom>
          <a:noFill/>
        </p:spPr>
        <p:txBody>
          <a:bodyPr wrap="square" lIns="0" tIns="0" rIns="0" bIns="0" anchor="ctr">
            <a:noAutofit/>
          </a:bodyPr>
          <a:lstStyle/>
          <a:p>
            <a:pPr algn="l"/>
            <a:r>
              <a:rPr sz="1400" b="0" i="0">
                <a:solidFill>
                  <a:srgbClr val="0B1220"/>
                </a:solidFill>
                <a:latin typeface="Calibri"/>
              </a:rPr>
              <a:t>HTML, CSS, JavaScript, Bootstrap</a:t>
            </a:r>
          </a:p>
        </p:txBody>
      </p:sp>
      <p:cxnSp>
        <p:nvCxnSpPr>
          <p:cNvPr id="21" name="Connector 20"/>
          <p:cNvCxnSpPr/>
          <p:nvPr/>
        </p:nvCxnSpPr>
        <p:spPr>
          <a:xfrm>
            <a:off x="914400" y="4602321"/>
            <a:ext cx="4768596" cy="0"/>
          </a:xfrm>
          <a:prstGeom prst="line">
            <a:avLst/>
          </a:prstGeom>
          <a:ln w="9525">
            <a:solidFill>
              <a:srgbClr val="D5DBEE"/>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14400" y="4602321"/>
            <a:ext cx="1600200" cy="576072"/>
          </a:xfrm>
          <a:prstGeom prst="rect">
            <a:avLst/>
          </a:prstGeom>
          <a:noFill/>
        </p:spPr>
        <p:txBody>
          <a:bodyPr wrap="square" lIns="0" tIns="0" rIns="0" bIns="0" anchor="ctr">
            <a:noAutofit/>
          </a:bodyPr>
          <a:lstStyle/>
          <a:p>
            <a:pPr algn="l"/>
            <a:r>
              <a:rPr sz="1350" b="1" i="0">
                <a:solidFill>
                  <a:srgbClr val="1E2761"/>
                </a:solidFill>
                <a:latin typeface="Calibri"/>
              </a:rPr>
              <a:t>Database</a:t>
            </a:r>
          </a:p>
        </p:txBody>
      </p:sp>
      <p:sp>
        <p:nvSpPr>
          <p:cNvPr id="23" name="TextBox 22"/>
          <p:cNvSpPr txBox="1"/>
          <p:nvPr/>
        </p:nvSpPr>
        <p:spPr>
          <a:xfrm>
            <a:off x="2560320" y="4602321"/>
            <a:ext cx="3108960" cy="576072"/>
          </a:xfrm>
          <a:prstGeom prst="rect">
            <a:avLst/>
          </a:prstGeom>
          <a:noFill/>
        </p:spPr>
        <p:txBody>
          <a:bodyPr wrap="square" lIns="0" tIns="0" rIns="0" bIns="0" anchor="ctr">
            <a:noAutofit/>
          </a:bodyPr>
          <a:lstStyle/>
          <a:p>
            <a:pPr algn="l"/>
            <a:r>
              <a:rPr sz="1400" b="0" i="0">
                <a:solidFill>
                  <a:srgbClr val="0B1220"/>
                </a:solidFill>
                <a:latin typeface="Calibri"/>
              </a:rPr>
              <a:t>SQLite</a:t>
            </a:r>
          </a:p>
        </p:txBody>
      </p:sp>
      <p:cxnSp>
        <p:nvCxnSpPr>
          <p:cNvPr id="24" name="Connector 23"/>
          <p:cNvCxnSpPr/>
          <p:nvPr/>
        </p:nvCxnSpPr>
        <p:spPr>
          <a:xfrm>
            <a:off x="914400" y="5178393"/>
            <a:ext cx="4768596" cy="0"/>
          </a:xfrm>
          <a:prstGeom prst="line">
            <a:avLst/>
          </a:prstGeom>
          <a:ln w="9525">
            <a:solidFill>
              <a:srgbClr val="D5DB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914400" y="5178393"/>
            <a:ext cx="1600200" cy="576072"/>
          </a:xfrm>
          <a:prstGeom prst="rect">
            <a:avLst/>
          </a:prstGeom>
          <a:noFill/>
        </p:spPr>
        <p:txBody>
          <a:bodyPr wrap="square" lIns="0" tIns="0" rIns="0" bIns="0" anchor="ctr">
            <a:noAutofit/>
          </a:bodyPr>
          <a:lstStyle/>
          <a:p>
            <a:pPr algn="l"/>
            <a:r>
              <a:rPr sz="1350" b="1" i="0">
                <a:solidFill>
                  <a:srgbClr val="1E2761"/>
                </a:solidFill>
                <a:latin typeface="Calibri"/>
              </a:rPr>
              <a:t>Web Browser</a:t>
            </a:r>
          </a:p>
        </p:txBody>
      </p:sp>
      <p:sp>
        <p:nvSpPr>
          <p:cNvPr id="26" name="TextBox 25"/>
          <p:cNvSpPr txBox="1"/>
          <p:nvPr/>
        </p:nvSpPr>
        <p:spPr>
          <a:xfrm>
            <a:off x="2560320" y="5178393"/>
            <a:ext cx="3108960" cy="576072"/>
          </a:xfrm>
          <a:prstGeom prst="rect">
            <a:avLst/>
          </a:prstGeom>
          <a:noFill/>
        </p:spPr>
        <p:txBody>
          <a:bodyPr wrap="square" lIns="0" tIns="0" rIns="0" bIns="0" anchor="ctr">
            <a:noAutofit/>
          </a:bodyPr>
          <a:lstStyle/>
          <a:p>
            <a:pPr algn="l"/>
            <a:r>
              <a:rPr sz="1400" b="0" i="0">
                <a:solidFill>
                  <a:srgbClr val="0B1220"/>
                </a:solidFill>
                <a:latin typeface="Calibri"/>
              </a:rPr>
              <a:t>Google Chrome / Microsoft Edge</a:t>
            </a:r>
          </a:p>
        </p:txBody>
      </p:sp>
      <p:sp>
        <p:nvSpPr>
          <p:cNvPr id="27" name="Rounded Rectangle 26"/>
          <p:cNvSpPr/>
          <p:nvPr/>
        </p:nvSpPr>
        <p:spPr>
          <a:xfrm>
            <a:off x="6231636" y="1383633"/>
            <a:ext cx="5317236" cy="4434840"/>
          </a:xfrm>
          <a:prstGeom prst="roundRect">
            <a:avLst>
              <a:gd name="adj" fmla="val 1649"/>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28" name="Oval 27"/>
          <p:cNvSpPr/>
          <p:nvPr/>
        </p:nvSpPr>
        <p:spPr>
          <a:xfrm>
            <a:off x="6460236" y="1584801"/>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29" name="Picture 28" descr="image.png"/>
          <p:cNvPicPr>
            <a:picLocks noChangeAspect="1"/>
          </p:cNvPicPr>
          <p:nvPr/>
        </p:nvPicPr>
        <p:blipFill>
          <a:blip r:embed="rId3"/>
          <a:stretch>
            <a:fillRect/>
          </a:stretch>
        </p:blipFill>
        <p:spPr>
          <a:xfrm>
            <a:off x="6560088" y="1684653"/>
            <a:ext cx="275783" cy="275783"/>
          </a:xfrm>
          <a:prstGeom prst="rect">
            <a:avLst/>
          </a:prstGeom>
        </p:spPr>
      </p:pic>
      <p:sp>
        <p:nvSpPr>
          <p:cNvPr id="30" name="TextBox 29"/>
          <p:cNvSpPr txBox="1"/>
          <p:nvPr/>
        </p:nvSpPr>
        <p:spPr>
          <a:xfrm>
            <a:off x="7072884" y="1584801"/>
            <a:ext cx="4114800" cy="475488"/>
          </a:xfrm>
          <a:prstGeom prst="rect">
            <a:avLst/>
          </a:prstGeom>
          <a:noFill/>
        </p:spPr>
        <p:txBody>
          <a:bodyPr wrap="square" lIns="0" tIns="0" rIns="0" bIns="0" anchor="ctr">
            <a:noAutofit/>
          </a:bodyPr>
          <a:lstStyle/>
          <a:p>
            <a:pPr algn="l"/>
            <a:r>
              <a:rPr sz="1600" b="1" i="0">
                <a:solidFill>
                  <a:srgbClr val="1B1F3B"/>
                </a:solidFill>
                <a:latin typeface="Calibri"/>
              </a:rPr>
              <a:t>Hardware Requirements</a:t>
            </a:r>
          </a:p>
        </p:txBody>
      </p:sp>
      <p:cxnSp>
        <p:nvCxnSpPr>
          <p:cNvPr id="31" name="Connector 30"/>
          <p:cNvCxnSpPr/>
          <p:nvPr/>
        </p:nvCxnSpPr>
        <p:spPr>
          <a:xfrm>
            <a:off x="6505956" y="2298033"/>
            <a:ext cx="4768596" cy="0"/>
          </a:xfrm>
          <a:prstGeom prst="line">
            <a:avLst/>
          </a:prstGeom>
          <a:ln w="9525">
            <a:solidFill>
              <a:srgbClr val="D5DBEE"/>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505956" y="2298033"/>
            <a:ext cx="1600200" cy="576072"/>
          </a:xfrm>
          <a:prstGeom prst="rect">
            <a:avLst/>
          </a:prstGeom>
          <a:noFill/>
        </p:spPr>
        <p:txBody>
          <a:bodyPr wrap="square" lIns="0" tIns="0" rIns="0" bIns="0" anchor="ctr">
            <a:noAutofit/>
          </a:bodyPr>
          <a:lstStyle/>
          <a:p>
            <a:pPr algn="l"/>
            <a:r>
              <a:rPr sz="1350" b="1" i="0">
                <a:solidFill>
                  <a:srgbClr val="1E2761"/>
                </a:solidFill>
                <a:latin typeface="Calibri"/>
              </a:rPr>
              <a:t>Processor</a:t>
            </a:r>
          </a:p>
        </p:txBody>
      </p:sp>
      <p:sp>
        <p:nvSpPr>
          <p:cNvPr id="33" name="TextBox 32"/>
          <p:cNvSpPr txBox="1"/>
          <p:nvPr/>
        </p:nvSpPr>
        <p:spPr>
          <a:xfrm>
            <a:off x="8151876" y="2298033"/>
            <a:ext cx="3108960" cy="576072"/>
          </a:xfrm>
          <a:prstGeom prst="rect">
            <a:avLst/>
          </a:prstGeom>
          <a:noFill/>
        </p:spPr>
        <p:txBody>
          <a:bodyPr wrap="square" lIns="0" tIns="0" rIns="0" bIns="0" anchor="ctr">
            <a:noAutofit/>
          </a:bodyPr>
          <a:lstStyle/>
          <a:p>
            <a:pPr algn="l"/>
            <a:r>
              <a:rPr sz="1400" b="0" i="0">
                <a:solidFill>
                  <a:srgbClr val="0B1220"/>
                </a:solidFill>
                <a:latin typeface="Calibri"/>
              </a:rPr>
              <a:t>Intel Core i3 or higher</a:t>
            </a:r>
          </a:p>
        </p:txBody>
      </p:sp>
      <p:cxnSp>
        <p:nvCxnSpPr>
          <p:cNvPr id="34" name="Connector 33"/>
          <p:cNvCxnSpPr/>
          <p:nvPr/>
        </p:nvCxnSpPr>
        <p:spPr>
          <a:xfrm>
            <a:off x="6505956" y="2874105"/>
            <a:ext cx="4768596" cy="0"/>
          </a:xfrm>
          <a:prstGeom prst="line">
            <a:avLst/>
          </a:prstGeom>
          <a:ln w="9525">
            <a:solidFill>
              <a:srgbClr val="D5DBEE"/>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505956" y="2874105"/>
            <a:ext cx="1600200" cy="576072"/>
          </a:xfrm>
          <a:prstGeom prst="rect">
            <a:avLst/>
          </a:prstGeom>
          <a:noFill/>
        </p:spPr>
        <p:txBody>
          <a:bodyPr wrap="square" lIns="0" tIns="0" rIns="0" bIns="0" anchor="ctr">
            <a:noAutofit/>
          </a:bodyPr>
          <a:lstStyle/>
          <a:p>
            <a:pPr algn="l"/>
            <a:r>
              <a:rPr sz="1350" b="1" i="0">
                <a:solidFill>
                  <a:srgbClr val="1E2761"/>
                </a:solidFill>
                <a:latin typeface="Calibri"/>
              </a:rPr>
              <a:t>RAM</a:t>
            </a:r>
          </a:p>
        </p:txBody>
      </p:sp>
      <p:sp>
        <p:nvSpPr>
          <p:cNvPr id="36" name="TextBox 35"/>
          <p:cNvSpPr txBox="1"/>
          <p:nvPr/>
        </p:nvSpPr>
        <p:spPr>
          <a:xfrm>
            <a:off x="8151876" y="2874105"/>
            <a:ext cx="3108960" cy="576072"/>
          </a:xfrm>
          <a:prstGeom prst="rect">
            <a:avLst/>
          </a:prstGeom>
          <a:noFill/>
        </p:spPr>
        <p:txBody>
          <a:bodyPr wrap="square" lIns="0" tIns="0" rIns="0" bIns="0" anchor="ctr">
            <a:noAutofit/>
          </a:bodyPr>
          <a:lstStyle/>
          <a:p>
            <a:pPr algn="l"/>
            <a:r>
              <a:rPr sz="1400" b="0" i="0">
                <a:solidFill>
                  <a:srgbClr val="0B1220"/>
                </a:solidFill>
                <a:latin typeface="Calibri"/>
              </a:rPr>
              <a:t>4 GB minimum (8 GB recommended)</a:t>
            </a:r>
          </a:p>
        </p:txBody>
      </p:sp>
      <p:cxnSp>
        <p:nvCxnSpPr>
          <p:cNvPr id="37" name="Connector 36"/>
          <p:cNvCxnSpPr/>
          <p:nvPr/>
        </p:nvCxnSpPr>
        <p:spPr>
          <a:xfrm>
            <a:off x="6505956" y="3450177"/>
            <a:ext cx="4768596" cy="0"/>
          </a:xfrm>
          <a:prstGeom prst="line">
            <a:avLst/>
          </a:prstGeom>
          <a:ln w="9525">
            <a:solidFill>
              <a:srgbClr val="D5DBEE"/>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6505956" y="3450177"/>
            <a:ext cx="1600200" cy="576072"/>
          </a:xfrm>
          <a:prstGeom prst="rect">
            <a:avLst/>
          </a:prstGeom>
          <a:noFill/>
        </p:spPr>
        <p:txBody>
          <a:bodyPr wrap="square" lIns="0" tIns="0" rIns="0" bIns="0" anchor="ctr">
            <a:noAutofit/>
          </a:bodyPr>
          <a:lstStyle/>
          <a:p>
            <a:pPr algn="l"/>
            <a:r>
              <a:rPr sz="1350" b="1" i="0">
                <a:solidFill>
                  <a:srgbClr val="1E2761"/>
                </a:solidFill>
                <a:latin typeface="Calibri"/>
              </a:rPr>
              <a:t>Hard Disk</a:t>
            </a:r>
          </a:p>
        </p:txBody>
      </p:sp>
      <p:sp>
        <p:nvSpPr>
          <p:cNvPr id="39" name="TextBox 38"/>
          <p:cNvSpPr txBox="1"/>
          <p:nvPr/>
        </p:nvSpPr>
        <p:spPr>
          <a:xfrm>
            <a:off x="8151876" y="3450177"/>
            <a:ext cx="3108960" cy="576072"/>
          </a:xfrm>
          <a:prstGeom prst="rect">
            <a:avLst/>
          </a:prstGeom>
          <a:noFill/>
        </p:spPr>
        <p:txBody>
          <a:bodyPr wrap="square" lIns="0" tIns="0" rIns="0" bIns="0" anchor="ctr">
            <a:noAutofit/>
          </a:bodyPr>
          <a:lstStyle/>
          <a:p>
            <a:pPr algn="l"/>
            <a:r>
              <a:rPr sz="1400" b="0" i="0">
                <a:solidFill>
                  <a:srgbClr val="0B1220"/>
                </a:solidFill>
                <a:latin typeface="Calibri"/>
              </a:rPr>
              <a:t>2 GB or more free space</a:t>
            </a:r>
          </a:p>
        </p:txBody>
      </p:sp>
      <p:cxnSp>
        <p:nvCxnSpPr>
          <p:cNvPr id="40" name="Connector 39"/>
          <p:cNvCxnSpPr/>
          <p:nvPr/>
        </p:nvCxnSpPr>
        <p:spPr>
          <a:xfrm>
            <a:off x="6505956" y="4026249"/>
            <a:ext cx="4768596" cy="0"/>
          </a:xfrm>
          <a:prstGeom prst="line">
            <a:avLst/>
          </a:prstGeom>
          <a:ln w="9525">
            <a:solidFill>
              <a:srgbClr val="D5DBEE"/>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505956" y="4026249"/>
            <a:ext cx="1600200" cy="576072"/>
          </a:xfrm>
          <a:prstGeom prst="rect">
            <a:avLst/>
          </a:prstGeom>
          <a:noFill/>
        </p:spPr>
        <p:txBody>
          <a:bodyPr wrap="square" lIns="0" tIns="0" rIns="0" bIns="0" anchor="ctr">
            <a:noAutofit/>
          </a:bodyPr>
          <a:lstStyle/>
          <a:p>
            <a:pPr algn="l"/>
            <a:r>
              <a:rPr sz="1350" b="1" i="0">
                <a:solidFill>
                  <a:srgbClr val="1E2761"/>
                </a:solidFill>
                <a:latin typeface="Calibri"/>
              </a:rPr>
              <a:t>Display</a:t>
            </a:r>
          </a:p>
        </p:txBody>
      </p:sp>
      <p:sp>
        <p:nvSpPr>
          <p:cNvPr id="42" name="TextBox 41"/>
          <p:cNvSpPr txBox="1"/>
          <p:nvPr/>
        </p:nvSpPr>
        <p:spPr>
          <a:xfrm>
            <a:off x="8151876" y="4026249"/>
            <a:ext cx="3108960" cy="576072"/>
          </a:xfrm>
          <a:prstGeom prst="rect">
            <a:avLst/>
          </a:prstGeom>
          <a:noFill/>
        </p:spPr>
        <p:txBody>
          <a:bodyPr wrap="square" lIns="0" tIns="0" rIns="0" bIns="0" anchor="ctr">
            <a:noAutofit/>
          </a:bodyPr>
          <a:lstStyle/>
          <a:p>
            <a:pPr algn="l"/>
            <a:r>
              <a:rPr sz="1400" b="0" i="0">
                <a:solidFill>
                  <a:srgbClr val="0B1220"/>
                </a:solidFill>
                <a:latin typeface="Calibri"/>
              </a:rPr>
              <a:t>1366 × 768 or higher</a:t>
            </a:r>
          </a:p>
        </p:txBody>
      </p:sp>
      <p:cxnSp>
        <p:nvCxnSpPr>
          <p:cNvPr id="43" name="Connector 42"/>
          <p:cNvCxnSpPr/>
          <p:nvPr/>
        </p:nvCxnSpPr>
        <p:spPr>
          <a:xfrm>
            <a:off x="6505956" y="4602321"/>
            <a:ext cx="4768596" cy="0"/>
          </a:xfrm>
          <a:prstGeom prst="line">
            <a:avLst/>
          </a:prstGeom>
          <a:ln w="9525">
            <a:solidFill>
              <a:srgbClr val="D5DBEE"/>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6505956" y="4602321"/>
            <a:ext cx="1600200" cy="576072"/>
          </a:xfrm>
          <a:prstGeom prst="rect">
            <a:avLst/>
          </a:prstGeom>
          <a:noFill/>
        </p:spPr>
        <p:txBody>
          <a:bodyPr wrap="square" lIns="0" tIns="0" rIns="0" bIns="0" anchor="ctr">
            <a:noAutofit/>
          </a:bodyPr>
          <a:lstStyle/>
          <a:p>
            <a:pPr algn="l"/>
            <a:r>
              <a:rPr sz="1350" b="1" i="0">
                <a:solidFill>
                  <a:srgbClr val="1E2761"/>
                </a:solidFill>
                <a:latin typeface="Calibri"/>
              </a:rPr>
              <a:t>Network</a:t>
            </a:r>
          </a:p>
        </p:txBody>
      </p:sp>
      <p:sp>
        <p:nvSpPr>
          <p:cNvPr id="45" name="TextBox 44"/>
          <p:cNvSpPr txBox="1"/>
          <p:nvPr/>
        </p:nvSpPr>
        <p:spPr>
          <a:xfrm>
            <a:off x="8151876" y="4602321"/>
            <a:ext cx="3108960" cy="576072"/>
          </a:xfrm>
          <a:prstGeom prst="rect">
            <a:avLst/>
          </a:prstGeom>
          <a:noFill/>
        </p:spPr>
        <p:txBody>
          <a:bodyPr wrap="square" lIns="0" tIns="0" rIns="0" bIns="0" anchor="ctr">
            <a:noAutofit/>
          </a:bodyPr>
          <a:lstStyle/>
          <a:p>
            <a:pPr algn="l"/>
            <a:r>
              <a:rPr sz="1400" b="0" i="0">
                <a:solidFill>
                  <a:srgbClr val="0B1220"/>
                </a:solidFill>
                <a:latin typeface="Calibri"/>
              </a:rPr>
              <a:t>Internet connection for browser access</a:t>
            </a:r>
          </a:p>
        </p:txBody>
      </p:sp>
      <p:cxnSp>
        <p:nvCxnSpPr>
          <p:cNvPr id="46" name="Connector 45"/>
          <p:cNvCxnSpPr/>
          <p:nvPr/>
        </p:nvCxnSpPr>
        <p:spPr>
          <a:xfrm>
            <a:off x="6505956" y="5178393"/>
            <a:ext cx="4768596" cy="0"/>
          </a:xfrm>
          <a:prstGeom prst="line">
            <a:avLst/>
          </a:prstGeom>
          <a:ln w="9525">
            <a:solidFill>
              <a:srgbClr val="D5DBEE"/>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505956" y="5178393"/>
            <a:ext cx="1600200" cy="576072"/>
          </a:xfrm>
          <a:prstGeom prst="rect">
            <a:avLst/>
          </a:prstGeom>
          <a:noFill/>
        </p:spPr>
        <p:txBody>
          <a:bodyPr wrap="square" lIns="0" tIns="0" rIns="0" bIns="0" anchor="ctr">
            <a:noAutofit/>
          </a:bodyPr>
          <a:lstStyle/>
          <a:p>
            <a:pPr algn="l"/>
            <a:r>
              <a:rPr sz="1350" b="1" i="0">
                <a:solidFill>
                  <a:srgbClr val="1E2761"/>
                </a:solidFill>
                <a:latin typeface="Calibri"/>
              </a:rPr>
              <a:t>Input</a:t>
            </a:r>
          </a:p>
        </p:txBody>
      </p:sp>
      <p:sp>
        <p:nvSpPr>
          <p:cNvPr id="48" name="TextBox 47"/>
          <p:cNvSpPr txBox="1"/>
          <p:nvPr/>
        </p:nvSpPr>
        <p:spPr>
          <a:xfrm>
            <a:off x="8151876" y="5178393"/>
            <a:ext cx="3108960" cy="576072"/>
          </a:xfrm>
          <a:prstGeom prst="rect">
            <a:avLst/>
          </a:prstGeom>
          <a:noFill/>
        </p:spPr>
        <p:txBody>
          <a:bodyPr wrap="square" lIns="0" tIns="0" rIns="0" bIns="0" anchor="ctr">
            <a:noAutofit/>
          </a:bodyPr>
          <a:lstStyle/>
          <a:p>
            <a:pPr algn="l"/>
            <a:r>
              <a:rPr sz="1400" b="0" i="0">
                <a:solidFill>
                  <a:srgbClr val="0B1220"/>
                </a:solidFill>
                <a:latin typeface="Calibri"/>
              </a:rPr>
              <a:t>Keyboard and mouse</a:t>
            </a:r>
          </a:p>
        </p:txBody>
      </p:sp>
      <p:sp>
        <p:nvSpPr>
          <p:cNvPr id="49" name="TextBox 48"/>
          <p:cNvSpPr txBox="1"/>
          <p:nvPr/>
        </p:nvSpPr>
        <p:spPr>
          <a:xfrm>
            <a:off x="640080" y="6537960"/>
            <a:ext cx="2926080" cy="201168"/>
          </a:xfrm>
          <a:prstGeom prst="rect">
            <a:avLst/>
          </a:prstGeom>
          <a:noFill/>
        </p:spPr>
        <p:txBody>
          <a:bodyPr wrap="square" lIns="0" tIns="0" rIns="0" bIns="0" anchor="ctr">
            <a:noAutofit/>
          </a:bodyPr>
          <a:lstStyle/>
          <a:p>
            <a:pPr algn="l"/>
            <a:r>
              <a:rPr sz="1000" b="1" i="0">
                <a:solidFill>
                  <a:srgbClr val="002060"/>
                </a:solidFill>
                <a:latin typeface="Calibri"/>
              </a:rPr>
              <a:t>INTELLIGENT HIRING SYSTEM</a:t>
            </a:r>
          </a:p>
        </p:txBody>
      </p:sp>
      <p:sp>
        <p:nvSpPr>
          <p:cNvPr id="50" name="Oval 49"/>
          <p:cNvSpPr/>
          <p:nvPr/>
        </p:nvSpPr>
        <p:spPr>
          <a:xfrm>
            <a:off x="11256264" y="6492240"/>
            <a:ext cx="292608" cy="292608"/>
          </a:xfrm>
          <a:prstGeom prst="ellipse">
            <a:avLst/>
          </a:prstGeom>
          <a:solidFill>
            <a:srgbClr val="F4F7FE"/>
          </a:solidFill>
          <a:ln>
            <a:noFill/>
          </a:ln>
        </p:spPr>
        <p:txBody>
          <a:bodyPr rtlCol="0" anchor="ctr"/>
          <a:lstStyle/>
          <a:p>
            <a:pPr algn="ctr"/>
            <a:endParaRPr/>
          </a:p>
        </p:txBody>
      </p:sp>
      <p:sp>
        <p:nvSpPr>
          <p:cNvPr id="51" name="TextBox 50"/>
          <p:cNvSpPr txBox="1"/>
          <p:nvPr/>
        </p:nvSpPr>
        <p:spPr>
          <a:xfrm>
            <a:off x="11256264" y="6492240"/>
            <a:ext cx="292608" cy="292608"/>
          </a:xfrm>
          <a:prstGeom prst="rect">
            <a:avLst/>
          </a:prstGeom>
          <a:noFill/>
        </p:spPr>
        <p:txBody>
          <a:bodyPr wrap="square" lIns="0" tIns="0" rIns="0" bIns="0" anchor="ctr">
            <a:noAutofit/>
          </a:bodyPr>
          <a:lstStyle/>
          <a:p>
            <a:pPr algn="ctr"/>
            <a:r>
              <a:rPr sz="950" b="1" i="0">
                <a:solidFill>
                  <a:srgbClr val="1E2761"/>
                </a:solidFill>
                <a:latin typeface="Calibri"/>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FAFBFF"/>
            </a:gs>
            <a:gs pos="100000">
              <a:srgbClr val="E4ECFC"/>
            </a:gs>
          </a:gsLst>
          <a:lin ang="2700000" scaled="0"/>
        </a:gradFill>
        <a:effectLst/>
      </p:bgPr>
    </p:bg>
    <p:spTree>
      <p:nvGrpSpPr>
        <p:cNvPr id="1" name=""/>
        <p:cNvGrpSpPr/>
        <p:nvPr/>
      </p:nvGrpSpPr>
      <p:grpSpPr>
        <a:xfrm>
          <a:off x="0" y="0"/>
          <a:ext cx="0" cy="0"/>
          <a:chOff x="0" y="0"/>
          <a:chExt cx="0" cy="0"/>
        </a:xfrm>
      </p:grpSpPr>
      <p:sp>
        <p:nvSpPr>
          <p:cNvPr id="9001" name="Decor 9001"/>
          <p:cNvSpPr/>
          <p:nvPr/>
        </p:nvSpPr>
        <p:spPr>
          <a:xfrm>
            <a:off x="8300000" y="-2300000"/>
            <a:ext cx="5200000" cy="5200000"/>
          </a:xfrm>
          <a:prstGeom prst="ellipse">
            <a:avLst/>
          </a:prstGeom>
          <a:solidFill>
            <a:srgbClr val="4A5BC4">
              <a:alpha val="9000"/>
            </a:srgbClr>
          </a:solidFill>
          <a:ln>
            <a:noFill/>
          </a:ln>
        </p:spPr>
        <p:txBody>
          <a:bodyPr/>
          <a:lstStyle/>
          <a:p>
            <a:endParaRPr lang="en-US"/>
          </a:p>
        </p:txBody>
      </p:sp>
      <p:sp>
        <p:nvSpPr>
          <p:cNvPr id="9002" name="Decor 9002"/>
          <p:cNvSpPr/>
          <p:nvPr/>
        </p:nvSpPr>
        <p:spPr>
          <a:xfrm>
            <a:off x="9300000" y="-1500000"/>
            <a:ext cx="3600000" cy="3600000"/>
          </a:xfrm>
          <a:prstGeom prst="ellipse">
            <a:avLst/>
          </a:prstGeom>
          <a:noFill/>
          <a:ln w="19050">
            <a:solidFill>
              <a:srgbClr val="4A5BC4">
                <a:alpha val="22000"/>
              </a:srgbClr>
            </a:solidFill>
          </a:ln>
        </p:spPr>
        <p:txBody>
          <a:bodyPr/>
          <a:lstStyle/>
          <a:p>
            <a:endParaRPr lang="en-US"/>
          </a:p>
        </p:txBody>
      </p:sp>
      <p:sp>
        <p:nvSpPr>
          <p:cNvPr id="9003" name="Decor 9003"/>
          <p:cNvSpPr/>
          <p:nvPr/>
        </p:nvSpPr>
        <p:spPr>
          <a:xfrm>
            <a:off x="-1500000" y="5000000"/>
            <a:ext cx="3300000" cy="3300000"/>
          </a:xfrm>
          <a:prstGeom prst="ellipse">
            <a:avLst/>
          </a:prstGeom>
          <a:solidFill>
            <a:srgbClr val="22D3A6">
              <a:alpha val="9000"/>
            </a:srgbClr>
          </a:solidFill>
          <a:ln>
            <a:noFill/>
          </a:ln>
        </p:spPr>
        <p:txBody>
          <a:bodyPr/>
          <a:lstStyle/>
          <a:p>
            <a:endParaRPr lang="en-US"/>
          </a:p>
        </p:txBody>
      </p:sp>
      <p:sp>
        <p:nvSpPr>
          <p:cNvPr id="9004" name="Decor 9004"/>
          <p:cNvSpPr/>
          <p:nvPr/>
        </p:nvSpPr>
        <p:spPr>
          <a:xfrm>
            <a:off x="-900000" y="5600000"/>
            <a:ext cx="1900000" cy="1900000"/>
          </a:xfrm>
          <a:prstGeom prst="ellipse">
            <a:avLst/>
          </a:prstGeom>
          <a:noFill/>
          <a:ln w="19050">
            <a:solidFill>
              <a:srgbClr val="4A5BC4">
                <a:alpha val="14000"/>
              </a:srgbClr>
            </a:solidFill>
          </a:ln>
        </p:spPr>
        <p:txBody>
          <a:bodyPr/>
          <a:lstStyle/>
          <a:p>
            <a:endParaRPr lang="en-US"/>
          </a:p>
        </p:txBody>
      </p:sp>
      <p:sp>
        <p:nvSpPr>
          <p:cNvPr id="4" name="TextBox 3"/>
          <p:cNvSpPr txBox="1"/>
          <p:nvPr/>
        </p:nvSpPr>
        <p:spPr>
          <a:xfrm>
            <a:off x="640080" y="505649"/>
            <a:ext cx="10881360" cy="566928"/>
          </a:xfrm>
          <a:prstGeom prst="rect">
            <a:avLst/>
          </a:prstGeom>
          <a:noFill/>
        </p:spPr>
        <p:txBody>
          <a:bodyPr wrap="square" lIns="0" tIns="0" rIns="0" bIns="0" anchor="ctr">
            <a:noAutofit/>
          </a:bodyPr>
          <a:lstStyle/>
          <a:p>
            <a:pPr algn="l"/>
            <a:r>
              <a:rPr sz="3000" b="1" i="0">
                <a:solidFill>
                  <a:srgbClr val="1B1F3B"/>
                </a:solidFill>
                <a:latin typeface="Cambria"/>
              </a:rPr>
              <a:t>System Architecture</a:t>
            </a:r>
          </a:p>
        </p:txBody>
      </p:sp>
      <p:sp>
        <p:nvSpPr>
          <p:cNvPr id="5" name="Rounded Rectangle 4"/>
          <p:cNvSpPr/>
          <p:nvPr/>
        </p:nvSpPr>
        <p:spPr>
          <a:xfrm>
            <a:off x="640080" y="1246313"/>
            <a:ext cx="4754880" cy="4828032"/>
          </a:xfrm>
          <a:prstGeom prst="roundRect">
            <a:avLst>
              <a:gd name="adj" fmla="val 1538"/>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pic>
        <p:nvPicPr>
          <p:cNvPr id="6" name="Picture 5" descr="image.png"/>
          <p:cNvPicPr>
            <a:picLocks noChangeAspect="1"/>
          </p:cNvPicPr>
          <p:nvPr/>
        </p:nvPicPr>
        <p:blipFill>
          <a:blip r:embed="rId2"/>
          <a:stretch>
            <a:fillRect/>
          </a:stretch>
        </p:blipFill>
        <p:spPr>
          <a:xfrm>
            <a:off x="1027418" y="1401760"/>
            <a:ext cx="3980202" cy="4517136"/>
          </a:xfrm>
          <a:prstGeom prst="rect">
            <a:avLst/>
          </a:prstGeom>
        </p:spPr>
      </p:pic>
      <p:sp>
        <p:nvSpPr>
          <p:cNvPr id="7" name="Rounded Rectangle 6"/>
          <p:cNvSpPr/>
          <p:nvPr/>
        </p:nvSpPr>
        <p:spPr>
          <a:xfrm>
            <a:off x="5669280" y="1246313"/>
            <a:ext cx="1252728" cy="475488"/>
          </a:xfrm>
          <a:prstGeom prst="roundRect">
            <a:avLst>
              <a:gd name="adj" fmla="val 19230"/>
            </a:avLst>
          </a:prstGeom>
          <a:gradFill rotWithShape="1">
            <a:gsLst>
              <a:gs pos="0">
                <a:srgbClr val="1E2761"/>
              </a:gs>
              <a:gs pos="100000">
                <a:srgbClr val="2F3A9A"/>
              </a:gs>
            </a:gsLst>
            <a:lin ang="2700000" scaled="0"/>
          </a:gradFill>
          <a:ln>
            <a:noFill/>
          </a:ln>
          <a:effectLst>
            <a:outerShdw blurRad="203200" dist="63500" dir="5400000" algn="t" rotWithShape="0">
              <a:srgbClr val="1E2761">
                <a:alpha val="22000"/>
              </a:srgbClr>
            </a:outerShdw>
          </a:effectLst>
        </p:spPr>
        <p:txBody>
          <a:bodyPr rtlCol="0" anchor="ctr"/>
          <a:lstStyle/>
          <a:p>
            <a:pPr algn="ctr"/>
            <a:endParaRPr/>
          </a:p>
        </p:txBody>
      </p:sp>
      <p:sp>
        <p:nvSpPr>
          <p:cNvPr id="8" name="TextBox 7"/>
          <p:cNvSpPr txBox="1"/>
          <p:nvPr/>
        </p:nvSpPr>
        <p:spPr>
          <a:xfrm>
            <a:off x="5669280" y="1246313"/>
            <a:ext cx="1252728" cy="475488"/>
          </a:xfrm>
          <a:prstGeom prst="rect">
            <a:avLst/>
          </a:prstGeom>
          <a:noFill/>
        </p:spPr>
        <p:txBody>
          <a:bodyPr wrap="square" lIns="0" tIns="0" rIns="0" bIns="0" anchor="ctr">
            <a:noAutofit/>
          </a:bodyPr>
          <a:lstStyle/>
          <a:p>
            <a:pPr algn="ctr"/>
            <a:r>
              <a:rPr sz="1300" b="1" i="0">
                <a:solidFill>
                  <a:srgbClr val="FFFFFF"/>
                </a:solidFill>
                <a:latin typeface="Calibri"/>
              </a:rPr>
              <a:t>User</a:t>
            </a:r>
          </a:p>
        </p:txBody>
      </p:sp>
      <p:sp>
        <p:nvSpPr>
          <p:cNvPr id="9" name="Right Arrow 8"/>
          <p:cNvSpPr/>
          <p:nvPr/>
        </p:nvSpPr>
        <p:spPr>
          <a:xfrm>
            <a:off x="6967728" y="1383473"/>
            <a:ext cx="192024" cy="201168"/>
          </a:xfrm>
          <a:prstGeom prst="rightArrow">
            <a:avLst/>
          </a:prstGeom>
          <a:solidFill>
            <a:srgbClr val="6B7394"/>
          </a:solidFill>
          <a:ln>
            <a:noFill/>
          </a:ln>
        </p:spPr>
        <p:txBody>
          <a:bodyPr rtlCol="0" anchor="ctr"/>
          <a:lstStyle/>
          <a:p>
            <a:pPr algn="ctr"/>
            <a:endParaRPr/>
          </a:p>
        </p:txBody>
      </p:sp>
      <p:sp>
        <p:nvSpPr>
          <p:cNvPr id="10" name="Rounded Rectangle 9"/>
          <p:cNvSpPr/>
          <p:nvPr/>
        </p:nvSpPr>
        <p:spPr>
          <a:xfrm>
            <a:off x="7205472" y="1246313"/>
            <a:ext cx="1252728" cy="475488"/>
          </a:xfrm>
          <a:prstGeom prst="roundRect">
            <a:avLst>
              <a:gd name="adj" fmla="val 19230"/>
            </a:avLst>
          </a:prstGeom>
          <a:gradFill rotWithShape="1">
            <a:gsLst>
              <a:gs pos="0">
                <a:srgbClr val="1E2761"/>
              </a:gs>
              <a:gs pos="100000">
                <a:srgbClr val="2F3A9A"/>
              </a:gs>
            </a:gsLst>
            <a:lin ang="2700000" scaled="0"/>
          </a:gradFill>
          <a:ln>
            <a:noFill/>
          </a:ln>
          <a:effectLst>
            <a:outerShdw blurRad="203200" dist="63500" dir="5400000" algn="t" rotWithShape="0">
              <a:srgbClr val="1E2761">
                <a:alpha val="22000"/>
              </a:srgbClr>
            </a:outerShdw>
          </a:effectLst>
        </p:spPr>
        <p:txBody>
          <a:bodyPr rtlCol="0" anchor="ctr"/>
          <a:lstStyle/>
          <a:p>
            <a:pPr algn="ctr"/>
            <a:endParaRPr/>
          </a:p>
        </p:txBody>
      </p:sp>
      <p:sp>
        <p:nvSpPr>
          <p:cNvPr id="11" name="TextBox 10"/>
          <p:cNvSpPr txBox="1"/>
          <p:nvPr/>
        </p:nvSpPr>
        <p:spPr>
          <a:xfrm>
            <a:off x="7205472" y="1246313"/>
            <a:ext cx="1252728" cy="475488"/>
          </a:xfrm>
          <a:prstGeom prst="rect">
            <a:avLst/>
          </a:prstGeom>
          <a:noFill/>
        </p:spPr>
        <p:txBody>
          <a:bodyPr wrap="square" lIns="0" tIns="0" rIns="0" bIns="0" anchor="ctr">
            <a:noAutofit/>
          </a:bodyPr>
          <a:lstStyle/>
          <a:p>
            <a:pPr algn="ctr"/>
            <a:r>
              <a:rPr sz="1300" b="1" i="0">
                <a:solidFill>
                  <a:srgbClr val="FFFFFF"/>
                </a:solidFill>
                <a:latin typeface="Calibri"/>
              </a:rPr>
              <a:t>Frontend</a:t>
            </a:r>
          </a:p>
        </p:txBody>
      </p:sp>
      <p:sp>
        <p:nvSpPr>
          <p:cNvPr id="12" name="Right Arrow 11"/>
          <p:cNvSpPr/>
          <p:nvPr/>
        </p:nvSpPr>
        <p:spPr>
          <a:xfrm>
            <a:off x="8503920" y="1383473"/>
            <a:ext cx="192024" cy="201168"/>
          </a:xfrm>
          <a:prstGeom prst="rightArrow">
            <a:avLst/>
          </a:prstGeom>
          <a:solidFill>
            <a:srgbClr val="6B7394"/>
          </a:solidFill>
          <a:ln>
            <a:noFill/>
          </a:ln>
        </p:spPr>
        <p:txBody>
          <a:bodyPr rtlCol="0" anchor="ctr"/>
          <a:lstStyle/>
          <a:p>
            <a:pPr algn="ctr"/>
            <a:endParaRPr/>
          </a:p>
        </p:txBody>
      </p:sp>
      <p:sp>
        <p:nvSpPr>
          <p:cNvPr id="13" name="Rounded Rectangle 12"/>
          <p:cNvSpPr/>
          <p:nvPr/>
        </p:nvSpPr>
        <p:spPr>
          <a:xfrm>
            <a:off x="8741664" y="1246313"/>
            <a:ext cx="1252728" cy="475488"/>
          </a:xfrm>
          <a:prstGeom prst="roundRect">
            <a:avLst>
              <a:gd name="adj" fmla="val 19230"/>
            </a:avLst>
          </a:prstGeom>
          <a:gradFill rotWithShape="1">
            <a:gsLst>
              <a:gs pos="0">
                <a:srgbClr val="1E2761"/>
              </a:gs>
              <a:gs pos="100000">
                <a:srgbClr val="2F3A9A"/>
              </a:gs>
            </a:gsLst>
            <a:lin ang="2700000" scaled="0"/>
          </a:gradFill>
          <a:ln>
            <a:noFill/>
          </a:ln>
          <a:effectLst>
            <a:outerShdw blurRad="203200" dist="63500" dir="5400000" algn="t" rotWithShape="0">
              <a:srgbClr val="1E2761">
                <a:alpha val="22000"/>
              </a:srgbClr>
            </a:outerShdw>
          </a:effectLst>
        </p:spPr>
        <p:txBody>
          <a:bodyPr rtlCol="0" anchor="ctr"/>
          <a:lstStyle/>
          <a:p>
            <a:pPr algn="ctr"/>
            <a:endParaRPr/>
          </a:p>
        </p:txBody>
      </p:sp>
      <p:sp>
        <p:nvSpPr>
          <p:cNvPr id="14" name="TextBox 13"/>
          <p:cNvSpPr txBox="1"/>
          <p:nvPr/>
        </p:nvSpPr>
        <p:spPr>
          <a:xfrm>
            <a:off x="8741664" y="1246313"/>
            <a:ext cx="1252728" cy="475488"/>
          </a:xfrm>
          <a:prstGeom prst="rect">
            <a:avLst/>
          </a:prstGeom>
          <a:noFill/>
        </p:spPr>
        <p:txBody>
          <a:bodyPr wrap="square" lIns="0" tIns="0" rIns="0" bIns="0" anchor="ctr">
            <a:noAutofit/>
          </a:bodyPr>
          <a:lstStyle/>
          <a:p>
            <a:pPr algn="ctr"/>
            <a:r>
              <a:rPr sz="1300" b="1" i="0">
                <a:solidFill>
                  <a:srgbClr val="FFFFFF"/>
                </a:solidFill>
                <a:latin typeface="Calibri"/>
              </a:rPr>
              <a:t>Backend</a:t>
            </a:r>
          </a:p>
        </p:txBody>
      </p:sp>
      <p:sp>
        <p:nvSpPr>
          <p:cNvPr id="15" name="Right Arrow 14"/>
          <p:cNvSpPr/>
          <p:nvPr/>
        </p:nvSpPr>
        <p:spPr>
          <a:xfrm>
            <a:off x="10040112" y="1383473"/>
            <a:ext cx="192024" cy="201168"/>
          </a:xfrm>
          <a:prstGeom prst="rightArrow">
            <a:avLst/>
          </a:prstGeom>
          <a:solidFill>
            <a:srgbClr val="6B7394"/>
          </a:solidFill>
          <a:ln>
            <a:noFill/>
          </a:ln>
        </p:spPr>
        <p:txBody>
          <a:bodyPr rtlCol="0" anchor="ctr"/>
          <a:lstStyle/>
          <a:p>
            <a:pPr algn="ctr"/>
            <a:endParaRPr/>
          </a:p>
        </p:txBody>
      </p:sp>
      <p:sp>
        <p:nvSpPr>
          <p:cNvPr id="16" name="Rounded Rectangle 15"/>
          <p:cNvSpPr/>
          <p:nvPr/>
        </p:nvSpPr>
        <p:spPr>
          <a:xfrm>
            <a:off x="10277856" y="1246313"/>
            <a:ext cx="1252728" cy="475488"/>
          </a:xfrm>
          <a:prstGeom prst="roundRect">
            <a:avLst>
              <a:gd name="adj" fmla="val 19230"/>
            </a:avLst>
          </a:prstGeom>
          <a:gradFill rotWithShape="1">
            <a:gsLst>
              <a:gs pos="0">
                <a:srgbClr val="1E2761"/>
              </a:gs>
              <a:gs pos="100000">
                <a:srgbClr val="2F3A9A"/>
              </a:gs>
            </a:gsLst>
            <a:lin ang="2700000" scaled="0"/>
          </a:gradFill>
          <a:ln>
            <a:noFill/>
          </a:ln>
          <a:effectLst>
            <a:outerShdw blurRad="203200" dist="63500" dir="5400000" algn="t" rotWithShape="0">
              <a:srgbClr val="1E2761">
                <a:alpha val="22000"/>
              </a:srgbClr>
            </a:outerShdw>
          </a:effectLst>
        </p:spPr>
        <p:txBody>
          <a:bodyPr rtlCol="0" anchor="ctr"/>
          <a:lstStyle/>
          <a:p>
            <a:pPr algn="ctr"/>
            <a:endParaRPr/>
          </a:p>
        </p:txBody>
      </p:sp>
      <p:sp>
        <p:nvSpPr>
          <p:cNvPr id="17" name="TextBox 16"/>
          <p:cNvSpPr txBox="1"/>
          <p:nvPr/>
        </p:nvSpPr>
        <p:spPr>
          <a:xfrm>
            <a:off x="10277856" y="1246313"/>
            <a:ext cx="1252728" cy="475488"/>
          </a:xfrm>
          <a:prstGeom prst="rect">
            <a:avLst/>
          </a:prstGeom>
          <a:noFill/>
        </p:spPr>
        <p:txBody>
          <a:bodyPr wrap="square" lIns="0" tIns="0" rIns="0" bIns="0" anchor="ctr">
            <a:noAutofit/>
          </a:bodyPr>
          <a:lstStyle/>
          <a:p>
            <a:pPr algn="ctr"/>
            <a:r>
              <a:rPr sz="1300" b="1" i="0">
                <a:solidFill>
                  <a:srgbClr val="FFFFFF"/>
                </a:solidFill>
                <a:latin typeface="Calibri"/>
              </a:rPr>
              <a:t>Database</a:t>
            </a:r>
          </a:p>
        </p:txBody>
      </p:sp>
      <p:sp>
        <p:nvSpPr>
          <p:cNvPr id="18" name="Rounded Rectangle 17"/>
          <p:cNvSpPr/>
          <p:nvPr/>
        </p:nvSpPr>
        <p:spPr>
          <a:xfrm>
            <a:off x="5669280" y="1932113"/>
            <a:ext cx="5879592" cy="731520"/>
          </a:xfrm>
          <a:prstGeom prst="roundRect">
            <a:avLst>
              <a:gd name="adj" fmla="val 10000"/>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19" name="Oval 18"/>
          <p:cNvSpPr/>
          <p:nvPr/>
        </p:nvSpPr>
        <p:spPr>
          <a:xfrm>
            <a:off x="5833872" y="2060129"/>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20" name="Picture 19" descr="image.png"/>
          <p:cNvPicPr>
            <a:picLocks noChangeAspect="1"/>
          </p:cNvPicPr>
          <p:nvPr/>
        </p:nvPicPr>
        <p:blipFill>
          <a:blip r:embed="rId3"/>
          <a:stretch>
            <a:fillRect/>
          </a:stretch>
        </p:blipFill>
        <p:spPr>
          <a:xfrm>
            <a:off x="5933724" y="2159981"/>
            <a:ext cx="275783" cy="275783"/>
          </a:xfrm>
          <a:prstGeom prst="rect">
            <a:avLst/>
          </a:prstGeom>
        </p:spPr>
      </p:pic>
      <p:sp>
        <p:nvSpPr>
          <p:cNvPr id="21" name="TextBox 20"/>
          <p:cNvSpPr txBox="1"/>
          <p:nvPr/>
        </p:nvSpPr>
        <p:spPr>
          <a:xfrm>
            <a:off x="6510528" y="1996121"/>
            <a:ext cx="4892040" cy="256032"/>
          </a:xfrm>
          <a:prstGeom prst="rect">
            <a:avLst/>
          </a:prstGeom>
          <a:noFill/>
        </p:spPr>
        <p:txBody>
          <a:bodyPr wrap="square" lIns="0" tIns="0" rIns="0" bIns="0" anchor="ctr">
            <a:noAutofit/>
          </a:bodyPr>
          <a:lstStyle/>
          <a:p>
            <a:pPr algn="l"/>
            <a:r>
              <a:rPr sz="1350" b="1" i="0">
                <a:solidFill>
                  <a:srgbClr val="1B1F3B"/>
                </a:solidFill>
                <a:latin typeface="Calibri"/>
              </a:rPr>
              <a:t>User Interaction</a:t>
            </a:r>
          </a:p>
        </p:txBody>
      </p:sp>
      <p:sp>
        <p:nvSpPr>
          <p:cNvPr id="22" name="TextBox 21"/>
          <p:cNvSpPr txBox="1"/>
          <p:nvPr/>
        </p:nvSpPr>
        <p:spPr>
          <a:xfrm>
            <a:off x="6510528" y="2261297"/>
            <a:ext cx="4892040" cy="365760"/>
          </a:xfrm>
          <a:prstGeom prst="rect">
            <a:avLst/>
          </a:prstGeom>
          <a:noFill/>
        </p:spPr>
        <p:txBody>
          <a:bodyPr wrap="square" lIns="0" tIns="0" rIns="0" bIns="0" anchor="t">
            <a:noAutofit/>
          </a:bodyPr>
          <a:lstStyle/>
          <a:p>
            <a:pPr algn="l"/>
            <a:r>
              <a:rPr sz="1150" b="0" i="0">
                <a:solidFill>
                  <a:srgbClr val="0B1220"/>
                </a:solidFill>
                <a:latin typeface="Calibri"/>
              </a:rPr>
              <a:t>Candidates, HR and admin use browser pages for login, tests and dashboards.</a:t>
            </a:r>
          </a:p>
        </p:txBody>
      </p:sp>
      <p:sp>
        <p:nvSpPr>
          <p:cNvPr id="23" name="Rounded Rectangle 22"/>
          <p:cNvSpPr/>
          <p:nvPr/>
        </p:nvSpPr>
        <p:spPr>
          <a:xfrm>
            <a:off x="5669280" y="2764217"/>
            <a:ext cx="5879592" cy="731520"/>
          </a:xfrm>
          <a:prstGeom prst="roundRect">
            <a:avLst>
              <a:gd name="adj" fmla="val 10000"/>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24" name="Oval 23"/>
          <p:cNvSpPr/>
          <p:nvPr/>
        </p:nvSpPr>
        <p:spPr>
          <a:xfrm>
            <a:off x="5833872" y="2892233"/>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25" name="Picture 24" descr="image.png"/>
          <p:cNvPicPr>
            <a:picLocks noChangeAspect="1"/>
          </p:cNvPicPr>
          <p:nvPr/>
        </p:nvPicPr>
        <p:blipFill>
          <a:blip r:embed="rId4"/>
          <a:stretch>
            <a:fillRect/>
          </a:stretch>
        </p:blipFill>
        <p:spPr>
          <a:xfrm>
            <a:off x="5933724" y="2992085"/>
            <a:ext cx="275783" cy="275783"/>
          </a:xfrm>
          <a:prstGeom prst="rect">
            <a:avLst/>
          </a:prstGeom>
        </p:spPr>
      </p:pic>
      <p:sp>
        <p:nvSpPr>
          <p:cNvPr id="26" name="TextBox 25"/>
          <p:cNvSpPr txBox="1"/>
          <p:nvPr/>
        </p:nvSpPr>
        <p:spPr>
          <a:xfrm>
            <a:off x="6510528" y="2828225"/>
            <a:ext cx="4892040" cy="256032"/>
          </a:xfrm>
          <a:prstGeom prst="rect">
            <a:avLst/>
          </a:prstGeom>
          <a:noFill/>
        </p:spPr>
        <p:txBody>
          <a:bodyPr wrap="square" lIns="0" tIns="0" rIns="0" bIns="0" anchor="ctr">
            <a:noAutofit/>
          </a:bodyPr>
          <a:lstStyle/>
          <a:p>
            <a:pPr algn="l"/>
            <a:r>
              <a:rPr sz="1350" b="1" i="0">
                <a:solidFill>
                  <a:srgbClr val="1B1F3B"/>
                </a:solidFill>
                <a:latin typeface="Calibri"/>
              </a:rPr>
              <a:t>Application Layer</a:t>
            </a:r>
          </a:p>
        </p:txBody>
      </p:sp>
      <p:sp>
        <p:nvSpPr>
          <p:cNvPr id="27" name="TextBox 26"/>
          <p:cNvSpPr txBox="1"/>
          <p:nvPr/>
        </p:nvSpPr>
        <p:spPr>
          <a:xfrm>
            <a:off x="6510528" y="3093401"/>
            <a:ext cx="4892040" cy="365760"/>
          </a:xfrm>
          <a:prstGeom prst="rect">
            <a:avLst/>
          </a:prstGeom>
          <a:noFill/>
        </p:spPr>
        <p:txBody>
          <a:bodyPr wrap="square" lIns="0" tIns="0" rIns="0" bIns="0" anchor="t">
            <a:noAutofit/>
          </a:bodyPr>
          <a:lstStyle/>
          <a:p>
            <a:pPr algn="l"/>
            <a:r>
              <a:rPr sz="1150" b="0" i="0">
                <a:solidFill>
                  <a:srgbClr val="0B1220"/>
                </a:solidFill>
                <a:latin typeface="Calibri"/>
              </a:rPr>
              <a:t>HTML, CSS, Bootstrap and JavaScript front end (presentation layer).</a:t>
            </a:r>
          </a:p>
        </p:txBody>
      </p:sp>
      <p:sp>
        <p:nvSpPr>
          <p:cNvPr id="28" name="Rounded Rectangle 27"/>
          <p:cNvSpPr/>
          <p:nvPr/>
        </p:nvSpPr>
        <p:spPr>
          <a:xfrm>
            <a:off x="5669280" y="3596321"/>
            <a:ext cx="5879592" cy="731520"/>
          </a:xfrm>
          <a:prstGeom prst="roundRect">
            <a:avLst>
              <a:gd name="adj" fmla="val 10000"/>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29" name="Oval 28"/>
          <p:cNvSpPr/>
          <p:nvPr/>
        </p:nvSpPr>
        <p:spPr>
          <a:xfrm>
            <a:off x="5833872" y="3724337"/>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30" name="Picture 29" descr="image.png"/>
          <p:cNvPicPr>
            <a:picLocks noChangeAspect="1"/>
          </p:cNvPicPr>
          <p:nvPr/>
        </p:nvPicPr>
        <p:blipFill>
          <a:blip r:embed="rId5"/>
          <a:stretch>
            <a:fillRect/>
          </a:stretch>
        </p:blipFill>
        <p:spPr>
          <a:xfrm>
            <a:off x="5933724" y="3824189"/>
            <a:ext cx="275783" cy="275783"/>
          </a:xfrm>
          <a:prstGeom prst="rect">
            <a:avLst/>
          </a:prstGeom>
        </p:spPr>
      </p:pic>
      <p:sp>
        <p:nvSpPr>
          <p:cNvPr id="31" name="TextBox 30"/>
          <p:cNvSpPr txBox="1"/>
          <p:nvPr/>
        </p:nvSpPr>
        <p:spPr>
          <a:xfrm>
            <a:off x="6510528" y="3660329"/>
            <a:ext cx="4892040" cy="256032"/>
          </a:xfrm>
          <a:prstGeom prst="rect">
            <a:avLst/>
          </a:prstGeom>
          <a:noFill/>
        </p:spPr>
        <p:txBody>
          <a:bodyPr wrap="square" lIns="0" tIns="0" rIns="0" bIns="0" anchor="ctr">
            <a:noAutofit/>
          </a:bodyPr>
          <a:lstStyle/>
          <a:p>
            <a:pPr algn="l"/>
            <a:r>
              <a:rPr sz="1350" b="1" i="0">
                <a:solidFill>
                  <a:srgbClr val="1B1F3B"/>
                </a:solidFill>
                <a:latin typeface="Calibri"/>
              </a:rPr>
              <a:t>Business Logic</a:t>
            </a:r>
          </a:p>
        </p:txBody>
      </p:sp>
      <p:sp>
        <p:nvSpPr>
          <p:cNvPr id="32" name="TextBox 31"/>
          <p:cNvSpPr txBox="1"/>
          <p:nvPr/>
        </p:nvSpPr>
        <p:spPr>
          <a:xfrm>
            <a:off x="6510528" y="3925505"/>
            <a:ext cx="4892040" cy="365760"/>
          </a:xfrm>
          <a:prstGeom prst="rect">
            <a:avLst/>
          </a:prstGeom>
          <a:noFill/>
        </p:spPr>
        <p:txBody>
          <a:bodyPr wrap="square" lIns="0" tIns="0" rIns="0" bIns="0" anchor="t">
            <a:noAutofit/>
          </a:bodyPr>
          <a:lstStyle/>
          <a:p>
            <a:pPr algn="l"/>
            <a:r>
              <a:rPr sz="1150" b="0" i="0">
                <a:solidFill>
                  <a:srgbClr val="0B1220"/>
                </a:solidFill>
                <a:latin typeface="Calibri"/>
              </a:rPr>
              <a:t>Django views and routing run the resume, aptitude and personality modules and the scoring engine.</a:t>
            </a:r>
          </a:p>
        </p:txBody>
      </p:sp>
      <p:sp>
        <p:nvSpPr>
          <p:cNvPr id="33" name="Rounded Rectangle 32"/>
          <p:cNvSpPr/>
          <p:nvPr/>
        </p:nvSpPr>
        <p:spPr>
          <a:xfrm>
            <a:off x="5669280" y="4428425"/>
            <a:ext cx="5879592" cy="731520"/>
          </a:xfrm>
          <a:prstGeom prst="roundRect">
            <a:avLst>
              <a:gd name="adj" fmla="val 10000"/>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34" name="Oval 33"/>
          <p:cNvSpPr/>
          <p:nvPr/>
        </p:nvSpPr>
        <p:spPr>
          <a:xfrm>
            <a:off x="5833872" y="4556441"/>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35" name="Picture 34" descr="image.png"/>
          <p:cNvPicPr>
            <a:picLocks noChangeAspect="1"/>
          </p:cNvPicPr>
          <p:nvPr/>
        </p:nvPicPr>
        <p:blipFill>
          <a:blip r:embed="rId6"/>
          <a:stretch>
            <a:fillRect/>
          </a:stretch>
        </p:blipFill>
        <p:spPr>
          <a:xfrm>
            <a:off x="5933724" y="4656293"/>
            <a:ext cx="275783" cy="275783"/>
          </a:xfrm>
          <a:prstGeom prst="rect">
            <a:avLst/>
          </a:prstGeom>
        </p:spPr>
      </p:pic>
      <p:sp>
        <p:nvSpPr>
          <p:cNvPr id="36" name="TextBox 35"/>
          <p:cNvSpPr txBox="1"/>
          <p:nvPr/>
        </p:nvSpPr>
        <p:spPr>
          <a:xfrm>
            <a:off x="6510528" y="4492433"/>
            <a:ext cx="4892040" cy="256032"/>
          </a:xfrm>
          <a:prstGeom prst="rect">
            <a:avLst/>
          </a:prstGeom>
          <a:noFill/>
        </p:spPr>
        <p:txBody>
          <a:bodyPr wrap="square" lIns="0" tIns="0" rIns="0" bIns="0" anchor="ctr">
            <a:noAutofit/>
          </a:bodyPr>
          <a:lstStyle/>
          <a:p>
            <a:pPr algn="l"/>
            <a:r>
              <a:rPr sz="1350" b="1" i="0">
                <a:solidFill>
                  <a:srgbClr val="1B1F3B"/>
                </a:solidFill>
                <a:latin typeface="Calibri"/>
              </a:rPr>
              <a:t>Database Layer</a:t>
            </a:r>
          </a:p>
        </p:txBody>
      </p:sp>
      <p:sp>
        <p:nvSpPr>
          <p:cNvPr id="37" name="TextBox 36"/>
          <p:cNvSpPr txBox="1"/>
          <p:nvPr/>
        </p:nvSpPr>
        <p:spPr>
          <a:xfrm>
            <a:off x="6510528" y="4757609"/>
            <a:ext cx="4892040" cy="365760"/>
          </a:xfrm>
          <a:prstGeom prst="rect">
            <a:avLst/>
          </a:prstGeom>
          <a:noFill/>
        </p:spPr>
        <p:txBody>
          <a:bodyPr wrap="square" lIns="0" tIns="0" rIns="0" bIns="0" anchor="t">
            <a:noAutofit/>
          </a:bodyPr>
          <a:lstStyle/>
          <a:p>
            <a:pPr algn="l"/>
            <a:r>
              <a:rPr sz="1150" b="0" i="0" dirty="0">
                <a:solidFill>
                  <a:srgbClr val="0B1220"/>
                </a:solidFill>
                <a:latin typeface="Calibri"/>
              </a:rPr>
              <a:t>Stores users, jobs, resumes, test responses and scores.</a:t>
            </a:r>
          </a:p>
        </p:txBody>
      </p:sp>
      <p:sp>
        <p:nvSpPr>
          <p:cNvPr id="38" name="Rounded Rectangle 37"/>
          <p:cNvSpPr/>
          <p:nvPr/>
        </p:nvSpPr>
        <p:spPr>
          <a:xfrm>
            <a:off x="5669280" y="5260529"/>
            <a:ext cx="5879592" cy="731520"/>
          </a:xfrm>
          <a:prstGeom prst="roundRect">
            <a:avLst>
              <a:gd name="adj" fmla="val 10000"/>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39" name="Oval 38"/>
          <p:cNvSpPr/>
          <p:nvPr/>
        </p:nvSpPr>
        <p:spPr>
          <a:xfrm>
            <a:off x="5833872" y="5388545"/>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40" name="Picture 39" descr="image.png"/>
          <p:cNvPicPr>
            <a:picLocks noChangeAspect="1"/>
          </p:cNvPicPr>
          <p:nvPr/>
        </p:nvPicPr>
        <p:blipFill>
          <a:blip r:embed="rId7"/>
          <a:stretch>
            <a:fillRect/>
          </a:stretch>
        </p:blipFill>
        <p:spPr>
          <a:xfrm>
            <a:off x="5933724" y="5488397"/>
            <a:ext cx="275783" cy="275783"/>
          </a:xfrm>
          <a:prstGeom prst="rect">
            <a:avLst/>
          </a:prstGeom>
        </p:spPr>
      </p:pic>
      <p:sp>
        <p:nvSpPr>
          <p:cNvPr id="41" name="TextBox 40"/>
          <p:cNvSpPr txBox="1"/>
          <p:nvPr/>
        </p:nvSpPr>
        <p:spPr>
          <a:xfrm>
            <a:off x="6510528" y="5324537"/>
            <a:ext cx="4892040" cy="256032"/>
          </a:xfrm>
          <a:prstGeom prst="rect">
            <a:avLst/>
          </a:prstGeom>
          <a:noFill/>
        </p:spPr>
        <p:txBody>
          <a:bodyPr wrap="square" lIns="0" tIns="0" rIns="0" bIns="0" anchor="ctr">
            <a:noAutofit/>
          </a:bodyPr>
          <a:lstStyle/>
          <a:p>
            <a:pPr algn="l"/>
            <a:r>
              <a:rPr sz="1350" b="1" i="0">
                <a:solidFill>
                  <a:srgbClr val="1B1F3B"/>
                </a:solidFill>
                <a:latin typeface="Calibri"/>
              </a:rPr>
              <a:t>External APIs / Services</a:t>
            </a:r>
          </a:p>
        </p:txBody>
      </p:sp>
      <p:sp>
        <p:nvSpPr>
          <p:cNvPr id="42" name="TextBox 41"/>
          <p:cNvSpPr txBox="1"/>
          <p:nvPr/>
        </p:nvSpPr>
        <p:spPr>
          <a:xfrm>
            <a:off x="6510528" y="5589713"/>
            <a:ext cx="4892040" cy="365760"/>
          </a:xfrm>
          <a:prstGeom prst="rect">
            <a:avLst/>
          </a:prstGeom>
          <a:noFill/>
        </p:spPr>
        <p:txBody>
          <a:bodyPr wrap="square" lIns="0" tIns="0" rIns="0" bIns="0" anchor="t">
            <a:noAutofit/>
          </a:bodyPr>
          <a:lstStyle/>
          <a:p>
            <a:r>
              <a:rPr lang="en-IN" sz="1150" dirty="0"/>
              <a:t>Resume Parser API is integrated for resume data extraction. The extracted information is processed by Django for evaluation and scoring</a:t>
            </a:r>
            <a:r>
              <a:rPr lang="en-IN" sz="1200" dirty="0"/>
              <a:t>.</a:t>
            </a:r>
            <a:endParaRPr sz="1150" b="0" i="0" dirty="0">
              <a:solidFill>
                <a:srgbClr val="0B1220"/>
              </a:solidFill>
              <a:latin typeface="Calibri"/>
            </a:endParaRPr>
          </a:p>
        </p:txBody>
      </p:sp>
      <p:sp>
        <p:nvSpPr>
          <p:cNvPr id="43" name="TextBox 42"/>
          <p:cNvSpPr txBox="1"/>
          <p:nvPr/>
        </p:nvSpPr>
        <p:spPr>
          <a:xfrm>
            <a:off x="640080" y="6537960"/>
            <a:ext cx="2926080" cy="201168"/>
          </a:xfrm>
          <a:prstGeom prst="rect">
            <a:avLst/>
          </a:prstGeom>
          <a:noFill/>
        </p:spPr>
        <p:txBody>
          <a:bodyPr wrap="square" lIns="0" tIns="0" rIns="0" bIns="0" anchor="ctr">
            <a:noAutofit/>
          </a:bodyPr>
          <a:lstStyle/>
          <a:p>
            <a:pPr algn="l"/>
            <a:r>
              <a:rPr sz="1000" b="1" i="0">
                <a:solidFill>
                  <a:srgbClr val="002060"/>
                </a:solidFill>
                <a:latin typeface="Calibri"/>
              </a:rPr>
              <a:t>INTELLIGENT HIRING SYSTEM</a:t>
            </a:r>
          </a:p>
        </p:txBody>
      </p:sp>
      <p:sp>
        <p:nvSpPr>
          <p:cNvPr id="44" name="Oval 43"/>
          <p:cNvSpPr/>
          <p:nvPr/>
        </p:nvSpPr>
        <p:spPr>
          <a:xfrm>
            <a:off x="11256264" y="6492240"/>
            <a:ext cx="292608" cy="292608"/>
          </a:xfrm>
          <a:prstGeom prst="ellipse">
            <a:avLst/>
          </a:prstGeom>
          <a:solidFill>
            <a:srgbClr val="F4F7FE"/>
          </a:solidFill>
          <a:ln>
            <a:noFill/>
          </a:ln>
        </p:spPr>
        <p:txBody>
          <a:bodyPr rtlCol="0" anchor="ctr"/>
          <a:lstStyle/>
          <a:p>
            <a:pPr algn="ctr"/>
            <a:endParaRPr/>
          </a:p>
        </p:txBody>
      </p:sp>
      <p:sp>
        <p:nvSpPr>
          <p:cNvPr id="45" name="TextBox 44"/>
          <p:cNvSpPr txBox="1"/>
          <p:nvPr/>
        </p:nvSpPr>
        <p:spPr>
          <a:xfrm>
            <a:off x="11256264" y="6492240"/>
            <a:ext cx="292608" cy="292608"/>
          </a:xfrm>
          <a:prstGeom prst="rect">
            <a:avLst/>
          </a:prstGeom>
          <a:noFill/>
        </p:spPr>
        <p:txBody>
          <a:bodyPr wrap="square" lIns="0" tIns="0" rIns="0" bIns="0" anchor="ctr">
            <a:noAutofit/>
          </a:bodyPr>
          <a:lstStyle/>
          <a:p>
            <a:pPr algn="ctr"/>
            <a:r>
              <a:rPr sz="950" b="1" i="0">
                <a:solidFill>
                  <a:srgbClr val="1E2761"/>
                </a:solidFill>
                <a:latin typeface="Calibri"/>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gradFill rotWithShape="1">
          <a:gsLst>
            <a:gs pos="0">
              <a:srgbClr val="FAFBFF"/>
            </a:gs>
            <a:gs pos="100000">
              <a:srgbClr val="E4ECFC"/>
            </a:gs>
          </a:gsLst>
          <a:lin ang="2700000" scaled="0"/>
        </a:gradFill>
        <a:effectLst/>
      </p:bgPr>
    </p:bg>
    <p:spTree>
      <p:nvGrpSpPr>
        <p:cNvPr id="1" name=""/>
        <p:cNvGrpSpPr/>
        <p:nvPr/>
      </p:nvGrpSpPr>
      <p:grpSpPr>
        <a:xfrm>
          <a:off x="0" y="0"/>
          <a:ext cx="0" cy="0"/>
          <a:chOff x="0" y="0"/>
          <a:chExt cx="0" cy="0"/>
        </a:xfrm>
      </p:grpSpPr>
      <p:sp>
        <p:nvSpPr>
          <p:cNvPr id="4" name="Text 2"/>
          <p:cNvSpPr/>
          <p:nvPr/>
        </p:nvSpPr>
        <p:spPr>
          <a:xfrm>
            <a:off x="640080" y="786384"/>
            <a:ext cx="9601200" cy="566928"/>
          </a:xfrm>
          <a:prstGeom prst="rect">
            <a:avLst/>
          </a:prstGeom>
          <a:noFill/>
          <a:ln/>
        </p:spPr>
        <p:txBody>
          <a:bodyPr wrap="square" lIns="0" tIns="0" rIns="0" bIns="0"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DFD – Level 0</a:t>
            </a:r>
            <a:endParaRPr lang="en-US" sz="3000" dirty="0"/>
          </a:p>
        </p:txBody>
      </p:sp>
      <p:sp>
        <p:nvSpPr>
          <p:cNvPr id="13" name="Shape 10"/>
          <p:cNvSpPr/>
          <p:nvPr/>
        </p:nvSpPr>
        <p:spPr>
          <a:xfrm>
            <a:off x="11256264" y="6492240"/>
            <a:ext cx="292608" cy="292608"/>
          </a:xfrm>
          <a:prstGeom prst="ellipse">
            <a:avLst/>
          </a:prstGeom>
          <a:solidFill>
            <a:srgbClr val="F4F7FE"/>
          </a:solidFill>
          <a:ln/>
        </p:spPr>
        <p:txBody>
          <a:bodyPr/>
          <a:lstStyle/>
          <a:p>
            <a:endParaRPr/>
          </a:p>
        </p:txBody>
      </p:sp>
      <p:sp>
        <p:nvSpPr>
          <p:cNvPr id="14" name="Text 11"/>
          <p:cNvSpPr/>
          <p:nvPr/>
        </p:nvSpPr>
        <p:spPr>
          <a:xfrm>
            <a:off x="11256264" y="6492240"/>
            <a:ext cx="292608" cy="292608"/>
          </a:xfrm>
          <a:prstGeom prst="rect">
            <a:avLst/>
          </a:prstGeom>
          <a:noFill/>
          <a:ln/>
        </p:spPr>
        <p:txBody>
          <a:bodyPr wrap="square" lIns="0" tIns="0" rIns="0" bIns="0" rtlCol="0" anchor="ctr"/>
          <a:lstStyle/>
          <a:p>
            <a:pPr marL="0" indent="0" algn="ctr">
              <a:buNone/>
            </a:pPr>
            <a:r>
              <a:rPr lang="en-US" sz="950" b="1" dirty="0">
                <a:solidFill>
                  <a:srgbClr val="1E2761"/>
                </a:solidFill>
                <a:latin typeface="Calibri" pitchFamily="34" charset="0"/>
                <a:ea typeface="Calibri" pitchFamily="34" charset="-122"/>
                <a:cs typeface="Calibri" pitchFamily="34" charset="-120"/>
              </a:rPr>
              <a:t>13</a:t>
            </a:r>
            <a:endParaRPr lang="en-US" sz="950" dirty="0"/>
          </a:p>
        </p:txBody>
      </p:sp>
      <p:sp>
        <p:nvSpPr>
          <p:cNvPr id="9100" name="Diagram Frame"/>
          <p:cNvSpPr/>
          <p:nvPr/>
        </p:nvSpPr>
        <p:spPr>
          <a:xfrm>
            <a:off x="2879326" y="2690350"/>
            <a:ext cx="6430300" cy="1477300"/>
          </a:xfrm>
          <a:prstGeom prst="roundRect">
            <a:avLst>
              <a:gd name="adj" fmla="val 2500"/>
            </a:avLst>
          </a:prstGeom>
          <a:solidFill>
            <a:srgbClr val="FFFFFF"/>
          </a:solidFill>
          <a:ln w="9525">
            <a:solidFill>
              <a:srgbClr val="C9D3EE"/>
            </a:solidFill>
          </a:ln>
          <a:effectLst>
            <a:outerShdw blurRad="203200" dist="63500" dir="5400000" algn="t" rotWithShape="0">
              <a:srgbClr val="1E2761">
                <a:alpha val="16000"/>
              </a:srgbClr>
            </a:outerShdw>
          </a:effectLst>
        </p:spPr>
        <p:txBody>
          <a:bodyPr/>
          <a:lstStyle/>
          <a:p>
            <a:endParaRPr lang="en-US"/>
          </a:p>
        </p:txBody>
      </p:sp>
      <p:pic>
        <p:nvPicPr>
          <p:cNvPr id="16" name="Picture 15">
            <a:extLst>
              <a:ext uri="{FF2B5EF4-FFF2-40B4-BE49-F238E27FC236}">
                <a16:creationId xmlns:a16="http://schemas.microsoft.com/office/drawing/2014/main" id="{89B84A91-80EA-D56E-DB9A-A1C7264DDC1C}"/>
              </a:ext>
            </a:extLst>
          </p:cNvPr>
          <p:cNvPicPr>
            <a:picLocks noChangeAspect="1"/>
          </p:cNvPicPr>
          <p:nvPr/>
        </p:nvPicPr>
        <p:blipFill>
          <a:blip r:embed="rId3"/>
          <a:stretch>
            <a:fillRect/>
          </a:stretch>
        </p:blipFill>
        <p:spPr>
          <a:xfrm>
            <a:off x="2989326" y="2800350"/>
            <a:ext cx="6210300" cy="1257300"/>
          </a:xfrm>
          <a:prstGeom prst="rect">
            <a:avLst/>
          </a:prstGeom>
        </p:spPr>
      </p:pic>
      <p:sp>
        <p:nvSpPr>
          <p:cNvPr id="7" name="Text 28">
            <a:extLst>
              <a:ext uri="{FF2B5EF4-FFF2-40B4-BE49-F238E27FC236}">
                <a16:creationId xmlns:a16="http://schemas.microsoft.com/office/drawing/2014/main" id="{7C9FA6F1-10B0-07B9-73E1-62D0F656D22E}"/>
              </a:ext>
            </a:extLst>
          </p:cNvPr>
          <p:cNvSpPr/>
          <p:nvPr/>
        </p:nvSpPr>
        <p:spPr>
          <a:xfrm>
            <a:off x="640080" y="6537960"/>
            <a:ext cx="1828800" cy="201168"/>
          </a:xfrm>
          <a:prstGeom prst="rect">
            <a:avLst/>
          </a:prstGeom>
          <a:noFill/>
          <a:ln/>
        </p:spPr>
        <p:txBody>
          <a:bodyPr wrap="square" lIns="0" tIns="0" rIns="0" bIns="0" rtlCol="0" anchor="ctr"/>
          <a:lstStyle/>
          <a:p>
            <a:endParaRPr lang="en-US" sz="1000" b="1" cap="all" dirty="0">
              <a:solidFill>
                <a:srgbClr val="002060"/>
              </a:solidFill>
            </a:endParaRPr>
          </a:p>
          <a:p>
            <a:r>
              <a:rPr lang="en-US" sz="1000" b="1" cap="all" dirty="0">
                <a:solidFill>
                  <a:srgbClr val="002060"/>
                </a:solidFill>
              </a:rPr>
              <a:t>Intelligent Hiring System</a:t>
            </a:r>
          </a:p>
          <a:p>
            <a:pPr marL="0" indent="0">
              <a:buNone/>
            </a:pP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FAFBFF"/>
            </a:gs>
            <a:gs pos="100000">
              <a:srgbClr val="E4ECFC"/>
            </a:gs>
          </a:gsLst>
          <a:lin ang="2700000" scaled="0"/>
        </a:gradFill>
        <a:effectLst/>
      </p:bgPr>
    </p:bg>
    <p:spTree>
      <p:nvGrpSpPr>
        <p:cNvPr id="1" name="">
          <a:extLst>
            <a:ext uri="{FF2B5EF4-FFF2-40B4-BE49-F238E27FC236}">
              <a16:creationId xmlns:a16="http://schemas.microsoft.com/office/drawing/2014/main" id="{51A6B3EC-2683-1736-9E3D-9035CEB26BBD}"/>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53F590C2-F5B2-B7B6-9DC7-A09030A637F3}"/>
              </a:ext>
            </a:extLst>
          </p:cNvPr>
          <p:cNvSpPr/>
          <p:nvPr/>
        </p:nvSpPr>
        <p:spPr>
          <a:xfrm>
            <a:off x="640080" y="786384"/>
            <a:ext cx="9601200" cy="566928"/>
          </a:xfrm>
          <a:prstGeom prst="rect">
            <a:avLst/>
          </a:prstGeom>
          <a:noFill/>
          <a:ln/>
        </p:spPr>
        <p:txBody>
          <a:bodyPr wrap="square" lIns="0" tIns="0" rIns="0" bIns="0"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DFD – Level 1 (Test Taker)</a:t>
            </a:r>
            <a:endParaRPr lang="en-US" sz="3000" dirty="0"/>
          </a:p>
        </p:txBody>
      </p:sp>
      <p:sp>
        <p:nvSpPr>
          <p:cNvPr id="13" name="Shape 10">
            <a:extLst>
              <a:ext uri="{FF2B5EF4-FFF2-40B4-BE49-F238E27FC236}">
                <a16:creationId xmlns:a16="http://schemas.microsoft.com/office/drawing/2014/main" id="{4E04FF97-1B6B-022D-E7ED-5023494138D9}"/>
              </a:ext>
            </a:extLst>
          </p:cNvPr>
          <p:cNvSpPr/>
          <p:nvPr/>
        </p:nvSpPr>
        <p:spPr>
          <a:xfrm>
            <a:off x="11256264" y="6492240"/>
            <a:ext cx="292608" cy="292608"/>
          </a:xfrm>
          <a:prstGeom prst="ellipse">
            <a:avLst/>
          </a:prstGeom>
          <a:solidFill>
            <a:srgbClr val="F4F7FE"/>
          </a:solidFill>
          <a:ln/>
        </p:spPr>
        <p:txBody>
          <a:bodyPr/>
          <a:lstStyle/>
          <a:p>
            <a:endParaRPr/>
          </a:p>
        </p:txBody>
      </p:sp>
      <p:sp>
        <p:nvSpPr>
          <p:cNvPr id="14" name="Text 11">
            <a:extLst>
              <a:ext uri="{FF2B5EF4-FFF2-40B4-BE49-F238E27FC236}">
                <a16:creationId xmlns:a16="http://schemas.microsoft.com/office/drawing/2014/main" id="{9463B0EF-4DFC-AB35-831B-5CCD2E7BFE5B}"/>
              </a:ext>
            </a:extLst>
          </p:cNvPr>
          <p:cNvSpPr/>
          <p:nvPr/>
        </p:nvSpPr>
        <p:spPr>
          <a:xfrm>
            <a:off x="11256264" y="6492240"/>
            <a:ext cx="292608" cy="292608"/>
          </a:xfrm>
          <a:prstGeom prst="rect">
            <a:avLst/>
          </a:prstGeom>
          <a:noFill/>
          <a:ln/>
        </p:spPr>
        <p:txBody>
          <a:bodyPr wrap="square" lIns="0" tIns="0" rIns="0" bIns="0" rtlCol="0" anchor="ctr"/>
          <a:lstStyle/>
          <a:p>
            <a:pPr marL="0" indent="0" algn="ctr">
              <a:buNone/>
            </a:pPr>
            <a:r>
              <a:rPr lang="en-US" sz="950" b="1" dirty="0">
                <a:solidFill>
                  <a:srgbClr val="1E2761"/>
                </a:solidFill>
                <a:latin typeface="Calibri" pitchFamily="34" charset="0"/>
                <a:ea typeface="Calibri" pitchFamily="34" charset="-122"/>
                <a:cs typeface="Calibri" pitchFamily="34" charset="-120"/>
              </a:rPr>
              <a:t>14</a:t>
            </a:r>
            <a:endParaRPr lang="en-US" sz="950" dirty="0"/>
          </a:p>
        </p:txBody>
      </p:sp>
      <p:sp>
        <p:nvSpPr>
          <p:cNvPr id="9100" name="Diagram Frame"/>
          <p:cNvSpPr/>
          <p:nvPr/>
        </p:nvSpPr>
        <p:spPr>
          <a:xfrm>
            <a:off x="2358880" y="1961077"/>
            <a:ext cx="6716050" cy="3975952"/>
          </a:xfrm>
          <a:prstGeom prst="roundRect">
            <a:avLst>
              <a:gd name="adj" fmla="val 2500"/>
            </a:avLst>
          </a:prstGeom>
          <a:solidFill>
            <a:srgbClr val="FFFFFF"/>
          </a:solidFill>
          <a:ln w="9525">
            <a:solidFill>
              <a:srgbClr val="C9D3EE"/>
            </a:solidFill>
          </a:ln>
          <a:effectLst>
            <a:outerShdw blurRad="203200" dist="63500" dir="5400000" algn="t" rotWithShape="0">
              <a:srgbClr val="1E2761">
                <a:alpha val="16000"/>
              </a:srgbClr>
            </a:outerShdw>
          </a:effectLst>
        </p:spPr>
        <p:txBody>
          <a:bodyPr/>
          <a:lstStyle/>
          <a:p>
            <a:endParaRPr lang="en-US"/>
          </a:p>
        </p:txBody>
      </p:sp>
      <p:pic>
        <p:nvPicPr>
          <p:cNvPr id="8" name="Picture 7">
            <a:extLst>
              <a:ext uri="{FF2B5EF4-FFF2-40B4-BE49-F238E27FC236}">
                <a16:creationId xmlns:a16="http://schemas.microsoft.com/office/drawing/2014/main" id="{97EFF8B3-7C4B-CB3E-DE32-BD2C0923EFC8}"/>
              </a:ext>
            </a:extLst>
          </p:cNvPr>
          <p:cNvPicPr>
            <a:picLocks noChangeAspect="1"/>
          </p:cNvPicPr>
          <p:nvPr/>
        </p:nvPicPr>
        <p:blipFill>
          <a:blip r:embed="rId3"/>
          <a:stretch>
            <a:fillRect/>
          </a:stretch>
        </p:blipFill>
        <p:spPr>
          <a:xfrm>
            <a:off x="2468880" y="2071077"/>
            <a:ext cx="6496050" cy="3755952"/>
          </a:xfrm>
          <a:prstGeom prst="rect">
            <a:avLst/>
          </a:prstGeom>
        </p:spPr>
      </p:pic>
      <p:sp>
        <p:nvSpPr>
          <p:cNvPr id="7" name="Text 28">
            <a:extLst>
              <a:ext uri="{FF2B5EF4-FFF2-40B4-BE49-F238E27FC236}">
                <a16:creationId xmlns:a16="http://schemas.microsoft.com/office/drawing/2014/main" id="{021E9548-DCCC-4BC7-8C16-070D7966C4ED}"/>
              </a:ext>
            </a:extLst>
          </p:cNvPr>
          <p:cNvSpPr/>
          <p:nvPr/>
        </p:nvSpPr>
        <p:spPr>
          <a:xfrm>
            <a:off x="640080" y="6537960"/>
            <a:ext cx="1828800" cy="201168"/>
          </a:xfrm>
          <a:prstGeom prst="rect">
            <a:avLst/>
          </a:prstGeom>
          <a:noFill/>
          <a:ln/>
        </p:spPr>
        <p:txBody>
          <a:bodyPr wrap="square" lIns="0" tIns="0" rIns="0" bIns="0" rtlCol="0" anchor="ctr"/>
          <a:lstStyle/>
          <a:p>
            <a:endParaRPr lang="en-US" sz="1000" b="1" cap="all" dirty="0">
              <a:solidFill>
                <a:srgbClr val="002060"/>
              </a:solidFill>
            </a:endParaRPr>
          </a:p>
          <a:p>
            <a:r>
              <a:rPr lang="en-US" sz="1000" b="1" cap="all" dirty="0">
                <a:solidFill>
                  <a:srgbClr val="002060"/>
                </a:solidFill>
              </a:rPr>
              <a:t>Intelligent Hiring System</a:t>
            </a:r>
          </a:p>
          <a:p>
            <a:pPr marL="0" indent="0">
              <a:buNone/>
            </a:pPr>
            <a:endParaRPr lang="en-US" sz="900" dirty="0"/>
          </a:p>
        </p:txBody>
      </p:sp>
    </p:spTree>
    <p:extLst>
      <p:ext uri="{BB962C8B-B14F-4D97-AF65-F5344CB8AC3E}">
        <p14:creationId xmlns:p14="http://schemas.microsoft.com/office/powerpoint/2010/main" val="39367545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FAFBFF"/>
            </a:gs>
            <a:gs pos="100000">
              <a:srgbClr val="E4ECFC"/>
            </a:gs>
          </a:gsLst>
          <a:lin ang="2700000" scaled="0"/>
        </a:gradFill>
        <a:effectLst/>
      </p:bgPr>
    </p:bg>
    <p:spTree>
      <p:nvGrpSpPr>
        <p:cNvPr id="1" name="">
          <a:extLst>
            <a:ext uri="{FF2B5EF4-FFF2-40B4-BE49-F238E27FC236}">
              <a16:creationId xmlns:a16="http://schemas.microsoft.com/office/drawing/2014/main" id="{40F8A8C2-8441-4D5A-76F4-8EDD4EC522C1}"/>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20B140F9-C37A-0397-DC82-665A4B2DB7D5}"/>
              </a:ext>
            </a:extLst>
          </p:cNvPr>
          <p:cNvSpPr/>
          <p:nvPr/>
        </p:nvSpPr>
        <p:spPr>
          <a:xfrm>
            <a:off x="640080" y="786384"/>
            <a:ext cx="9601200" cy="566928"/>
          </a:xfrm>
          <a:prstGeom prst="rect">
            <a:avLst/>
          </a:prstGeom>
          <a:noFill/>
          <a:ln/>
        </p:spPr>
        <p:txBody>
          <a:bodyPr wrap="square" lIns="0" tIns="0" rIns="0" bIns="0"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DFD – Level 1 (Admin)</a:t>
            </a:r>
            <a:endParaRPr lang="en-US" sz="3000" dirty="0"/>
          </a:p>
        </p:txBody>
      </p:sp>
      <p:sp>
        <p:nvSpPr>
          <p:cNvPr id="13" name="Shape 10">
            <a:extLst>
              <a:ext uri="{FF2B5EF4-FFF2-40B4-BE49-F238E27FC236}">
                <a16:creationId xmlns:a16="http://schemas.microsoft.com/office/drawing/2014/main" id="{17EAEDEF-9170-3998-73E4-357C10BFFC79}"/>
              </a:ext>
            </a:extLst>
          </p:cNvPr>
          <p:cNvSpPr/>
          <p:nvPr/>
        </p:nvSpPr>
        <p:spPr>
          <a:xfrm>
            <a:off x="11256264" y="6492240"/>
            <a:ext cx="292608" cy="292608"/>
          </a:xfrm>
          <a:prstGeom prst="ellipse">
            <a:avLst/>
          </a:prstGeom>
          <a:solidFill>
            <a:srgbClr val="F4F7FE"/>
          </a:solidFill>
          <a:ln/>
        </p:spPr>
        <p:txBody>
          <a:bodyPr/>
          <a:lstStyle/>
          <a:p>
            <a:endParaRPr/>
          </a:p>
        </p:txBody>
      </p:sp>
      <p:sp>
        <p:nvSpPr>
          <p:cNvPr id="14" name="Text 11">
            <a:extLst>
              <a:ext uri="{FF2B5EF4-FFF2-40B4-BE49-F238E27FC236}">
                <a16:creationId xmlns:a16="http://schemas.microsoft.com/office/drawing/2014/main" id="{315D7CEC-8D01-90F7-81FB-CA1590E757EA}"/>
              </a:ext>
            </a:extLst>
          </p:cNvPr>
          <p:cNvSpPr/>
          <p:nvPr/>
        </p:nvSpPr>
        <p:spPr>
          <a:xfrm>
            <a:off x="11256264" y="6492240"/>
            <a:ext cx="292608" cy="292608"/>
          </a:xfrm>
          <a:prstGeom prst="rect">
            <a:avLst/>
          </a:prstGeom>
          <a:noFill/>
          <a:ln/>
        </p:spPr>
        <p:txBody>
          <a:bodyPr wrap="square" lIns="0" tIns="0" rIns="0" bIns="0" rtlCol="0" anchor="ctr"/>
          <a:lstStyle/>
          <a:p>
            <a:pPr marL="0" indent="0" algn="ctr">
              <a:buNone/>
            </a:pPr>
            <a:r>
              <a:rPr lang="en-US" sz="950" b="1" dirty="0">
                <a:solidFill>
                  <a:srgbClr val="1E2761"/>
                </a:solidFill>
                <a:latin typeface="Calibri" pitchFamily="34" charset="0"/>
                <a:ea typeface="Calibri" pitchFamily="34" charset="-122"/>
                <a:cs typeface="Calibri" pitchFamily="34" charset="-120"/>
              </a:rPr>
              <a:t>15</a:t>
            </a:r>
            <a:endParaRPr lang="en-US" sz="950" dirty="0"/>
          </a:p>
        </p:txBody>
      </p:sp>
      <p:sp>
        <p:nvSpPr>
          <p:cNvPr id="9100" name="Diagram Frame"/>
          <p:cNvSpPr/>
          <p:nvPr/>
        </p:nvSpPr>
        <p:spPr>
          <a:xfrm>
            <a:off x="2267440" y="1700552"/>
            <a:ext cx="6195594" cy="4626596"/>
          </a:xfrm>
          <a:prstGeom prst="roundRect">
            <a:avLst>
              <a:gd name="adj" fmla="val 2500"/>
            </a:avLst>
          </a:prstGeom>
          <a:solidFill>
            <a:srgbClr val="FFFFFF"/>
          </a:solidFill>
          <a:ln w="9525">
            <a:solidFill>
              <a:srgbClr val="C9D3EE"/>
            </a:solidFill>
          </a:ln>
          <a:effectLst>
            <a:outerShdw blurRad="203200" dist="63500" dir="5400000" algn="t" rotWithShape="0">
              <a:srgbClr val="1E2761">
                <a:alpha val="16000"/>
              </a:srgbClr>
            </a:outerShdw>
          </a:effectLst>
        </p:spPr>
        <p:txBody>
          <a:bodyPr/>
          <a:lstStyle/>
          <a:p>
            <a:endParaRPr lang="en-US"/>
          </a:p>
        </p:txBody>
      </p:sp>
      <p:pic>
        <p:nvPicPr>
          <p:cNvPr id="9" name="Picture 8">
            <a:extLst>
              <a:ext uri="{FF2B5EF4-FFF2-40B4-BE49-F238E27FC236}">
                <a16:creationId xmlns:a16="http://schemas.microsoft.com/office/drawing/2014/main" id="{FE15F735-D405-3F53-E68C-51D39B78639D}"/>
              </a:ext>
            </a:extLst>
          </p:cNvPr>
          <p:cNvPicPr>
            <a:picLocks noChangeAspect="1"/>
          </p:cNvPicPr>
          <p:nvPr/>
        </p:nvPicPr>
        <p:blipFill>
          <a:blip r:embed="rId3"/>
          <a:stretch>
            <a:fillRect/>
          </a:stretch>
        </p:blipFill>
        <p:spPr>
          <a:xfrm>
            <a:off x="2377440" y="1810552"/>
            <a:ext cx="5975594" cy="4406596"/>
          </a:xfrm>
          <a:prstGeom prst="rect">
            <a:avLst/>
          </a:prstGeom>
        </p:spPr>
      </p:pic>
      <p:sp>
        <p:nvSpPr>
          <p:cNvPr id="7" name="Text 28">
            <a:extLst>
              <a:ext uri="{FF2B5EF4-FFF2-40B4-BE49-F238E27FC236}">
                <a16:creationId xmlns:a16="http://schemas.microsoft.com/office/drawing/2014/main" id="{D51EA689-6739-1C06-64D3-DF4A3CDD1C52}"/>
              </a:ext>
            </a:extLst>
          </p:cNvPr>
          <p:cNvSpPr/>
          <p:nvPr/>
        </p:nvSpPr>
        <p:spPr>
          <a:xfrm>
            <a:off x="640080" y="6537960"/>
            <a:ext cx="1828800" cy="201168"/>
          </a:xfrm>
          <a:prstGeom prst="rect">
            <a:avLst/>
          </a:prstGeom>
          <a:noFill/>
          <a:ln/>
        </p:spPr>
        <p:txBody>
          <a:bodyPr wrap="square" lIns="0" tIns="0" rIns="0" bIns="0" rtlCol="0" anchor="ctr"/>
          <a:lstStyle/>
          <a:p>
            <a:endParaRPr lang="en-US" sz="1000" b="1" cap="all" dirty="0">
              <a:solidFill>
                <a:srgbClr val="002060"/>
              </a:solidFill>
            </a:endParaRPr>
          </a:p>
          <a:p>
            <a:r>
              <a:rPr lang="en-US" sz="1000" b="1" cap="all" dirty="0">
                <a:solidFill>
                  <a:srgbClr val="002060"/>
                </a:solidFill>
              </a:rPr>
              <a:t>Intelligent Hiring System</a:t>
            </a:r>
          </a:p>
          <a:p>
            <a:pPr marL="0" indent="0">
              <a:buNone/>
            </a:pPr>
            <a:endParaRPr lang="en-US" sz="900" dirty="0"/>
          </a:p>
        </p:txBody>
      </p:sp>
    </p:spTree>
    <p:extLst>
      <p:ext uri="{BB962C8B-B14F-4D97-AF65-F5344CB8AC3E}">
        <p14:creationId xmlns:p14="http://schemas.microsoft.com/office/powerpoint/2010/main" val="42559242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gradFill rotWithShape="1">
          <a:gsLst>
            <a:gs pos="0">
              <a:srgbClr val="FAFBFF"/>
            </a:gs>
            <a:gs pos="100000">
              <a:srgbClr val="E4ECFC"/>
            </a:gs>
          </a:gsLst>
          <a:lin ang="2700000" scaled="0"/>
        </a:gradFill>
        <a:effectLst/>
      </p:bgPr>
    </p:bg>
    <p:spTree>
      <p:nvGrpSpPr>
        <p:cNvPr id="1" name=""/>
        <p:cNvGrpSpPr/>
        <p:nvPr/>
      </p:nvGrpSpPr>
      <p:grpSpPr>
        <a:xfrm>
          <a:off x="0" y="0"/>
          <a:ext cx="0" cy="0"/>
          <a:chOff x="0" y="0"/>
          <a:chExt cx="0" cy="0"/>
        </a:xfrm>
      </p:grpSpPr>
      <p:sp>
        <p:nvSpPr>
          <p:cNvPr id="4" name="Text 2"/>
          <p:cNvSpPr/>
          <p:nvPr/>
        </p:nvSpPr>
        <p:spPr>
          <a:xfrm>
            <a:off x="640080" y="372167"/>
            <a:ext cx="9601200" cy="566928"/>
          </a:xfrm>
          <a:prstGeom prst="rect">
            <a:avLst/>
          </a:prstGeom>
          <a:noFill/>
          <a:ln/>
        </p:spPr>
        <p:txBody>
          <a:bodyPr wrap="square" lIns="0" tIns="0" rIns="0" bIns="0" rtlCol="0" anchor="ctr"/>
          <a:lstStyle/>
          <a:p>
            <a:r>
              <a:rPr lang="en-US" sz="3000" b="1" dirty="0">
                <a:solidFill>
                  <a:srgbClr val="1B1F3B"/>
                </a:solidFill>
                <a:latin typeface="Cambria" panose="02040503050406030204" pitchFamily="18" charset="0"/>
                <a:ea typeface="Cambria" panose="02040503050406030204" pitchFamily="18" charset="0"/>
                <a:cs typeface="Calibri" pitchFamily="34" charset="-120"/>
              </a:rPr>
              <a:t>Use Case Diagram</a:t>
            </a:r>
            <a:endParaRPr lang="en-US" sz="3200" dirty="0">
              <a:solidFill>
                <a:srgbClr val="0B1220"/>
              </a:solidFill>
              <a:latin typeface="Cambria" panose="02040503050406030204" pitchFamily="18" charset="0"/>
              <a:ea typeface="Cambria" panose="02040503050406030204" pitchFamily="18" charset="0"/>
            </a:endParaRPr>
          </a:p>
        </p:txBody>
      </p:sp>
      <p:sp>
        <p:nvSpPr>
          <p:cNvPr id="13" name="Shape 10"/>
          <p:cNvSpPr/>
          <p:nvPr/>
        </p:nvSpPr>
        <p:spPr>
          <a:xfrm>
            <a:off x="11256264" y="6492240"/>
            <a:ext cx="292608" cy="292608"/>
          </a:xfrm>
          <a:prstGeom prst="ellipse">
            <a:avLst/>
          </a:prstGeom>
          <a:solidFill>
            <a:srgbClr val="F4F7FE"/>
          </a:solidFill>
          <a:ln/>
        </p:spPr>
        <p:txBody>
          <a:bodyPr/>
          <a:lstStyle/>
          <a:p>
            <a:endParaRPr/>
          </a:p>
        </p:txBody>
      </p:sp>
      <p:sp>
        <p:nvSpPr>
          <p:cNvPr id="14" name="Text 11"/>
          <p:cNvSpPr/>
          <p:nvPr/>
        </p:nvSpPr>
        <p:spPr>
          <a:xfrm>
            <a:off x="11256264" y="6492240"/>
            <a:ext cx="292608" cy="292608"/>
          </a:xfrm>
          <a:prstGeom prst="rect">
            <a:avLst/>
          </a:prstGeom>
          <a:noFill/>
          <a:ln/>
        </p:spPr>
        <p:txBody>
          <a:bodyPr wrap="square" lIns="0" tIns="0" rIns="0" bIns="0" rtlCol="0" anchor="ctr"/>
          <a:lstStyle/>
          <a:p>
            <a:pPr marL="0" indent="0" algn="ctr">
              <a:buNone/>
            </a:pPr>
            <a:r>
              <a:rPr lang="en-US" sz="950" b="1" dirty="0">
                <a:solidFill>
                  <a:srgbClr val="1E2761"/>
                </a:solidFill>
                <a:latin typeface="Calibri" pitchFamily="34" charset="0"/>
                <a:ea typeface="Calibri" pitchFamily="34" charset="-122"/>
                <a:cs typeface="Calibri" pitchFamily="34" charset="-120"/>
              </a:rPr>
              <a:t>16</a:t>
            </a:r>
            <a:endParaRPr lang="en-US" sz="950" dirty="0"/>
          </a:p>
        </p:txBody>
      </p:sp>
      <p:sp>
        <p:nvSpPr>
          <p:cNvPr id="9100" name="Diagram Frame"/>
          <p:cNvSpPr/>
          <p:nvPr/>
        </p:nvSpPr>
        <p:spPr>
          <a:xfrm>
            <a:off x="1900446" y="1123737"/>
            <a:ext cx="8391107" cy="5358928"/>
          </a:xfrm>
          <a:prstGeom prst="roundRect">
            <a:avLst>
              <a:gd name="adj" fmla="val 2500"/>
            </a:avLst>
          </a:prstGeom>
          <a:solidFill>
            <a:srgbClr val="FFFFFF"/>
          </a:solidFill>
          <a:ln w="9525">
            <a:solidFill>
              <a:srgbClr val="C9D3EE"/>
            </a:solidFill>
          </a:ln>
          <a:effectLst>
            <a:outerShdw blurRad="203200" dist="63500" dir="5400000" algn="t" rotWithShape="0">
              <a:srgbClr val="1E2761">
                <a:alpha val="16000"/>
              </a:srgbClr>
            </a:outerShdw>
          </a:effectLst>
        </p:spPr>
        <p:txBody>
          <a:bodyPr/>
          <a:lstStyle/>
          <a:p>
            <a:endParaRPr lang="en-US"/>
          </a:p>
        </p:txBody>
      </p:sp>
      <p:pic>
        <p:nvPicPr>
          <p:cNvPr id="20" name="Picture 19">
            <a:extLst>
              <a:ext uri="{FF2B5EF4-FFF2-40B4-BE49-F238E27FC236}">
                <a16:creationId xmlns:a16="http://schemas.microsoft.com/office/drawing/2014/main" id="{98CC44D9-52B5-480E-EA06-DB43186595D2}"/>
              </a:ext>
            </a:extLst>
          </p:cNvPr>
          <p:cNvPicPr>
            <a:picLocks noChangeAspect="1"/>
          </p:cNvPicPr>
          <p:nvPr/>
        </p:nvPicPr>
        <p:blipFill>
          <a:blip r:embed="rId3"/>
          <a:stretch>
            <a:fillRect/>
          </a:stretch>
        </p:blipFill>
        <p:spPr>
          <a:xfrm>
            <a:off x="2010446" y="1233737"/>
            <a:ext cx="8171107" cy="5138928"/>
          </a:xfrm>
          <a:prstGeom prst="rect">
            <a:avLst/>
          </a:prstGeom>
        </p:spPr>
      </p:pic>
      <p:sp>
        <p:nvSpPr>
          <p:cNvPr id="3" name="Text 28">
            <a:extLst>
              <a:ext uri="{FF2B5EF4-FFF2-40B4-BE49-F238E27FC236}">
                <a16:creationId xmlns:a16="http://schemas.microsoft.com/office/drawing/2014/main" id="{CE66EC7D-0108-AF6E-5125-FF864C7E2C01}"/>
              </a:ext>
            </a:extLst>
          </p:cNvPr>
          <p:cNvSpPr/>
          <p:nvPr/>
        </p:nvSpPr>
        <p:spPr>
          <a:xfrm>
            <a:off x="640080" y="6537960"/>
            <a:ext cx="1828800" cy="201168"/>
          </a:xfrm>
          <a:prstGeom prst="rect">
            <a:avLst/>
          </a:prstGeom>
          <a:noFill/>
          <a:ln/>
        </p:spPr>
        <p:txBody>
          <a:bodyPr wrap="square" lIns="0" tIns="0" rIns="0" bIns="0" rtlCol="0" anchor="ctr"/>
          <a:lstStyle/>
          <a:p>
            <a:endParaRPr lang="en-US" sz="1000" b="1" cap="all" dirty="0">
              <a:solidFill>
                <a:srgbClr val="002060"/>
              </a:solidFill>
            </a:endParaRPr>
          </a:p>
          <a:p>
            <a:r>
              <a:rPr lang="en-US" sz="1000" b="1" cap="all" dirty="0">
                <a:solidFill>
                  <a:srgbClr val="002060"/>
                </a:solidFill>
              </a:rPr>
              <a:t>Intelligent Hiring System</a:t>
            </a:r>
          </a:p>
          <a:p>
            <a:pPr marL="0" indent="0">
              <a:buNone/>
            </a:pP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gradFill rotWithShape="1">
          <a:gsLst>
            <a:gs pos="0">
              <a:srgbClr val="FAFBFF"/>
            </a:gs>
            <a:gs pos="100000">
              <a:srgbClr val="E4ECFC"/>
            </a:gs>
          </a:gsLst>
          <a:lin ang="2700000" scaled="0"/>
        </a:gradFill>
        <a:effectLst/>
      </p:bgPr>
    </p:bg>
    <p:spTree>
      <p:nvGrpSpPr>
        <p:cNvPr id="1" name=""/>
        <p:cNvGrpSpPr/>
        <p:nvPr/>
      </p:nvGrpSpPr>
      <p:grpSpPr>
        <a:xfrm>
          <a:off x="0" y="0"/>
          <a:ext cx="0" cy="0"/>
          <a:chOff x="0" y="0"/>
          <a:chExt cx="0" cy="0"/>
        </a:xfrm>
      </p:grpSpPr>
      <p:sp>
        <p:nvSpPr>
          <p:cNvPr id="4" name="Text 2"/>
          <p:cNvSpPr/>
          <p:nvPr/>
        </p:nvSpPr>
        <p:spPr>
          <a:xfrm>
            <a:off x="640080" y="505032"/>
            <a:ext cx="9601200" cy="566928"/>
          </a:xfrm>
          <a:prstGeom prst="rect">
            <a:avLst/>
          </a:prstGeom>
          <a:noFill/>
          <a:ln/>
        </p:spPr>
        <p:txBody>
          <a:bodyPr wrap="square" lIns="0" tIns="0" rIns="0" bIns="0"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Class Diagram</a:t>
            </a:r>
            <a:endParaRPr lang="en-US" sz="3000" dirty="0"/>
          </a:p>
        </p:txBody>
      </p:sp>
      <p:sp>
        <p:nvSpPr>
          <p:cNvPr id="13" name="Shape 10"/>
          <p:cNvSpPr/>
          <p:nvPr/>
        </p:nvSpPr>
        <p:spPr>
          <a:xfrm>
            <a:off x="11256264" y="6492240"/>
            <a:ext cx="292608" cy="292608"/>
          </a:xfrm>
          <a:prstGeom prst="ellipse">
            <a:avLst/>
          </a:prstGeom>
          <a:solidFill>
            <a:srgbClr val="F4F7FE"/>
          </a:solidFill>
          <a:ln/>
        </p:spPr>
        <p:txBody>
          <a:bodyPr/>
          <a:lstStyle/>
          <a:p>
            <a:endParaRPr/>
          </a:p>
        </p:txBody>
      </p:sp>
      <p:sp>
        <p:nvSpPr>
          <p:cNvPr id="14" name="Text 11"/>
          <p:cNvSpPr/>
          <p:nvPr/>
        </p:nvSpPr>
        <p:spPr>
          <a:xfrm>
            <a:off x="11256264" y="6492240"/>
            <a:ext cx="292608" cy="292608"/>
          </a:xfrm>
          <a:prstGeom prst="rect">
            <a:avLst/>
          </a:prstGeom>
          <a:noFill/>
          <a:ln/>
        </p:spPr>
        <p:txBody>
          <a:bodyPr wrap="square" lIns="0" tIns="0" rIns="0" bIns="0" rtlCol="0" anchor="ctr"/>
          <a:lstStyle/>
          <a:p>
            <a:pPr marL="0" indent="0" algn="ctr">
              <a:buNone/>
            </a:pPr>
            <a:r>
              <a:rPr lang="en-US" sz="950" b="1" dirty="0">
                <a:solidFill>
                  <a:srgbClr val="1E2761"/>
                </a:solidFill>
                <a:latin typeface="Calibri" pitchFamily="34" charset="0"/>
                <a:ea typeface="Calibri" pitchFamily="34" charset="-122"/>
                <a:cs typeface="Calibri" pitchFamily="34" charset="-120"/>
              </a:rPr>
              <a:t>17</a:t>
            </a:r>
            <a:endParaRPr lang="en-US" sz="950" dirty="0"/>
          </a:p>
        </p:txBody>
      </p:sp>
      <p:pic>
        <p:nvPicPr>
          <p:cNvPr id="16" name="Picture 15">
            <a:extLst>
              <a:ext uri="{FF2B5EF4-FFF2-40B4-BE49-F238E27FC236}">
                <a16:creationId xmlns:a16="http://schemas.microsoft.com/office/drawing/2014/main" id="{768C2D79-289C-870C-1AD7-2A3DA373803D}"/>
              </a:ext>
            </a:extLst>
          </p:cNvPr>
          <p:cNvPicPr>
            <a:picLocks noChangeAspect="1"/>
          </p:cNvPicPr>
          <p:nvPr/>
        </p:nvPicPr>
        <p:blipFill>
          <a:blip r:embed="rId3"/>
          <a:stretch>
            <a:fillRect/>
          </a:stretch>
        </p:blipFill>
        <p:spPr>
          <a:xfrm>
            <a:off x="952500" y="1315933"/>
            <a:ext cx="10287000" cy="5272435"/>
          </a:xfrm>
          <a:prstGeom prst="rect">
            <a:avLst/>
          </a:prstGeom>
        </p:spPr>
      </p:pic>
      <p:sp>
        <p:nvSpPr>
          <p:cNvPr id="6" name="Text 28">
            <a:extLst>
              <a:ext uri="{FF2B5EF4-FFF2-40B4-BE49-F238E27FC236}">
                <a16:creationId xmlns:a16="http://schemas.microsoft.com/office/drawing/2014/main" id="{1DAD3C8E-A297-2494-47A3-D378582860AC}"/>
              </a:ext>
            </a:extLst>
          </p:cNvPr>
          <p:cNvSpPr/>
          <p:nvPr/>
        </p:nvSpPr>
        <p:spPr>
          <a:xfrm>
            <a:off x="640080" y="6537960"/>
            <a:ext cx="1828800" cy="201168"/>
          </a:xfrm>
          <a:prstGeom prst="rect">
            <a:avLst/>
          </a:prstGeom>
          <a:noFill/>
          <a:ln/>
        </p:spPr>
        <p:txBody>
          <a:bodyPr wrap="square" lIns="0" tIns="0" rIns="0" bIns="0" rtlCol="0" anchor="ctr"/>
          <a:lstStyle/>
          <a:p>
            <a:endParaRPr lang="en-US" sz="1000" b="1" cap="all" dirty="0">
              <a:solidFill>
                <a:srgbClr val="002060"/>
              </a:solidFill>
            </a:endParaRPr>
          </a:p>
          <a:p>
            <a:r>
              <a:rPr lang="en-US" sz="1000" b="1" cap="all" dirty="0">
                <a:solidFill>
                  <a:srgbClr val="002060"/>
                </a:solidFill>
              </a:rPr>
              <a:t>Intelligent Hiring System</a:t>
            </a:r>
          </a:p>
          <a:p>
            <a:pPr marL="0" indent="0">
              <a:buNone/>
            </a:pP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gradFill rotWithShape="1">
          <a:gsLst>
            <a:gs pos="0">
              <a:srgbClr val="FAFBFF"/>
            </a:gs>
            <a:gs pos="100000">
              <a:srgbClr val="E4ECFC"/>
            </a:gs>
          </a:gsLst>
          <a:lin ang="2700000" scaled="0"/>
        </a:gradFill>
        <a:effectLst/>
      </p:bgPr>
    </p:bg>
    <p:spTree>
      <p:nvGrpSpPr>
        <p:cNvPr id="1" name=""/>
        <p:cNvGrpSpPr/>
        <p:nvPr/>
      </p:nvGrpSpPr>
      <p:grpSpPr>
        <a:xfrm>
          <a:off x="0" y="0"/>
          <a:ext cx="0" cy="0"/>
          <a:chOff x="0" y="0"/>
          <a:chExt cx="0" cy="0"/>
        </a:xfrm>
      </p:grpSpPr>
      <p:sp>
        <p:nvSpPr>
          <p:cNvPr id="4" name="Text 2"/>
          <p:cNvSpPr/>
          <p:nvPr/>
        </p:nvSpPr>
        <p:spPr>
          <a:xfrm>
            <a:off x="640080" y="137706"/>
            <a:ext cx="9601200" cy="566928"/>
          </a:xfrm>
          <a:prstGeom prst="rect">
            <a:avLst/>
          </a:prstGeom>
          <a:noFill/>
          <a:ln/>
        </p:spPr>
        <p:txBody>
          <a:bodyPr wrap="square" lIns="0" tIns="0" rIns="0" bIns="0" rtlCol="0" anchor="ctr"/>
          <a:lstStyle/>
          <a:p>
            <a:r>
              <a:rPr lang="en-US" sz="3000" b="1" dirty="0">
                <a:solidFill>
                  <a:srgbClr val="1B1F3B"/>
                </a:solidFill>
                <a:latin typeface="Cambria" panose="02040503050406030204" pitchFamily="18" charset="0"/>
                <a:ea typeface="Cambria" panose="02040503050406030204" pitchFamily="18" charset="0"/>
                <a:cs typeface="Calibri" pitchFamily="34" charset="-120"/>
              </a:rPr>
              <a:t>State Diagram</a:t>
            </a:r>
            <a:endParaRPr lang="en-US" sz="3000" dirty="0">
              <a:solidFill>
                <a:srgbClr val="0B1220"/>
              </a:solidFill>
              <a:latin typeface="Cambria" panose="02040503050406030204" pitchFamily="18" charset="0"/>
              <a:ea typeface="Cambria" panose="02040503050406030204" pitchFamily="18" charset="0"/>
            </a:endParaRPr>
          </a:p>
        </p:txBody>
      </p:sp>
      <p:sp>
        <p:nvSpPr>
          <p:cNvPr id="13" name="Shape 10"/>
          <p:cNvSpPr/>
          <p:nvPr/>
        </p:nvSpPr>
        <p:spPr>
          <a:xfrm>
            <a:off x="11256264" y="6492240"/>
            <a:ext cx="292608" cy="292608"/>
          </a:xfrm>
          <a:prstGeom prst="ellipse">
            <a:avLst/>
          </a:prstGeom>
          <a:solidFill>
            <a:srgbClr val="F4F7FE"/>
          </a:solidFill>
          <a:ln/>
        </p:spPr>
        <p:txBody>
          <a:bodyPr/>
          <a:lstStyle/>
          <a:p>
            <a:endParaRPr/>
          </a:p>
        </p:txBody>
      </p:sp>
      <p:sp>
        <p:nvSpPr>
          <p:cNvPr id="14" name="Text 11"/>
          <p:cNvSpPr/>
          <p:nvPr/>
        </p:nvSpPr>
        <p:spPr>
          <a:xfrm>
            <a:off x="11256264" y="6492240"/>
            <a:ext cx="292608" cy="292608"/>
          </a:xfrm>
          <a:prstGeom prst="rect">
            <a:avLst/>
          </a:prstGeom>
          <a:noFill/>
          <a:ln/>
        </p:spPr>
        <p:txBody>
          <a:bodyPr wrap="square" lIns="0" tIns="0" rIns="0" bIns="0" rtlCol="0" anchor="ctr"/>
          <a:lstStyle/>
          <a:p>
            <a:pPr marL="0" indent="0" algn="ctr">
              <a:buNone/>
            </a:pPr>
            <a:r>
              <a:rPr lang="en-US" sz="950" b="1" dirty="0">
                <a:solidFill>
                  <a:srgbClr val="1E2761"/>
                </a:solidFill>
                <a:latin typeface="Calibri" pitchFamily="34" charset="0"/>
                <a:ea typeface="Calibri" pitchFamily="34" charset="-122"/>
                <a:cs typeface="Calibri" pitchFamily="34" charset="-120"/>
              </a:rPr>
              <a:t>18</a:t>
            </a:r>
            <a:endParaRPr lang="en-US" sz="950" dirty="0"/>
          </a:p>
        </p:txBody>
      </p:sp>
      <p:pic>
        <p:nvPicPr>
          <p:cNvPr id="16" name="Picture 15">
            <a:extLst>
              <a:ext uri="{FF2B5EF4-FFF2-40B4-BE49-F238E27FC236}">
                <a16:creationId xmlns:a16="http://schemas.microsoft.com/office/drawing/2014/main" id="{5C954E67-6D97-9E46-96F0-D48B504A3D1A}"/>
              </a:ext>
            </a:extLst>
          </p:cNvPr>
          <p:cNvPicPr>
            <a:picLocks noChangeAspect="1"/>
          </p:cNvPicPr>
          <p:nvPr/>
        </p:nvPicPr>
        <p:blipFill>
          <a:blip r:embed="rId3"/>
          <a:stretch>
            <a:fillRect/>
          </a:stretch>
        </p:blipFill>
        <p:spPr>
          <a:xfrm>
            <a:off x="3223846" y="0"/>
            <a:ext cx="5744308" cy="6858000"/>
          </a:xfrm>
          <a:prstGeom prst="rect">
            <a:avLst/>
          </a:prstGeom>
        </p:spPr>
      </p:pic>
      <p:sp>
        <p:nvSpPr>
          <p:cNvPr id="6" name="Text 28">
            <a:extLst>
              <a:ext uri="{FF2B5EF4-FFF2-40B4-BE49-F238E27FC236}">
                <a16:creationId xmlns:a16="http://schemas.microsoft.com/office/drawing/2014/main" id="{F5028380-CD3E-1D67-5845-B3C01485545E}"/>
              </a:ext>
            </a:extLst>
          </p:cNvPr>
          <p:cNvSpPr/>
          <p:nvPr/>
        </p:nvSpPr>
        <p:spPr>
          <a:xfrm>
            <a:off x="640080" y="6537960"/>
            <a:ext cx="1828800" cy="201168"/>
          </a:xfrm>
          <a:prstGeom prst="rect">
            <a:avLst/>
          </a:prstGeom>
          <a:noFill/>
          <a:ln/>
        </p:spPr>
        <p:txBody>
          <a:bodyPr wrap="square" lIns="0" tIns="0" rIns="0" bIns="0" rtlCol="0" anchor="ctr"/>
          <a:lstStyle/>
          <a:p>
            <a:endParaRPr lang="en-US" sz="1000" b="1" cap="all" dirty="0">
              <a:solidFill>
                <a:srgbClr val="002060"/>
              </a:solidFill>
            </a:endParaRPr>
          </a:p>
          <a:p>
            <a:r>
              <a:rPr lang="en-US" sz="1000" b="1" cap="all" dirty="0">
                <a:solidFill>
                  <a:srgbClr val="002060"/>
                </a:solidFill>
              </a:rPr>
              <a:t>Intelligent Hiring System</a:t>
            </a:r>
          </a:p>
          <a:p>
            <a:pPr marL="0" indent="0">
              <a:buNone/>
            </a:pP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rgbClr val="FAFBFF"/>
            </a:gs>
            <a:gs pos="100000">
              <a:srgbClr val="E4ECFC"/>
            </a:gs>
          </a:gsLst>
          <a:lin ang="2700000" scaled="0"/>
        </a:gradFill>
        <a:effectLst/>
      </p:bgPr>
    </p:bg>
    <p:spTree>
      <p:nvGrpSpPr>
        <p:cNvPr id="1" name=""/>
        <p:cNvGrpSpPr/>
        <p:nvPr/>
      </p:nvGrpSpPr>
      <p:grpSpPr>
        <a:xfrm>
          <a:off x="0" y="0"/>
          <a:ext cx="0" cy="0"/>
          <a:chOff x="0" y="0"/>
          <a:chExt cx="0" cy="0"/>
        </a:xfrm>
      </p:grpSpPr>
      <p:sp>
        <p:nvSpPr>
          <p:cNvPr id="9001" name="Decor 9001"/>
          <p:cNvSpPr/>
          <p:nvPr/>
        </p:nvSpPr>
        <p:spPr>
          <a:xfrm>
            <a:off x="8300000" y="-2300000"/>
            <a:ext cx="5200000" cy="5200000"/>
          </a:xfrm>
          <a:prstGeom prst="ellipse">
            <a:avLst/>
          </a:prstGeom>
          <a:solidFill>
            <a:srgbClr val="4A5BC4">
              <a:alpha val="9000"/>
            </a:srgbClr>
          </a:solidFill>
          <a:ln>
            <a:noFill/>
          </a:ln>
        </p:spPr>
        <p:txBody>
          <a:bodyPr/>
          <a:lstStyle/>
          <a:p>
            <a:endParaRPr lang="en-US"/>
          </a:p>
        </p:txBody>
      </p:sp>
      <p:sp>
        <p:nvSpPr>
          <p:cNvPr id="9002" name="Decor 9002"/>
          <p:cNvSpPr/>
          <p:nvPr/>
        </p:nvSpPr>
        <p:spPr>
          <a:xfrm>
            <a:off x="9300000" y="-1500000"/>
            <a:ext cx="3600000" cy="3600000"/>
          </a:xfrm>
          <a:prstGeom prst="ellipse">
            <a:avLst/>
          </a:prstGeom>
          <a:noFill/>
          <a:ln w="19050">
            <a:solidFill>
              <a:srgbClr val="4A5BC4">
                <a:alpha val="22000"/>
              </a:srgbClr>
            </a:solidFill>
          </a:ln>
        </p:spPr>
        <p:txBody>
          <a:bodyPr/>
          <a:lstStyle/>
          <a:p>
            <a:endParaRPr lang="en-US"/>
          </a:p>
        </p:txBody>
      </p:sp>
      <p:sp>
        <p:nvSpPr>
          <p:cNvPr id="9003" name="Decor 9003"/>
          <p:cNvSpPr/>
          <p:nvPr/>
        </p:nvSpPr>
        <p:spPr>
          <a:xfrm>
            <a:off x="-1500000" y="5000000"/>
            <a:ext cx="3300000" cy="3300000"/>
          </a:xfrm>
          <a:prstGeom prst="ellipse">
            <a:avLst/>
          </a:prstGeom>
          <a:solidFill>
            <a:srgbClr val="22D3A6">
              <a:alpha val="9000"/>
            </a:srgbClr>
          </a:solidFill>
          <a:ln>
            <a:noFill/>
          </a:ln>
        </p:spPr>
        <p:txBody>
          <a:bodyPr/>
          <a:lstStyle/>
          <a:p>
            <a:endParaRPr lang="en-US"/>
          </a:p>
        </p:txBody>
      </p:sp>
      <p:sp>
        <p:nvSpPr>
          <p:cNvPr id="9004" name="Decor 9004"/>
          <p:cNvSpPr/>
          <p:nvPr/>
        </p:nvSpPr>
        <p:spPr>
          <a:xfrm>
            <a:off x="-900000" y="5600000"/>
            <a:ext cx="1900000" cy="1900000"/>
          </a:xfrm>
          <a:prstGeom prst="ellipse">
            <a:avLst/>
          </a:prstGeom>
          <a:noFill/>
          <a:ln w="19050">
            <a:solidFill>
              <a:srgbClr val="4A5BC4">
                <a:alpha val="14000"/>
              </a:srgbClr>
            </a:solidFill>
          </a:ln>
        </p:spPr>
        <p:txBody>
          <a:bodyPr/>
          <a:lstStyle/>
          <a:p>
            <a:endParaRPr lang="en-US"/>
          </a:p>
        </p:txBody>
      </p:sp>
      <p:sp>
        <p:nvSpPr>
          <p:cNvPr id="4" name="TextBox 3"/>
          <p:cNvSpPr txBox="1"/>
          <p:nvPr/>
        </p:nvSpPr>
        <p:spPr>
          <a:xfrm>
            <a:off x="640080" y="256998"/>
            <a:ext cx="10881360" cy="566928"/>
          </a:xfrm>
          <a:prstGeom prst="rect">
            <a:avLst/>
          </a:prstGeom>
          <a:noFill/>
        </p:spPr>
        <p:txBody>
          <a:bodyPr wrap="square" lIns="0" tIns="0" rIns="0" bIns="0" anchor="ctr">
            <a:noAutofit/>
          </a:bodyPr>
          <a:lstStyle/>
          <a:p>
            <a:pPr algn="l"/>
            <a:r>
              <a:rPr sz="3000" b="1" i="0" dirty="0">
                <a:solidFill>
                  <a:srgbClr val="1B1F3B"/>
                </a:solidFill>
                <a:latin typeface="Cambria"/>
              </a:rPr>
              <a:t>Activity Diagram</a:t>
            </a:r>
          </a:p>
        </p:txBody>
      </p:sp>
      <p:sp>
        <p:nvSpPr>
          <p:cNvPr id="5" name="Rounded Rectangle 4"/>
          <p:cNvSpPr/>
          <p:nvPr/>
        </p:nvSpPr>
        <p:spPr>
          <a:xfrm>
            <a:off x="4464512" y="273677"/>
            <a:ext cx="6083167" cy="6272784"/>
          </a:xfrm>
          <a:prstGeom prst="roundRect">
            <a:avLst>
              <a:gd name="adj" fmla="val 2277"/>
            </a:avLst>
          </a:prstGeom>
          <a:solidFill>
            <a:srgbClr val="FFFFFF"/>
          </a:solidFill>
          <a:ln w="9525">
            <a:solidFill>
              <a:srgbClr val="C9D3EE"/>
            </a:solidFill>
            <a:prstDash val="dash"/>
          </a:ln>
          <a:effectLst>
            <a:outerShdw blurRad="203200" dist="63500" dir="5400000" algn="t" rotWithShape="0">
              <a:srgbClr val="1E2761">
                <a:alpha val="16000"/>
              </a:srgbClr>
            </a:outerShdw>
          </a:effectLst>
        </p:spPr>
        <p:txBody>
          <a:bodyPr rtlCol="0" anchor="ctr"/>
          <a:lstStyle/>
          <a:p>
            <a:pPr algn="ctr"/>
            <a:endParaRPr dirty="0"/>
          </a:p>
        </p:txBody>
      </p:sp>
      <p:sp>
        <p:nvSpPr>
          <p:cNvPr id="11" name="TextBox 10"/>
          <p:cNvSpPr txBox="1"/>
          <p:nvPr/>
        </p:nvSpPr>
        <p:spPr>
          <a:xfrm>
            <a:off x="640080" y="6537960"/>
            <a:ext cx="2926080" cy="201168"/>
          </a:xfrm>
          <a:prstGeom prst="rect">
            <a:avLst/>
          </a:prstGeom>
          <a:noFill/>
        </p:spPr>
        <p:txBody>
          <a:bodyPr wrap="square" lIns="0" tIns="0" rIns="0" bIns="0" anchor="ctr">
            <a:noAutofit/>
          </a:bodyPr>
          <a:lstStyle/>
          <a:p>
            <a:pPr algn="l"/>
            <a:r>
              <a:rPr sz="1000" b="1" i="0">
                <a:solidFill>
                  <a:srgbClr val="002060"/>
                </a:solidFill>
                <a:latin typeface="Calibri"/>
              </a:rPr>
              <a:t>INTELLIGENT HIRING SYSTEM</a:t>
            </a:r>
          </a:p>
        </p:txBody>
      </p:sp>
      <p:sp>
        <p:nvSpPr>
          <p:cNvPr id="12" name="Oval 11"/>
          <p:cNvSpPr/>
          <p:nvPr/>
        </p:nvSpPr>
        <p:spPr>
          <a:xfrm>
            <a:off x="11256264" y="6492240"/>
            <a:ext cx="292608" cy="292608"/>
          </a:xfrm>
          <a:prstGeom prst="ellipse">
            <a:avLst/>
          </a:prstGeom>
          <a:solidFill>
            <a:srgbClr val="F4F7FE"/>
          </a:solidFill>
          <a:ln>
            <a:noFill/>
          </a:ln>
        </p:spPr>
        <p:txBody>
          <a:bodyPr rtlCol="0" anchor="ctr"/>
          <a:lstStyle/>
          <a:p>
            <a:pPr algn="ctr"/>
            <a:endParaRPr/>
          </a:p>
        </p:txBody>
      </p:sp>
      <p:sp>
        <p:nvSpPr>
          <p:cNvPr id="13" name="TextBox 12"/>
          <p:cNvSpPr txBox="1"/>
          <p:nvPr/>
        </p:nvSpPr>
        <p:spPr>
          <a:xfrm>
            <a:off x="11256264" y="6492240"/>
            <a:ext cx="292608" cy="292608"/>
          </a:xfrm>
          <a:prstGeom prst="rect">
            <a:avLst/>
          </a:prstGeom>
          <a:noFill/>
        </p:spPr>
        <p:txBody>
          <a:bodyPr wrap="square" lIns="0" tIns="0" rIns="0" bIns="0" anchor="ctr">
            <a:noAutofit/>
          </a:bodyPr>
          <a:lstStyle/>
          <a:p>
            <a:pPr algn="ctr"/>
            <a:r>
              <a:rPr sz="950" b="1" i="0">
                <a:solidFill>
                  <a:srgbClr val="1E2761"/>
                </a:solidFill>
                <a:latin typeface="Calibri"/>
              </a:rPr>
              <a:t>19</a:t>
            </a:r>
          </a:p>
        </p:txBody>
      </p:sp>
      <p:pic>
        <p:nvPicPr>
          <p:cNvPr id="15" name="Picture 14">
            <a:extLst>
              <a:ext uri="{FF2B5EF4-FFF2-40B4-BE49-F238E27FC236}">
                <a16:creationId xmlns:a16="http://schemas.microsoft.com/office/drawing/2014/main" id="{9FEBB831-A8E2-51B3-1FF6-71F56DD5D906}"/>
              </a:ext>
            </a:extLst>
          </p:cNvPr>
          <p:cNvPicPr>
            <a:picLocks noChangeAspect="1"/>
          </p:cNvPicPr>
          <p:nvPr/>
        </p:nvPicPr>
        <p:blipFill>
          <a:blip r:embed="rId2"/>
          <a:stretch>
            <a:fillRect/>
          </a:stretch>
        </p:blipFill>
        <p:spPr>
          <a:xfrm>
            <a:off x="4508905" y="304410"/>
            <a:ext cx="5849367" cy="624205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gradFill rotWithShape="1">
          <a:gsLst>
            <a:gs pos="0">
              <a:srgbClr val="FAFBFF"/>
            </a:gs>
            <a:gs pos="100000">
              <a:srgbClr val="E4ECFC"/>
            </a:gs>
          </a:gsLst>
          <a:lin ang="2700000" scaled="0"/>
        </a:gradFill>
        <a:effectLst/>
      </p:bgPr>
    </p:bg>
    <p:spTree>
      <p:nvGrpSpPr>
        <p:cNvPr id="1" name=""/>
        <p:cNvGrpSpPr/>
        <p:nvPr/>
      </p:nvGrpSpPr>
      <p:grpSpPr>
        <a:xfrm>
          <a:off x="0" y="0"/>
          <a:ext cx="0" cy="0"/>
          <a:chOff x="0" y="0"/>
          <a:chExt cx="0" cy="0"/>
        </a:xfrm>
      </p:grpSpPr>
      <p:sp>
        <p:nvSpPr>
          <p:cNvPr id="4" name="Text 2"/>
          <p:cNvSpPr/>
          <p:nvPr/>
        </p:nvSpPr>
        <p:spPr>
          <a:xfrm>
            <a:off x="640080" y="411242"/>
            <a:ext cx="9601200" cy="566928"/>
          </a:xfrm>
          <a:prstGeom prst="rect">
            <a:avLst/>
          </a:prstGeom>
          <a:noFill/>
          <a:ln/>
        </p:spPr>
        <p:txBody>
          <a:bodyPr wrap="square" lIns="0" tIns="0" rIns="0" bIns="0" rtlCol="0" anchor="ctr"/>
          <a:lstStyle/>
          <a:p>
            <a:r>
              <a:rPr lang="en-US" sz="3000" b="1" dirty="0">
                <a:solidFill>
                  <a:srgbClr val="1B1F3B"/>
                </a:solidFill>
                <a:latin typeface="Cambria" panose="02040503050406030204" pitchFamily="18" charset="0"/>
                <a:ea typeface="Cambria" panose="02040503050406030204" pitchFamily="18" charset="0"/>
                <a:cs typeface="Calibri" pitchFamily="34" charset="-120"/>
              </a:rPr>
              <a:t>Sequence Diagram</a:t>
            </a:r>
            <a:endParaRPr lang="en-US" sz="3000" dirty="0">
              <a:solidFill>
                <a:srgbClr val="0B1220"/>
              </a:solidFill>
              <a:latin typeface="Cambria" panose="02040503050406030204" pitchFamily="18" charset="0"/>
              <a:ea typeface="Cambria" panose="02040503050406030204" pitchFamily="18" charset="0"/>
            </a:endParaRPr>
          </a:p>
        </p:txBody>
      </p:sp>
      <p:sp>
        <p:nvSpPr>
          <p:cNvPr id="13" name="Shape 10"/>
          <p:cNvSpPr/>
          <p:nvPr/>
        </p:nvSpPr>
        <p:spPr>
          <a:xfrm>
            <a:off x="11256264" y="6492240"/>
            <a:ext cx="292608" cy="292608"/>
          </a:xfrm>
          <a:prstGeom prst="ellipse">
            <a:avLst/>
          </a:prstGeom>
          <a:solidFill>
            <a:srgbClr val="F4F7FE"/>
          </a:solidFill>
          <a:ln/>
        </p:spPr>
        <p:txBody>
          <a:bodyPr/>
          <a:lstStyle/>
          <a:p>
            <a:endParaRPr/>
          </a:p>
        </p:txBody>
      </p:sp>
      <p:sp>
        <p:nvSpPr>
          <p:cNvPr id="14" name="Text 11"/>
          <p:cNvSpPr/>
          <p:nvPr/>
        </p:nvSpPr>
        <p:spPr>
          <a:xfrm>
            <a:off x="11256264" y="6492240"/>
            <a:ext cx="292608" cy="292608"/>
          </a:xfrm>
          <a:prstGeom prst="rect">
            <a:avLst/>
          </a:prstGeom>
          <a:noFill/>
          <a:ln/>
        </p:spPr>
        <p:txBody>
          <a:bodyPr wrap="square" lIns="0" tIns="0" rIns="0" bIns="0" rtlCol="0" anchor="ctr"/>
          <a:lstStyle/>
          <a:p>
            <a:pPr marL="0" indent="0" algn="ctr">
              <a:buNone/>
            </a:pPr>
            <a:r>
              <a:rPr lang="en-US" sz="950" b="1" dirty="0">
                <a:solidFill>
                  <a:srgbClr val="1E2761"/>
                </a:solidFill>
                <a:latin typeface="Calibri" pitchFamily="34" charset="0"/>
                <a:ea typeface="Calibri" pitchFamily="34" charset="-122"/>
                <a:cs typeface="Calibri" pitchFamily="34" charset="-120"/>
              </a:rPr>
              <a:t>20</a:t>
            </a:r>
            <a:endParaRPr lang="en-US" sz="950" dirty="0"/>
          </a:p>
        </p:txBody>
      </p:sp>
      <p:pic>
        <p:nvPicPr>
          <p:cNvPr id="16" name="Picture 15">
            <a:extLst>
              <a:ext uri="{FF2B5EF4-FFF2-40B4-BE49-F238E27FC236}">
                <a16:creationId xmlns:a16="http://schemas.microsoft.com/office/drawing/2014/main" id="{B095325B-2CD2-C3CB-0A8C-CE5B0A685BCE}"/>
              </a:ext>
            </a:extLst>
          </p:cNvPr>
          <p:cNvPicPr>
            <a:picLocks noChangeAspect="1"/>
          </p:cNvPicPr>
          <p:nvPr/>
        </p:nvPicPr>
        <p:blipFill>
          <a:blip r:embed="rId3"/>
          <a:stretch>
            <a:fillRect/>
          </a:stretch>
        </p:blipFill>
        <p:spPr>
          <a:xfrm>
            <a:off x="648682" y="1032875"/>
            <a:ext cx="11090031" cy="5175504"/>
          </a:xfrm>
          <a:prstGeom prst="rect">
            <a:avLst/>
          </a:prstGeom>
        </p:spPr>
      </p:pic>
      <p:sp>
        <p:nvSpPr>
          <p:cNvPr id="6" name="Text 28">
            <a:extLst>
              <a:ext uri="{FF2B5EF4-FFF2-40B4-BE49-F238E27FC236}">
                <a16:creationId xmlns:a16="http://schemas.microsoft.com/office/drawing/2014/main" id="{47ED4B7F-34B7-73B8-6D24-D11488400AC0}"/>
              </a:ext>
            </a:extLst>
          </p:cNvPr>
          <p:cNvSpPr/>
          <p:nvPr/>
        </p:nvSpPr>
        <p:spPr>
          <a:xfrm>
            <a:off x="640080" y="6537960"/>
            <a:ext cx="1828800" cy="201168"/>
          </a:xfrm>
          <a:prstGeom prst="rect">
            <a:avLst/>
          </a:prstGeom>
          <a:noFill/>
          <a:ln/>
        </p:spPr>
        <p:txBody>
          <a:bodyPr wrap="square" lIns="0" tIns="0" rIns="0" bIns="0" rtlCol="0" anchor="ctr"/>
          <a:lstStyle/>
          <a:p>
            <a:endParaRPr lang="en-US" sz="1000" b="1" cap="all" dirty="0">
              <a:solidFill>
                <a:srgbClr val="002060"/>
              </a:solidFill>
            </a:endParaRPr>
          </a:p>
          <a:p>
            <a:r>
              <a:rPr lang="en-US" sz="1000" b="1" cap="all" dirty="0">
                <a:solidFill>
                  <a:srgbClr val="002060"/>
                </a:solidFill>
              </a:rPr>
              <a:t>Intelligent Hiring System</a:t>
            </a:r>
          </a:p>
          <a:p>
            <a:pPr marL="0" indent="0">
              <a:buNone/>
            </a:pP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5">
    <p:bg>
      <p:bgPr>
        <a:gradFill rotWithShape="1">
          <a:gsLst>
            <a:gs pos="0">
              <a:srgbClr val="FAFBFF"/>
            </a:gs>
            <a:gs pos="100000">
              <a:srgbClr val="E4ECFC"/>
            </a:gs>
          </a:gsLst>
          <a:lin ang="2700000" scaled="0"/>
        </a:gradFill>
        <a:effectLst/>
      </p:bgPr>
    </p:bg>
    <p:spTree>
      <p:nvGrpSpPr>
        <p:cNvPr id="1" name=""/>
        <p:cNvGrpSpPr/>
        <p:nvPr/>
      </p:nvGrpSpPr>
      <p:grpSpPr>
        <a:xfrm>
          <a:off x="0" y="0"/>
          <a:ext cx="0" cy="0"/>
          <a:chOff x="0" y="0"/>
          <a:chExt cx="0" cy="0"/>
        </a:xfrm>
      </p:grpSpPr>
      <p:sp>
        <p:nvSpPr>
          <p:cNvPr id="5" name="Text 3"/>
          <p:cNvSpPr/>
          <p:nvPr/>
        </p:nvSpPr>
        <p:spPr>
          <a:xfrm>
            <a:off x="640080" y="340911"/>
            <a:ext cx="9601200" cy="566928"/>
          </a:xfrm>
          <a:prstGeom prst="rect">
            <a:avLst/>
          </a:prstGeom>
          <a:noFill/>
          <a:ln/>
        </p:spPr>
        <p:txBody>
          <a:bodyPr wrap="square" lIns="0" tIns="0" rIns="0" bIns="0" rtlCol="0" anchor="ctr"/>
          <a:lstStyle/>
          <a:p>
            <a:pPr marL="0" indent="0">
              <a:buNone/>
            </a:pPr>
            <a:r>
              <a:rPr lang="en-US" sz="3000" b="1" dirty="0">
                <a:solidFill>
                  <a:srgbClr val="1B1F3B"/>
                </a:solidFill>
                <a:latin typeface="Cambria" panose="02040503050406030204" pitchFamily="18" charset="0"/>
                <a:ea typeface="Cambria" panose="02040503050406030204" pitchFamily="18" charset="0"/>
                <a:cs typeface="Calibri" pitchFamily="34" charset="-120"/>
              </a:rPr>
              <a:t>Entity Relationship (ER) Diagram</a:t>
            </a:r>
            <a:endParaRPr lang="en-US" sz="2800" dirty="0">
              <a:solidFill>
                <a:srgbClr val="1B1F3B"/>
              </a:solidFill>
              <a:latin typeface="Cambria" panose="02040503050406030204" pitchFamily="18" charset="0"/>
              <a:ea typeface="Cambria" panose="02040503050406030204" pitchFamily="18" charset="0"/>
            </a:endParaRPr>
          </a:p>
        </p:txBody>
      </p:sp>
      <p:sp>
        <p:nvSpPr>
          <p:cNvPr id="13" name="Shape 10"/>
          <p:cNvSpPr/>
          <p:nvPr/>
        </p:nvSpPr>
        <p:spPr>
          <a:xfrm>
            <a:off x="11256264" y="6492240"/>
            <a:ext cx="292608" cy="292608"/>
          </a:xfrm>
          <a:prstGeom prst="ellipse">
            <a:avLst/>
          </a:prstGeom>
          <a:solidFill>
            <a:srgbClr val="F4F7FE"/>
          </a:solidFill>
          <a:ln/>
        </p:spPr>
        <p:txBody>
          <a:bodyPr/>
          <a:lstStyle/>
          <a:p>
            <a:endParaRPr/>
          </a:p>
        </p:txBody>
      </p:sp>
      <p:sp>
        <p:nvSpPr>
          <p:cNvPr id="14" name="Text 11"/>
          <p:cNvSpPr/>
          <p:nvPr/>
        </p:nvSpPr>
        <p:spPr>
          <a:xfrm>
            <a:off x="11256264" y="6492240"/>
            <a:ext cx="292608" cy="292608"/>
          </a:xfrm>
          <a:prstGeom prst="rect">
            <a:avLst/>
          </a:prstGeom>
          <a:noFill/>
          <a:ln/>
        </p:spPr>
        <p:txBody>
          <a:bodyPr wrap="square" lIns="0" tIns="0" rIns="0" bIns="0" rtlCol="0" anchor="ctr"/>
          <a:lstStyle/>
          <a:p>
            <a:pPr marL="0" indent="0" algn="ctr">
              <a:buNone/>
            </a:pPr>
            <a:r>
              <a:rPr lang="en-US" sz="950" b="1" dirty="0">
                <a:solidFill>
                  <a:srgbClr val="1E2761"/>
                </a:solidFill>
                <a:latin typeface="Calibri" pitchFamily="34" charset="0"/>
                <a:ea typeface="Calibri" pitchFamily="34" charset="-122"/>
                <a:cs typeface="Calibri" pitchFamily="34" charset="-120"/>
              </a:rPr>
              <a:t>21</a:t>
            </a:r>
            <a:endParaRPr lang="en-US" sz="950" dirty="0"/>
          </a:p>
        </p:txBody>
      </p:sp>
      <p:sp>
        <p:nvSpPr>
          <p:cNvPr id="9100" name="Diagram Frame"/>
          <p:cNvSpPr/>
          <p:nvPr/>
        </p:nvSpPr>
        <p:spPr>
          <a:xfrm>
            <a:off x="960641" y="984770"/>
            <a:ext cx="10286347" cy="5372687"/>
          </a:xfrm>
          <a:prstGeom prst="roundRect">
            <a:avLst>
              <a:gd name="adj" fmla="val 2500"/>
            </a:avLst>
          </a:prstGeom>
          <a:solidFill>
            <a:srgbClr val="FFFFFF"/>
          </a:solidFill>
          <a:ln w="9525">
            <a:solidFill>
              <a:srgbClr val="C9D3EE"/>
            </a:solidFill>
          </a:ln>
          <a:effectLst>
            <a:outerShdw blurRad="203200" dist="63500" dir="5400000" algn="t" rotWithShape="0">
              <a:srgbClr val="1E2761">
                <a:alpha val="16000"/>
              </a:srgbClr>
            </a:outerShdw>
          </a:effectLst>
        </p:spPr>
        <p:txBody>
          <a:bodyPr/>
          <a:lstStyle/>
          <a:p>
            <a:endParaRPr lang="en-US"/>
          </a:p>
        </p:txBody>
      </p:sp>
      <p:pic>
        <p:nvPicPr>
          <p:cNvPr id="16" name="Picture 15">
            <a:extLst>
              <a:ext uri="{FF2B5EF4-FFF2-40B4-BE49-F238E27FC236}">
                <a16:creationId xmlns:a16="http://schemas.microsoft.com/office/drawing/2014/main" id="{B87224A2-7598-B1A9-AC96-B0F2ECAD5DA6}"/>
              </a:ext>
            </a:extLst>
          </p:cNvPr>
          <p:cNvPicPr>
            <a:picLocks noChangeAspect="1"/>
          </p:cNvPicPr>
          <p:nvPr/>
        </p:nvPicPr>
        <p:blipFill>
          <a:blip r:embed="rId3"/>
          <a:stretch>
            <a:fillRect/>
          </a:stretch>
        </p:blipFill>
        <p:spPr>
          <a:xfrm>
            <a:off x="1070641" y="1094770"/>
            <a:ext cx="10066347" cy="5152687"/>
          </a:xfrm>
          <a:prstGeom prst="rect">
            <a:avLst/>
          </a:prstGeom>
        </p:spPr>
      </p:pic>
      <p:sp>
        <p:nvSpPr>
          <p:cNvPr id="6" name="Text 28">
            <a:extLst>
              <a:ext uri="{FF2B5EF4-FFF2-40B4-BE49-F238E27FC236}">
                <a16:creationId xmlns:a16="http://schemas.microsoft.com/office/drawing/2014/main" id="{5BF1B79C-7C0A-C58A-A99B-213E2F93A422}"/>
              </a:ext>
            </a:extLst>
          </p:cNvPr>
          <p:cNvSpPr/>
          <p:nvPr/>
        </p:nvSpPr>
        <p:spPr>
          <a:xfrm>
            <a:off x="647895" y="6517089"/>
            <a:ext cx="1828800" cy="201168"/>
          </a:xfrm>
          <a:prstGeom prst="rect">
            <a:avLst/>
          </a:prstGeom>
          <a:noFill/>
          <a:ln/>
        </p:spPr>
        <p:txBody>
          <a:bodyPr wrap="square" lIns="0" tIns="0" rIns="0" bIns="0" rtlCol="0" anchor="ctr"/>
          <a:lstStyle/>
          <a:p>
            <a:endParaRPr lang="en-US" sz="1000" b="1" cap="all" dirty="0">
              <a:solidFill>
                <a:srgbClr val="002060"/>
              </a:solidFill>
            </a:endParaRPr>
          </a:p>
          <a:p>
            <a:r>
              <a:rPr lang="en-US" sz="1000" b="1" cap="all" dirty="0">
                <a:solidFill>
                  <a:srgbClr val="002060"/>
                </a:solidFill>
              </a:rPr>
              <a:t>Intelligent Hiring System</a:t>
            </a:r>
          </a:p>
          <a:p>
            <a:pPr marL="0" indent="0">
              <a:buNone/>
            </a:pP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rgbClr val="FAFBFF"/>
            </a:gs>
            <a:gs pos="100000">
              <a:srgbClr val="E4ECFC"/>
            </a:gs>
          </a:gsLst>
          <a:lin ang="2700000" scaled="0"/>
        </a:gradFill>
        <a:effectLst/>
      </p:bgPr>
    </p:bg>
    <p:spTree>
      <p:nvGrpSpPr>
        <p:cNvPr id="1" name=""/>
        <p:cNvGrpSpPr/>
        <p:nvPr/>
      </p:nvGrpSpPr>
      <p:grpSpPr>
        <a:xfrm>
          <a:off x="0" y="0"/>
          <a:ext cx="0" cy="0"/>
          <a:chOff x="0" y="0"/>
          <a:chExt cx="0" cy="0"/>
        </a:xfrm>
      </p:grpSpPr>
      <p:sp>
        <p:nvSpPr>
          <p:cNvPr id="9001" name="Decor 9001"/>
          <p:cNvSpPr/>
          <p:nvPr/>
        </p:nvSpPr>
        <p:spPr>
          <a:xfrm>
            <a:off x="8300000" y="-2300000"/>
            <a:ext cx="5200000" cy="5200000"/>
          </a:xfrm>
          <a:prstGeom prst="ellipse">
            <a:avLst/>
          </a:prstGeom>
          <a:solidFill>
            <a:srgbClr val="4A5BC4">
              <a:alpha val="9000"/>
            </a:srgbClr>
          </a:solidFill>
          <a:ln>
            <a:noFill/>
          </a:ln>
        </p:spPr>
        <p:txBody>
          <a:bodyPr/>
          <a:lstStyle/>
          <a:p>
            <a:endParaRPr lang="en-US"/>
          </a:p>
        </p:txBody>
      </p:sp>
      <p:sp>
        <p:nvSpPr>
          <p:cNvPr id="9002" name="Decor 9002"/>
          <p:cNvSpPr/>
          <p:nvPr/>
        </p:nvSpPr>
        <p:spPr>
          <a:xfrm>
            <a:off x="9300000" y="-1500000"/>
            <a:ext cx="3600000" cy="3600000"/>
          </a:xfrm>
          <a:prstGeom prst="ellipse">
            <a:avLst/>
          </a:prstGeom>
          <a:noFill/>
          <a:ln w="19050">
            <a:solidFill>
              <a:srgbClr val="4A5BC4">
                <a:alpha val="22000"/>
              </a:srgbClr>
            </a:solidFill>
          </a:ln>
        </p:spPr>
        <p:txBody>
          <a:bodyPr/>
          <a:lstStyle/>
          <a:p>
            <a:endParaRPr lang="en-US"/>
          </a:p>
        </p:txBody>
      </p:sp>
      <p:sp>
        <p:nvSpPr>
          <p:cNvPr id="9003" name="Decor 9003"/>
          <p:cNvSpPr/>
          <p:nvPr/>
        </p:nvSpPr>
        <p:spPr>
          <a:xfrm>
            <a:off x="-1500000" y="5000000"/>
            <a:ext cx="3300000" cy="3300000"/>
          </a:xfrm>
          <a:prstGeom prst="ellipse">
            <a:avLst/>
          </a:prstGeom>
          <a:solidFill>
            <a:srgbClr val="22D3A6">
              <a:alpha val="9000"/>
            </a:srgbClr>
          </a:solidFill>
          <a:ln>
            <a:noFill/>
          </a:ln>
        </p:spPr>
        <p:txBody>
          <a:bodyPr/>
          <a:lstStyle/>
          <a:p>
            <a:endParaRPr lang="en-US"/>
          </a:p>
        </p:txBody>
      </p:sp>
      <p:sp>
        <p:nvSpPr>
          <p:cNvPr id="9004" name="Decor 9004"/>
          <p:cNvSpPr/>
          <p:nvPr/>
        </p:nvSpPr>
        <p:spPr>
          <a:xfrm>
            <a:off x="-900000" y="5600000"/>
            <a:ext cx="1900000" cy="1900000"/>
          </a:xfrm>
          <a:prstGeom prst="ellipse">
            <a:avLst/>
          </a:prstGeom>
          <a:noFill/>
          <a:ln w="19050">
            <a:solidFill>
              <a:srgbClr val="4A5BC4">
                <a:alpha val="14000"/>
              </a:srgbClr>
            </a:solidFill>
          </a:ln>
        </p:spPr>
        <p:txBody>
          <a:bodyPr/>
          <a:lstStyle/>
          <a:p>
            <a:endParaRPr lang="en-US"/>
          </a:p>
        </p:txBody>
      </p:sp>
      <p:sp>
        <p:nvSpPr>
          <p:cNvPr id="4" name="TextBox 3"/>
          <p:cNvSpPr txBox="1"/>
          <p:nvPr/>
        </p:nvSpPr>
        <p:spPr>
          <a:xfrm>
            <a:off x="640080" y="489607"/>
            <a:ext cx="10881360" cy="566928"/>
          </a:xfrm>
          <a:prstGeom prst="rect">
            <a:avLst/>
          </a:prstGeom>
          <a:noFill/>
        </p:spPr>
        <p:txBody>
          <a:bodyPr wrap="square" lIns="0" tIns="0" rIns="0" bIns="0" anchor="ctr">
            <a:noAutofit/>
          </a:bodyPr>
          <a:lstStyle/>
          <a:p>
            <a:pPr algn="l"/>
            <a:r>
              <a:rPr sz="3000" b="1" i="0">
                <a:solidFill>
                  <a:srgbClr val="1B1F3B"/>
                </a:solidFill>
                <a:latin typeface="Cambria"/>
              </a:rPr>
              <a:t>Module Description</a:t>
            </a:r>
          </a:p>
        </p:txBody>
      </p:sp>
      <p:sp>
        <p:nvSpPr>
          <p:cNvPr id="5" name="Rounded Rectangle 4"/>
          <p:cNvSpPr/>
          <p:nvPr/>
        </p:nvSpPr>
        <p:spPr>
          <a:xfrm>
            <a:off x="640080" y="1303423"/>
            <a:ext cx="2535174" cy="2148840"/>
          </a:xfrm>
          <a:prstGeom prst="roundRect">
            <a:avLst>
              <a:gd name="adj" fmla="val 3404"/>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6" name="Oval 5"/>
          <p:cNvSpPr/>
          <p:nvPr/>
        </p:nvSpPr>
        <p:spPr>
          <a:xfrm>
            <a:off x="868680" y="1504591"/>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7" name="Picture 6" descr="image.png"/>
          <p:cNvPicPr>
            <a:picLocks noChangeAspect="1"/>
          </p:cNvPicPr>
          <p:nvPr/>
        </p:nvPicPr>
        <p:blipFill>
          <a:blip r:embed="rId2"/>
          <a:stretch>
            <a:fillRect/>
          </a:stretch>
        </p:blipFill>
        <p:spPr>
          <a:xfrm>
            <a:off x="968532" y="1604443"/>
            <a:ext cx="275783" cy="275783"/>
          </a:xfrm>
          <a:prstGeom prst="rect">
            <a:avLst/>
          </a:prstGeom>
        </p:spPr>
      </p:pic>
      <p:sp>
        <p:nvSpPr>
          <p:cNvPr id="8" name="TextBox 7"/>
          <p:cNvSpPr txBox="1"/>
          <p:nvPr/>
        </p:nvSpPr>
        <p:spPr>
          <a:xfrm>
            <a:off x="868680" y="2126383"/>
            <a:ext cx="2077974" cy="530352"/>
          </a:xfrm>
          <a:prstGeom prst="rect">
            <a:avLst/>
          </a:prstGeom>
          <a:noFill/>
        </p:spPr>
        <p:txBody>
          <a:bodyPr wrap="square" lIns="0" tIns="0" rIns="0" bIns="0" anchor="t">
            <a:noAutofit/>
          </a:bodyPr>
          <a:lstStyle/>
          <a:p>
            <a:pPr algn="l"/>
            <a:r>
              <a:rPr sz="1500" b="1" i="0">
                <a:solidFill>
                  <a:srgbClr val="1B1F3B"/>
                </a:solidFill>
                <a:latin typeface="Calibri"/>
              </a:rPr>
              <a:t>User Authentication</a:t>
            </a:r>
          </a:p>
        </p:txBody>
      </p:sp>
      <p:sp>
        <p:nvSpPr>
          <p:cNvPr id="9" name="TextBox 8"/>
          <p:cNvSpPr txBox="1"/>
          <p:nvPr/>
        </p:nvSpPr>
        <p:spPr>
          <a:xfrm>
            <a:off x="868680" y="2720743"/>
            <a:ext cx="2077974" cy="640080"/>
          </a:xfrm>
          <a:prstGeom prst="rect">
            <a:avLst/>
          </a:prstGeom>
          <a:noFill/>
        </p:spPr>
        <p:txBody>
          <a:bodyPr wrap="square" lIns="0" tIns="0" rIns="0" bIns="0" anchor="t">
            <a:noAutofit/>
          </a:bodyPr>
          <a:lstStyle/>
          <a:p>
            <a:pPr algn="l"/>
            <a:r>
              <a:rPr sz="1400" b="0" i="0">
                <a:solidFill>
                  <a:srgbClr val="0B1220"/>
                </a:solidFill>
                <a:latin typeface="Calibri"/>
              </a:rPr>
              <a:t>Secure login for candidates, HR and admin</a:t>
            </a:r>
          </a:p>
        </p:txBody>
      </p:sp>
      <p:sp>
        <p:nvSpPr>
          <p:cNvPr id="10" name="Rounded Rectangle 9"/>
          <p:cNvSpPr/>
          <p:nvPr/>
        </p:nvSpPr>
        <p:spPr>
          <a:xfrm>
            <a:off x="3431286" y="1303423"/>
            <a:ext cx="2535174" cy="2148840"/>
          </a:xfrm>
          <a:prstGeom prst="roundRect">
            <a:avLst>
              <a:gd name="adj" fmla="val 3404"/>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11" name="Oval 10"/>
          <p:cNvSpPr/>
          <p:nvPr/>
        </p:nvSpPr>
        <p:spPr>
          <a:xfrm>
            <a:off x="3659886" y="1504591"/>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12" name="Picture 11" descr="image.png"/>
          <p:cNvPicPr>
            <a:picLocks noChangeAspect="1"/>
          </p:cNvPicPr>
          <p:nvPr/>
        </p:nvPicPr>
        <p:blipFill>
          <a:blip r:embed="rId3"/>
          <a:stretch>
            <a:fillRect/>
          </a:stretch>
        </p:blipFill>
        <p:spPr>
          <a:xfrm>
            <a:off x="3759738" y="1604443"/>
            <a:ext cx="275783" cy="275783"/>
          </a:xfrm>
          <a:prstGeom prst="rect">
            <a:avLst/>
          </a:prstGeom>
        </p:spPr>
      </p:pic>
      <p:sp>
        <p:nvSpPr>
          <p:cNvPr id="13" name="TextBox 12"/>
          <p:cNvSpPr txBox="1"/>
          <p:nvPr/>
        </p:nvSpPr>
        <p:spPr>
          <a:xfrm>
            <a:off x="3659886" y="2126383"/>
            <a:ext cx="2077974" cy="530352"/>
          </a:xfrm>
          <a:prstGeom prst="rect">
            <a:avLst/>
          </a:prstGeom>
          <a:noFill/>
        </p:spPr>
        <p:txBody>
          <a:bodyPr wrap="square" lIns="0" tIns="0" rIns="0" bIns="0" anchor="t">
            <a:noAutofit/>
          </a:bodyPr>
          <a:lstStyle/>
          <a:p>
            <a:pPr algn="l"/>
            <a:r>
              <a:rPr sz="1500" b="1" i="0">
                <a:solidFill>
                  <a:srgbClr val="1B1F3B"/>
                </a:solidFill>
                <a:latin typeface="Calibri"/>
              </a:rPr>
              <a:t>Job Management</a:t>
            </a:r>
          </a:p>
        </p:txBody>
      </p:sp>
      <p:sp>
        <p:nvSpPr>
          <p:cNvPr id="14" name="TextBox 13"/>
          <p:cNvSpPr txBox="1"/>
          <p:nvPr/>
        </p:nvSpPr>
        <p:spPr>
          <a:xfrm>
            <a:off x="3659886" y="2720743"/>
            <a:ext cx="2077974" cy="640080"/>
          </a:xfrm>
          <a:prstGeom prst="rect">
            <a:avLst/>
          </a:prstGeom>
          <a:noFill/>
        </p:spPr>
        <p:txBody>
          <a:bodyPr wrap="square" lIns="0" tIns="0" rIns="0" bIns="0" anchor="t">
            <a:noAutofit/>
          </a:bodyPr>
          <a:lstStyle/>
          <a:p>
            <a:pPr algn="l"/>
            <a:r>
              <a:rPr sz="1400" b="0" i="0">
                <a:solidFill>
                  <a:srgbClr val="0B1220"/>
                </a:solidFill>
                <a:latin typeface="Calibri"/>
              </a:rPr>
              <a:t>Create and manage open job postings</a:t>
            </a:r>
          </a:p>
        </p:txBody>
      </p:sp>
      <p:sp>
        <p:nvSpPr>
          <p:cNvPr id="15" name="Rounded Rectangle 14"/>
          <p:cNvSpPr/>
          <p:nvPr/>
        </p:nvSpPr>
        <p:spPr>
          <a:xfrm>
            <a:off x="6222492" y="1303423"/>
            <a:ext cx="2535174" cy="2148840"/>
          </a:xfrm>
          <a:prstGeom prst="roundRect">
            <a:avLst>
              <a:gd name="adj" fmla="val 3404"/>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16" name="Oval 15"/>
          <p:cNvSpPr/>
          <p:nvPr/>
        </p:nvSpPr>
        <p:spPr>
          <a:xfrm>
            <a:off x="6451092" y="1504591"/>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17" name="Picture 16" descr="image.png"/>
          <p:cNvPicPr>
            <a:picLocks noChangeAspect="1"/>
          </p:cNvPicPr>
          <p:nvPr/>
        </p:nvPicPr>
        <p:blipFill>
          <a:blip r:embed="rId4"/>
          <a:stretch>
            <a:fillRect/>
          </a:stretch>
        </p:blipFill>
        <p:spPr>
          <a:xfrm>
            <a:off x="6550944" y="1604443"/>
            <a:ext cx="275783" cy="275783"/>
          </a:xfrm>
          <a:prstGeom prst="rect">
            <a:avLst/>
          </a:prstGeom>
        </p:spPr>
      </p:pic>
      <p:sp>
        <p:nvSpPr>
          <p:cNvPr id="18" name="TextBox 17"/>
          <p:cNvSpPr txBox="1"/>
          <p:nvPr/>
        </p:nvSpPr>
        <p:spPr>
          <a:xfrm>
            <a:off x="6451092" y="2126383"/>
            <a:ext cx="2077974" cy="530352"/>
          </a:xfrm>
          <a:prstGeom prst="rect">
            <a:avLst/>
          </a:prstGeom>
          <a:noFill/>
        </p:spPr>
        <p:txBody>
          <a:bodyPr wrap="square" lIns="0" tIns="0" rIns="0" bIns="0" anchor="t">
            <a:noAutofit/>
          </a:bodyPr>
          <a:lstStyle/>
          <a:p>
            <a:pPr algn="l"/>
            <a:r>
              <a:rPr sz="1500" b="1" i="0">
                <a:solidFill>
                  <a:srgbClr val="1B1F3B"/>
                </a:solidFill>
                <a:latin typeface="Calibri"/>
              </a:rPr>
              <a:t>Resume Management</a:t>
            </a:r>
          </a:p>
        </p:txBody>
      </p:sp>
      <p:sp>
        <p:nvSpPr>
          <p:cNvPr id="19" name="TextBox 18"/>
          <p:cNvSpPr txBox="1"/>
          <p:nvPr/>
        </p:nvSpPr>
        <p:spPr>
          <a:xfrm>
            <a:off x="6451092" y="2720743"/>
            <a:ext cx="2077974" cy="640080"/>
          </a:xfrm>
          <a:prstGeom prst="rect">
            <a:avLst/>
          </a:prstGeom>
          <a:noFill/>
        </p:spPr>
        <p:txBody>
          <a:bodyPr wrap="square" lIns="0" tIns="0" rIns="0" bIns="0" anchor="t">
            <a:noAutofit/>
          </a:bodyPr>
          <a:lstStyle/>
          <a:p>
            <a:pPr algn="l"/>
            <a:r>
              <a:rPr sz="1400" b="0" i="0">
                <a:solidFill>
                  <a:srgbClr val="0B1220"/>
                </a:solidFill>
                <a:latin typeface="Calibri"/>
              </a:rPr>
              <a:t>Candidates submit resumes online</a:t>
            </a:r>
          </a:p>
        </p:txBody>
      </p:sp>
      <p:sp>
        <p:nvSpPr>
          <p:cNvPr id="20" name="Rounded Rectangle 19"/>
          <p:cNvSpPr/>
          <p:nvPr/>
        </p:nvSpPr>
        <p:spPr>
          <a:xfrm>
            <a:off x="9013698" y="1303423"/>
            <a:ext cx="2535174" cy="2148840"/>
          </a:xfrm>
          <a:prstGeom prst="roundRect">
            <a:avLst>
              <a:gd name="adj" fmla="val 3404"/>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21" name="Oval 20"/>
          <p:cNvSpPr/>
          <p:nvPr/>
        </p:nvSpPr>
        <p:spPr>
          <a:xfrm>
            <a:off x="9242298" y="1504591"/>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22" name="Picture 21" descr="image.png"/>
          <p:cNvPicPr>
            <a:picLocks noChangeAspect="1"/>
          </p:cNvPicPr>
          <p:nvPr/>
        </p:nvPicPr>
        <p:blipFill>
          <a:blip r:embed="rId5"/>
          <a:stretch>
            <a:fillRect/>
          </a:stretch>
        </p:blipFill>
        <p:spPr>
          <a:xfrm>
            <a:off x="9342150" y="1604443"/>
            <a:ext cx="275783" cy="275783"/>
          </a:xfrm>
          <a:prstGeom prst="rect">
            <a:avLst/>
          </a:prstGeom>
        </p:spPr>
      </p:pic>
      <p:sp>
        <p:nvSpPr>
          <p:cNvPr id="23" name="TextBox 22"/>
          <p:cNvSpPr txBox="1"/>
          <p:nvPr/>
        </p:nvSpPr>
        <p:spPr>
          <a:xfrm>
            <a:off x="9242298" y="2126383"/>
            <a:ext cx="2077974" cy="530352"/>
          </a:xfrm>
          <a:prstGeom prst="rect">
            <a:avLst/>
          </a:prstGeom>
          <a:noFill/>
        </p:spPr>
        <p:txBody>
          <a:bodyPr wrap="square" lIns="0" tIns="0" rIns="0" bIns="0" anchor="t">
            <a:noAutofit/>
          </a:bodyPr>
          <a:lstStyle/>
          <a:p>
            <a:pPr algn="l"/>
            <a:r>
              <a:rPr sz="1500" b="1" i="0">
                <a:solidFill>
                  <a:srgbClr val="1B1F3B"/>
                </a:solidFill>
                <a:latin typeface="Calibri"/>
              </a:rPr>
              <a:t>Aptitude Assessment</a:t>
            </a:r>
          </a:p>
        </p:txBody>
      </p:sp>
      <p:sp>
        <p:nvSpPr>
          <p:cNvPr id="24" name="TextBox 23"/>
          <p:cNvSpPr txBox="1"/>
          <p:nvPr/>
        </p:nvSpPr>
        <p:spPr>
          <a:xfrm>
            <a:off x="9242298" y="2720743"/>
            <a:ext cx="2077974" cy="640080"/>
          </a:xfrm>
          <a:prstGeom prst="rect">
            <a:avLst/>
          </a:prstGeom>
          <a:noFill/>
        </p:spPr>
        <p:txBody>
          <a:bodyPr wrap="square" lIns="0" tIns="0" rIns="0" bIns="0" anchor="t">
            <a:noAutofit/>
          </a:bodyPr>
          <a:lstStyle/>
          <a:p>
            <a:pPr algn="l"/>
            <a:r>
              <a:rPr sz="1400" b="0" i="0">
                <a:solidFill>
                  <a:srgbClr val="0B1220"/>
                </a:solidFill>
                <a:latin typeface="Calibri"/>
              </a:rPr>
              <a:t>Timed online skill-based tests</a:t>
            </a:r>
          </a:p>
        </p:txBody>
      </p:sp>
      <p:sp>
        <p:nvSpPr>
          <p:cNvPr id="25" name="Rounded Rectangle 24"/>
          <p:cNvSpPr/>
          <p:nvPr/>
        </p:nvSpPr>
        <p:spPr>
          <a:xfrm>
            <a:off x="640080" y="3726583"/>
            <a:ext cx="2535174" cy="2148840"/>
          </a:xfrm>
          <a:prstGeom prst="roundRect">
            <a:avLst>
              <a:gd name="adj" fmla="val 3404"/>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26" name="Oval 25"/>
          <p:cNvSpPr/>
          <p:nvPr/>
        </p:nvSpPr>
        <p:spPr>
          <a:xfrm>
            <a:off x="868680" y="3927751"/>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27" name="Picture 26" descr="image.png"/>
          <p:cNvPicPr>
            <a:picLocks noChangeAspect="1"/>
          </p:cNvPicPr>
          <p:nvPr/>
        </p:nvPicPr>
        <p:blipFill>
          <a:blip r:embed="rId6"/>
          <a:stretch>
            <a:fillRect/>
          </a:stretch>
        </p:blipFill>
        <p:spPr>
          <a:xfrm>
            <a:off x="968532" y="4027603"/>
            <a:ext cx="275783" cy="275783"/>
          </a:xfrm>
          <a:prstGeom prst="rect">
            <a:avLst/>
          </a:prstGeom>
        </p:spPr>
      </p:pic>
      <p:sp>
        <p:nvSpPr>
          <p:cNvPr id="28" name="TextBox 27"/>
          <p:cNvSpPr txBox="1"/>
          <p:nvPr/>
        </p:nvSpPr>
        <p:spPr>
          <a:xfrm>
            <a:off x="868680" y="4549543"/>
            <a:ext cx="2077974" cy="530352"/>
          </a:xfrm>
          <a:prstGeom prst="rect">
            <a:avLst/>
          </a:prstGeom>
          <a:noFill/>
        </p:spPr>
        <p:txBody>
          <a:bodyPr wrap="square" lIns="0" tIns="0" rIns="0" bIns="0" anchor="t">
            <a:noAutofit/>
          </a:bodyPr>
          <a:lstStyle/>
          <a:p>
            <a:pPr algn="l"/>
            <a:r>
              <a:rPr sz="1500" b="1" i="0">
                <a:solidFill>
                  <a:srgbClr val="1B1F3B"/>
                </a:solidFill>
                <a:latin typeface="Calibri"/>
              </a:rPr>
              <a:t>Personality Assessment</a:t>
            </a:r>
          </a:p>
        </p:txBody>
      </p:sp>
      <p:sp>
        <p:nvSpPr>
          <p:cNvPr id="29" name="TextBox 28"/>
          <p:cNvSpPr txBox="1"/>
          <p:nvPr/>
        </p:nvSpPr>
        <p:spPr>
          <a:xfrm>
            <a:off x="868680" y="5143903"/>
            <a:ext cx="2077974" cy="640080"/>
          </a:xfrm>
          <a:prstGeom prst="rect">
            <a:avLst/>
          </a:prstGeom>
          <a:noFill/>
        </p:spPr>
        <p:txBody>
          <a:bodyPr wrap="square" lIns="0" tIns="0" rIns="0" bIns="0" anchor="t">
            <a:noAutofit/>
          </a:bodyPr>
          <a:lstStyle/>
          <a:p>
            <a:pPr algn="l"/>
            <a:r>
              <a:rPr sz="1400" b="0" i="0">
                <a:solidFill>
                  <a:srgbClr val="0B1220"/>
                </a:solidFill>
                <a:latin typeface="Calibri"/>
              </a:rPr>
              <a:t>Behavioural fit questionnaire</a:t>
            </a:r>
          </a:p>
        </p:txBody>
      </p:sp>
      <p:sp>
        <p:nvSpPr>
          <p:cNvPr id="30" name="Rounded Rectangle 29"/>
          <p:cNvSpPr/>
          <p:nvPr/>
        </p:nvSpPr>
        <p:spPr>
          <a:xfrm>
            <a:off x="3431286" y="3726583"/>
            <a:ext cx="2535174" cy="2148840"/>
          </a:xfrm>
          <a:prstGeom prst="roundRect">
            <a:avLst>
              <a:gd name="adj" fmla="val 3404"/>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31" name="Oval 30"/>
          <p:cNvSpPr/>
          <p:nvPr/>
        </p:nvSpPr>
        <p:spPr>
          <a:xfrm>
            <a:off x="3659886" y="3927751"/>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32" name="Picture 31" descr="image.png"/>
          <p:cNvPicPr>
            <a:picLocks noChangeAspect="1"/>
          </p:cNvPicPr>
          <p:nvPr/>
        </p:nvPicPr>
        <p:blipFill>
          <a:blip r:embed="rId7"/>
          <a:stretch>
            <a:fillRect/>
          </a:stretch>
        </p:blipFill>
        <p:spPr>
          <a:xfrm>
            <a:off x="3759738" y="4027603"/>
            <a:ext cx="275783" cy="275783"/>
          </a:xfrm>
          <a:prstGeom prst="rect">
            <a:avLst/>
          </a:prstGeom>
        </p:spPr>
      </p:pic>
      <p:sp>
        <p:nvSpPr>
          <p:cNvPr id="33" name="TextBox 32"/>
          <p:cNvSpPr txBox="1"/>
          <p:nvPr/>
        </p:nvSpPr>
        <p:spPr>
          <a:xfrm>
            <a:off x="3659886" y="4549543"/>
            <a:ext cx="2077974" cy="530352"/>
          </a:xfrm>
          <a:prstGeom prst="rect">
            <a:avLst/>
          </a:prstGeom>
          <a:noFill/>
        </p:spPr>
        <p:txBody>
          <a:bodyPr wrap="square" lIns="0" tIns="0" rIns="0" bIns="0" anchor="t">
            <a:noAutofit/>
          </a:bodyPr>
          <a:lstStyle/>
          <a:p>
            <a:pPr algn="l"/>
            <a:r>
              <a:rPr sz="1500" b="1" i="0">
                <a:solidFill>
                  <a:srgbClr val="1B1F3B"/>
                </a:solidFill>
                <a:latin typeface="Calibri"/>
              </a:rPr>
              <a:t>Recruitment Management</a:t>
            </a:r>
          </a:p>
        </p:txBody>
      </p:sp>
      <p:sp>
        <p:nvSpPr>
          <p:cNvPr id="34" name="TextBox 33"/>
          <p:cNvSpPr txBox="1"/>
          <p:nvPr/>
        </p:nvSpPr>
        <p:spPr>
          <a:xfrm>
            <a:off x="3659886" y="5143903"/>
            <a:ext cx="2077974" cy="640080"/>
          </a:xfrm>
          <a:prstGeom prst="rect">
            <a:avLst/>
          </a:prstGeom>
          <a:noFill/>
        </p:spPr>
        <p:txBody>
          <a:bodyPr wrap="square" lIns="0" tIns="0" rIns="0" bIns="0" anchor="t">
            <a:noAutofit/>
          </a:bodyPr>
          <a:lstStyle/>
          <a:p>
            <a:pPr algn="l"/>
            <a:r>
              <a:rPr sz="1400" b="0" i="0">
                <a:solidFill>
                  <a:srgbClr val="0B1220"/>
                </a:solidFill>
                <a:latin typeface="Calibri"/>
              </a:rPr>
              <a:t>Central monitoring and management view</a:t>
            </a:r>
          </a:p>
        </p:txBody>
      </p:sp>
      <p:sp>
        <p:nvSpPr>
          <p:cNvPr id="35" name="Rounded Rectangle 34"/>
          <p:cNvSpPr/>
          <p:nvPr/>
        </p:nvSpPr>
        <p:spPr>
          <a:xfrm>
            <a:off x="6222492" y="3726583"/>
            <a:ext cx="2535174" cy="2148840"/>
          </a:xfrm>
          <a:prstGeom prst="roundRect">
            <a:avLst>
              <a:gd name="adj" fmla="val 3404"/>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36" name="Oval 35"/>
          <p:cNvSpPr/>
          <p:nvPr/>
        </p:nvSpPr>
        <p:spPr>
          <a:xfrm>
            <a:off x="6451092" y="3927751"/>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37" name="Picture 36" descr="image.png"/>
          <p:cNvPicPr>
            <a:picLocks noChangeAspect="1"/>
          </p:cNvPicPr>
          <p:nvPr/>
        </p:nvPicPr>
        <p:blipFill>
          <a:blip r:embed="rId8"/>
          <a:stretch>
            <a:fillRect/>
          </a:stretch>
        </p:blipFill>
        <p:spPr>
          <a:xfrm>
            <a:off x="6550944" y="4027603"/>
            <a:ext cx="275783" cy="275783"/>
          </a:xfrm>
          <a:prstGeom prst="rect">
            <a:avLst/>
          </a:prstGeom>
        </p:spPr>
      </p:pic>
      <p:sp>
        <p:nvSpPr>
          <p:cNvPr id="38" name="TextBox 37"/>
          <p:cNvSpPr txBox="1"/>
          <p:nvPr/>
        </p:nvSpPr>
        <p:spPr>
          <a:xfrm>
            <a:off x="6451092" y="4549543"/>
            <a:ext cx="2077974" cy="530352"/>
          </a:xfrm>
          <a:prstGeom prst="rect">
            <a:avLst/>
          </a:prstGeom>
          <a:noFill/>
        </p:spPr>
        <p:txBody>
          <a:bodyPr wrap="square" lIns="0" tIns="0" rIns="0" bIns="0" anchor="t">
            <a:noAutofit/>
          </a:bodyPr>
          <a:lstStyle/>
          <a:p>
            <a:pPr algn="l"/>
            <a:r>
              <a:rPr sz="1500" b="1" i="0">
                <a:solidFill>
                  <a:srgbClr val="1B1F3B"/>
                </a:solidFill>
                <a:latin typeface="Calibri"/>
              </a:rPr>
              <a:t>Candidate Evaluation</a:t>
            </a:r>
          </a:p>
        </p:txBody>
      </p:sp>
      <p:sp>
        <p:nvSpPr>
          <p:cNvPr id="39" name="TextBox 38"/>
          <p:cNvSpPr txBox="1"/>
          <p:nvPr/>
        </p:nvSpPr>
        <p:spPr>
          <a:xfrm>
            <a:off x="6451092" y="5143903"/>
            <a:ext cx="2077974" cy="640080"/>
          </a:xfrm>
          <a:prstGeom prst="rect">
            <a:avLst/>
          </a:prstGeom>
          <a:noFill/>
        </p:spPr>
        <p:txBody>
          <a:bodyPr wrap="square" lIns="0" tIns="0" rIns="0" bIns="0" anchor="t">
            <a:noAutofit/>
          </a:bodyPr>
          <a:lstStyle/>
          <a:p>
            <a:pPr algn="l"/>
            <a:r>
              <a:rPr sz="1400" b="0" i="0">
                <a:solidFill>
                  <a:srgbClr val="0B1220"/>
                </a:solidFill>
                <a:latin typeface="Calibri"/>
              </a:rPr>
              <a:t>Score-based shortlist generation</a:t>
            </a:r>
          </a:p>
        </p:txBody>
      </p:sp>
      <p:sp>
        <p:nvSpPr>
          <p:cNvPr id="40" name="Rounded Rectangle 39"/>
          <p:cNvSpPr/>
          <p:nvPr/>
        </p:nvSpPr>
        <p:spPr>
          <a:xfrm>
            <a:off x="9013698" y="3726583"/>
            <a:ext cx="2535174" cy="2148840"/>
          </a:xfrm>
          <a:prstGeom prst="roundRect">
            <a:avLst>
              <a:gd name="adj" fmla="val 3404"/>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41" name="Oval 40"/>
          <p:cNvSpPr/>
          <p:nvPr/>
        </p:nvSpPr>
        <p:spPr>
          <a:xfrm>
            <a:off x="9242298" y="3927751"/>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42" name="Picture 41" descr="image.png"/>
          <p:cNvPicPr>
            <a:picLocks noChangeAspect="1"/>
          </p:cNvPicPr>
          <p:nvPr/>
        </p:nvPicPr>
        <p:blipFill>
          <a:blip r:embed="rId9"/>
          <a:stretch>
            <a:fillRect/>
          </a:stretch>
        </p:blipFill>
        <p:spPr>
          <a:xfrm>
            <a:off x="9342150" y="4027603"/>
            <a:ext cx="275783" cy="275783"/>
          </a:xfrm>
          <a:prstGeom prst="rect">
            <a:avLst/>
          </a:prstGeom>
        </p:spPr>
      </p:pic>
      <p:sp>
        <p:nvSpPr>
          <p:cNvPr id="43" name="TextBox 42"/>
          <p:cNvSpPr txBox="1"/>
          <p:nvPr/>
        </p:nvSpPr>
        <p:spPr>
          <a:xfrm>
            <a:off x="9242298" y="4549543"/>
            <a:ext cx="2077974" cy="530352"/>
          </a:xfrm>
          <a:prstGeom prst="rect">
            <a:avLst/>
          </a:prstGeom>
          <a:noFill/>
        </p:spPr>
        <p:txBody>
          <a:bodyPr wrap="square" lIns="0" tIns="0" rIns="0" bIns="0" anchor="t">
            <a:noAutofit/>
          </a:bodyPr>
          <a:lstStyle/>
          <a:p>
            <a:pPr algn="l"/>
            <a:r>
              <a:rPr sz="1500" b="1" i="0">
                <a:solidFill>
                  <a:srgbClr val="1B1F3B"/>
                </a:solidFill>
                <a:latin typeface="Calibri"/>
              </a:rPr>
              <a:t>Notification</a:t>
            </a:r>
          </a:p>
        </p:txBody>
      </p:sp>
      <p:sp>
        <p:nvSpPr>
          <p:cNvPr id="44" name="TextBox 43"/>
          <p:cNvSpPr txBox="1"/>
          <p:nvPr/>
        </p:nvSpPr>
        <p:spPr>
          <a:xfrm>
            <a:off x="9242298" y="5143903"/>
            <a:ext cx="2077974" cy="640080"/>
          </a:xfrm>
          <a:prstGeom prst="rect">
            <a:avLst/>
          </a:prstGeom>
          <a:noFill/>
        </p:spPr>
        <p:txBody>
          <a:bodyPr wrap="square" lIns="0" tIns="0" rIns="0" bIns="0" anchor="t">
            <a:noAutofit/>
          </a:bodyPr>
          <a:lstStyle/>
          <a:p>
            <a:pPr algn="l"/>
            <a:r>
              <a:rPr sz="1400" b="0" i="0">
                <a:solidFill>
                  <a:srgbClr val="0B1220"/>
                </a:solidFill>
                <a:latin typeface="Calibri"/>
              </a:rPr>
              <a:t>Automated status updates to candidates</a:t>
            </a:r>
          </a:p>
        </p:txBody>
      </p:sp>
      <p:sp>
        <p:nvSpPr>
          <p:cNvPr id="45" name="TextBox 44"/>
          <p:cNvSpPr txBox="1"/>
          <p:nvPr/>
        </p:nvSpPr>
        <p:spPr>
          <a:xfrm>
            <a:off x="640080" y="6537960"/>
            <a:ext cx="2926080" cy="201168"/>
          </a:xfrm>
          <a:prstGeom prst="rect">
            <a:avLst/>
          </a:prstGeom>
          <a:noFill/>
        </p:spPr>
        <p:txBody>
          <a:bodyPr wrap="square" lIns="0" tIns="0" rIns="0" bIns="0" anchor="ctr">
            <a:noAutofit/>
          </a:bodyPr>
          <a:lstStyle/>
          <a:p>
            <a:pPr algn="l"/>
            <a:r>
              <a:rPr sz="1000" b="1" i="0">
                <a:solidFill>
                  <a:srgbClr val="002060"/>
                </a:solidFill>
                <a:latin typeface="Calibri"/>
              </a:rPr>
              <a:t>INTELLIGENT HIRING SYSTEM</a:t>
            </a:r>
          </a:p>
        </p:txBody>
      </p:sp>
      <p:sp>
        <p:nvSpPr>
          <p:cNvPr id="46" name="Oval 45"/>
          <p:cNvSpPr/>
          <p:nvPr/>
        </p:nvSpPr>
        <p:spPr>
          <a:xfrm>
            <a:off x="11256264" y="6492240"/>
            <a:ext cx="292608" cy="292608"/>
          </a:xfrm>
          <a:prstGeom prst="ellipse">
            <a:avLst/>
          </a:prstGeom>
          <a:solidFill>
            <a:srgbClr val="F4F7FE"/>
          </a:solidFill>
          <a:ln>
            <a:noFill/>
          </a:ln>
        </p:spPr>
        <p:txBody>
          <a:bodyPr rtlCol="0" anchor="ctr"/>
          <a:lstStyle/>
          <a:p>
            <a:pPr algn="ctr"/>
            <a:endParaRPr/>
          </a:p>
        </p:txBody>
      </p:sp>
      <p:sp>
        <p:nvSpPr>
          <p:cNvPr id="47" name="TextBox 46"/>
          <p:cNvSpPr txBox="1"/>
          <p:nvPr/>
        </p:nvSpPr>
        <p:spPr>
          <a:xfrm>
            <a:off x="11256264" y="6492240"/>
            <a:ext cx="292608" cy="292608"/>
          </a:xfrm>
          <a:prstGeom prst="rect">
            <a:avLst/>
          </a:prstGeom>
          <a:noFill/>
        </p:spPr>
        <p:txBody>
          <a:bodyPr wrap="square" lIns="0" tIns="0" rIns="0" bIns="0" anchor="ctr">
            <a:noAutofit/>
          </a:bodyPr>
          <a:lstStyle/>
          <a:p>
            <a:pPr algn="ctr"/>
            <a:r>
              <a:rPr sz="950" b="1" i="0">
                <a:solidFill>
                  <a:srgbClr val="1E2761"/>
                </a:solidFill>
                <a:latin typeface="Calibri"/>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rgbClr val="FAFBFF"/>
            </a:gs>
            <a:gs pos="100000">
              <a:srgbClr val="E4ECFC"/>
            </a:gs>
          </a:gsLst>
          <a:lin ang="2700000" scaled="0"/>
        </a:gradFill>
        <a:effectLst/>
      </p:bgPr>
    </p:bg>
    <p:spTree>
      <p:nvGrpSpPr>
        <p:cNvPr id="1" name=""/>
        <p:cNvGrpSpPr/>
        <p:nvPr/>
      </p:nvGrpSpPr>
      <p:grpSpPr>
        <a:xfrm>
          <a:off x="0" y="0"/>
          <a:ext cx="0" cy="0"/>
          <a:chOff x="0" y="0"/>
          <a:chExt cx="0" cy="0"/>
        </a:xfrm>
      </p:grpSpPr>
      <p:sp>
        <p:nvSpPr>
          <p:cNvPr id="9001" name="Decor 9001"/>
          <p:cNvSpPr/>
          <p:nvPr/>
        </p:nvSpPr>
        <p:spPr>
          <a:xfrm>
            <a:off x="8300000" y="-2300000"/>
            <a:ext cx="5200000" cy="5200000"/>
          </a:xfrm>
          <a:prstGeom prst="ellipse">
            <a:avLst/>
          </a:prstGeom>
          <a:solidFill>
            <a:srgbClr val="4A5BC4">
              <a:alpha val="9000"/>
            </a:srgbClr>
          </a:solidFill>
          <a:ln>
            <a:noFill/>
          </a:ln>
        </p:spPr>
        <p:txBody>
          <a:bodyPr/>
          <a:lstStyle/>
          <a:p>
            <a:endParaRPr lang="en-US"/>
          </a:p>
        </p:txBody>
      </p:sp>
      <p:sp>
        <p:nvSpPr>
          <p:cNvPr id="9002" name="Decor 9002"/>
          <p:cNvSpPr/>
          <p:nvPr/>
        </p:nvSpPr>
        <p:spPr>
          <a:xfrm>
            <a:off x="9300000" y="-1500000"/>
            <a:ext cx="3600000" cy="3600000"/>
          </a:xfrm>
          <a:prstGeom prst="ellipse">
            <a:avLst/>
          </a:prstGeom>
          <a:noFill/>
          <a:ln w="19050">
            <a:solidFill>
              <a:srgbClr val="4A5BC4">
                <a:alpha val="22000"/>
              </a:srgbClr>
            </a:solidFill>
          </a:ln>
        </p:spPr>
        <p:txBody>
          <a:bodyPr/>
          <a:lstStyle/>
          <a:p>
            <a:endParaRPr lang="en-US"/>
          </a:p>
        </p:txBody>
      </p:sp>
      <p:sp>
        <p:nvSpPr>
          <p:cNvPr id="9003" name="Decor 9003"/>
          <p:cNvSpPr/>
          <p:nvPr/>
        </p:nvSpPr>
        <p:spPr>
          <a:xfrm>
            <a:off x="-1500000" y="5000000"/>
            <a:ext cx="3300000" cy="3300000"/>
          </a:xfrm>
          <a:prstGeom prst="ellipse">
            <a:avLst/>
          </a:prstGeom>
          <a:solidFill>
            <a:srgbClr val="22D3A6">
              <a:alpha val="9000"/>
            </a:srgbClr>
          </a:solidFill>
          <a:ln>
            <a:noFill/>
          </a:ln>
        </p:spPr>
        <p:txBody>
          <a:bodyPr/>
          <a:lstStyle/>
          <a:p>
            <a:endParaRPr lang="en-US"/>
          </a:p>
        </p:txBody>
      </p:sp>
      <p:sp>
        <p:nvSpPr>
          <p:cNvPr id="9004" name="Decor 9004"/>
          <p:cNvSpPr/>
          <p:nvPr/>
        </p:nvSpPr>
        <p:spPr>
          <a:xfrm>
            <a:off x="-900000" y="5600000"/>
            <a:ext cx="1900000" cy="1900000"/>
          </a:xfrm>
          <a:prstGeom prst="ellipse">
            <a:avLst/>
          </a:prstGeom>
          <a:noFill/>
          <a:ln w="19050">
            <a:solidFill>
              <a:srgbClr val="4A5BC4">
                <a:alpha val="14000"/>
              </a:srgbClr>
            </a:solidFill>
          </a:ln>
        </p:spPr>
        <p:txBody>
          <a:bodyPr/>
          <a:lstStyle/>
          <a:p>
            <a:endParaRPr lang="en-US"/>
          </a:p>
        </p:txBody>
      </p:sp>
      <p:sp>
        <p:nvSpPr>
          <p:cNvPr id="4" name="TextBox 3"/>
          <p:cNvSpPr txBox="1"/>
          <p:nvPr/>
        </p:nvSpPr>
        <p:spPr>
          <a:xfrm>
            <a:off x="640080" y="497628"/>
            <a:ext cx="10881360" cy="566928"/>
          </a:xfrm>
          <a:prstGeom prst="rect">
            <a:avLst/>
          </a:prstGeom>
          <a:noFill/>
        </p:spPr>
        <p:txBody>
          <a:bodyPr wrap="square" lIns="0" tIns="0" rIns="0" bIns="0" anchor="ctr">
            <a:noAutofit/>
          </a:bodyPr>
          <a:lstStyle/>
          <a:p>
            <a:pPr algn="l"/>
            <a:r>
              <a:rPr sz="3000" b="1" i="0" dirty="0">
                <a:solidFill>
                  <a:srgbClr val="1B1F3B"/>
                </a:solidFill>
                <a:latin typeface="Cambria"/>
              </a:rPr>
              <a:t>Methodology</a:t>
            </a:r>
          </a:p>
        </p:txBody>
      </p:sp>
      <p:sp>
        <p:nvSpPr>
          <p:cNvPr id="5" name="TextBox 4"/>
          <p:cNvSpPr txBox="1"/>
          <p:nvPr/>
        </p:nvSpPr>
        <p:spPr>
          <a:xfrm>
            <a:off x="640080" y="1046268"/>
            <a:ext cx="10881360" cy="320040"/>
          </a:xfrm>
          <a:prstGeom prst="rect">
            <a:avLst/>
          </a:prstGeom>
          <a:noFill/>
        </p:spPr>
        <p:txBody>
          <a:bodyPr wrap="square" lIns="0" tIns="0" rIns="0" bIns="0" anchor="ctr">
            <a:noAutofit/>
          </a:bodyPr>
          <a:lstStyle/>
          <a:p>
            <a:pPr algn="l"/>
            <a:r>
              <a:rPr sz="1300" b="0" i="0">
                <a:solidFill>
                  <a:srgbClr val="0B1220"/>
                </a:solidFill>
                <a:latin typeface="Calibri"/>
              </a:rPr>
              <a:t>Systematic approach followed for developing the proposed system.</a:t>
            </a:r>
          </a:p>
        </p:txBody>
      </p:sp>
      <p:sp>
        <p:nvSpPr>
          <p:cNvPr id="6" name="Rounded Rectangle 5"/>
          <p:cNvSpPr/>
          <p:nvPr/>
        </p:nvSpPr>
        <p:spPr>
          <a:xfrm>
            <a:off x="640080" y="1494324"/>
            <a:ext cx="3465575" cy="1965960"/>
          </a:xfrm>
          <a:prstGeom prst="roundRect">
            <a:avLst>
              <a:gd name="adj" fmla="val 3720"/>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7" name="Oval 6"/>
          <p:cNvSpPr/>
          <p:nvPr/>
        </p:nvSpPr>
        <p:spPr>
          <a:xfrm>
            <a:off x="868680" y="1695492"/>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sp>
        <p:nvSpPr>
          <p:cNvPr id="8" name="TextBox 7"/>
          <p:cNvSpPr txBox="1"/>
          <p:nvPr/>
        </p:nvSpPr>
        <p:spPr>
          <a:xfrm>
            <a:off x="868680" y="1695492"/>
            <a:ext cx="475488" cy="475488"/>
          </a:xfrm>
          <a:prstGeom prst="rect">
            <a:avLst/>
          </a:prstGeom>
          <a:noFill/>
        </p:spPr>
        <p:txBody>
          <a:bodyPr wrap="square" lIns="0" tIns="0" rIns="0" bIns="0" anchor="ctr">
            <a:noAutofit/>
          </a:bodyPr>
          <a:lstStyle/>
          <a:p>
            <a:pPr algn="ctr"/>
            <a:r>
              <a:rPr sz="1300" b="1" i="0">
                <a:solidFill>
                  <a:srgbClr val="FFFFFF"/>
                </a:solidFill>
                <a:latin typeface="Calibri"/>
              </a:rPr>
              <a:t>01</a:t>
            </a:r>
          </a:p>
        </p:txBody>
      </p:sp>
      <p:sp>
        <p:nvSpPr>
          <p:cNvPr id="9" name="TextBox 8"/>
          <p:cNvSpPr txBox="1"/>
          <p:nvPr/>
        </p:nvSpPr>
        <p:spPr>
          <a:xfrm>
            <a:off x="1481328" y="1695492"/>
            <a:ext cx="2414015" cy="475488"/>
          </a:xfrm>
          <a:prstGeom prst="rect">
            <a:avLst/>
          </a:prstGeom>
          <a:noFill/>
        </p:spPr>
        <p:txBody>
          <a:bodyPr wrap="square" lIns="0" tIns="0" rIns="0" bIns="0" anchor="ctr">
            <a:noAutofit/>
          </a:bodyPr>
          <a:lstStyle/>
          <a:p>
            <a:pPr algn="l"/>
            <a:r>
              <a:rPr sz="1500" b="1" i="0">
                <a:solidFill>
                  <a:srgbClr val="1B1F3B"/>
                </a:solidFill>
                <a:latin typeface="Calibri"/>
              </a:rPr>
              <a:t>Requirement Analysis</a:t>
            </a:r>
          </a:p>
        </p:txBody>
      </p:sp>
      <p:sp>
        <p:nvSpPr>
          <p:cNvPr id="10" name="TextBox 9"/>
          <p:cNvSpPr txBox="1"/>
          <p:nvPr/>
        </p:nvSpPr>
        <p:spPr>
          <a:xfrm>
            <a:off x="914400" y="2335572"/>
            <a:ext cx="2916935" cy="1005839"/>
          </a:xfrm>
          <a:prstGeom prst="rect">
            <a:avLst/>
          </a:prstGeom>
          <a:noFill/>
        </p:spPr>
        <p:txBody>
          <a:bodyPr wrap="square" lIns="0" tIns="0" rIns="0" bIns="0" anchor="t">
            <a:noAutofit/>
          </a:bodyPr>
          <a:lstStyle/>
          <a:p>
            <a:pPr algn="l"/>
            <a:r>
              <a:rPr sz="1500" b="0" i="0">
                <a:solidFill>
                  <a:srgbClr val="0B1220"/>
                </a:solidFill>
                <a:latin typeface="Calibri"/>
              </a:rPr>
              <a:t>Identify system requirements and recruitment criteria.</a:t>
            </a:r>
          </a:p>
        </p:txBody>
      </p:sp>
      <p:sp>
        <p:nvSpPr>
          <p:cNvPr id="11" name="Rounded Rectangle 10"/>
          <p:cNvSpPr/>
          <p:nvPr/>
        </p:nvSpPr>
        <p:spPr>
          <a:xfrm>
            <a:off x="4361688" y="1494324"/>
            <a:ext cx="3465575" cy="1965960"/>
          </a:xfrm>
          <a:prstGeom prst="roundRect">
            <a:avLst>
              <a:gd name="adj" fmla="val 3720"/>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12" name="Oval 11"/>
          <p:cNvSpPr/>
          <p:nvPr/>
        </p:nvSpPr>
        <p:spPr>
          <a:xfrm>
            <a:off x="4590288" y="1695492"/>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sp>
        <p:nvSpPr>
          <p:cNvPr id="13" name="TextBox 12"/>
          <p:cNvSpPr txBox="1"/>
          <p:nvPr/>
        </p:nvSpPr>
        <p:spPr>
          <a:xfrm>
            <a:off x="4590288" y="1695492"/>
            <a:ext cx="475488" cy="475488"/>
          </a:xfrm>
          <a:prstGeom prst="rect">
            <a:avLst/>
          </a:prstGeom>
          <a:noFill/>
        </p:spPr>
        <p:txBody>
          <a:bodyPr wrap="square" lIns="0" tIns="0" rIns="0" bIns="0" anchor="ctr">
            <a:noAutofit/>
          </a:bodyPr>
          <a:lstStyle/>
          <a:p>
            <a:pPr algn="ctr"/>
            <a:r>
              <a:rPr sz="1300" b="1" i="0">
                <a:solidFill>
                  <a:srgbClr val="FFFFFF"/>
                </a:solidFill>
                <a:latin typeface="Calibri"/>
              </a:rPr>
              <a:t>02</a:t>
            </a:r>
          </a:p>
        </p:txBody>
      </p:sp>
      <p:sp>
        <p:nvSpPr>
          <p:cNvPr id="14" name="TextBox 13"/>
          <p:cNvSpPr txBox="1"/>
          <p:nvPr/>
        </p:nvSpPr>
        <p:spPr>
          <a:xfrm>
            <a:off x="5202936" y="1695492"/>
            <a:ext cx="2414015" cy="475488"/>
          </a:xfrm>
          <a:prstGeom prst="rect">
            <a:avLst/>
          </a:prstGeom>
          <a:noFill/>
        </p:spPr>
        <p:txBody>
          <a:bodyPr wrap="square" lIns="0" tIns="0" rIns="0" bIns="0" anchor="ctr">
            <a:noAutofit/>
          </a:bodyPr>
          <a:lstStyle/>
          <a:p>
            <a:pPr algn="l"/>
            <a:r>
              <a:rPr sz="1500" b="1" i="0">
                <a:solidFill>
                  <a:srgbClr val="1B1F3B"/>
                </a:solidFill>
                <a:latin typeface="Calibri"/>
              </a:rPr>
              <a:t>System Design</a:t>
            </a:r>
          </a:p>
        </p:txBody>
      </p:sp>
      <p:sp>
        <p:nvSpPr>
          <p:cNvPr id="15" name="TextBox 14"/>
          <p:cNvSpPr txBox="1"/>
          <p:nvPr/>
        </p:nvSpPr>
        <p:spPr>
          <a:xfrm>
            <a:off x="4636007" y="2335572"/>
            <a:ext cx="2916935" cy="1005839"/>
          </a:xfrm>
          <a:prstGeom prst="rect">
            <a:avLst/>
          </a:prstGeom>
          <a:noFill/>
        </p:spPr>
        <p:txBody>
          <a:bodyPr wrap="square" lIns="0" tIns="0" rIns="0" bIns="0" anchor="t">
            <a:noAutofit/>
          </a:bodyPr>
          <a:lstStyle/>
          <a:p>
            <a:pPr algn="l"/>
            <a:r>
              <a:rPr sz="1500" b="0" i="0">
                <a:solidFill>
                  <a:srgbClr val="0B1220"/>
                </a:solidFill>
                <a:latin typeface="Calibri"/>
              </a:rPr>
              <a:t>Design the system architecture, modules, database and user interface.</a:t>
            </a:r>
          </a:p>
        </p:txBody>
      </p:sp>
      <p:sp>
        <p:nvSpPr>
          <p:cNvPr id="16" name="Rounded Rectangle 15"/>
          <p:cNvSpPr/>
          <p:nvPr/>
        </p:nvSpPr>
        <p:spPr>
          <a:xfrm>
            <a:off x="8083295" y="1494324"/>
            <a:ext cx="3465575" cy="1965960"/>
          </a:xfrm>
          <a:prstGeom prst="roundRect">
            <a:avLst>
              <a:gd name="adj" fmla="val 3720"/>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17" name="Oval 16"/>
          <p:cNvSpPr/>
          <p:nvPr/>
        </p:nvSpPr>
        <p:spPr>
          <a:xfrm>
            <a:off x="8311895" y="1695492"/>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sp>
        <p:nvSpPr>
          <p:cNvPr id="18" name="TextBox 17"/>
          <p:cNvSpPr txBox="1"/>
          <p:nvPr/>
        </p:nvSpPr>
        <p:spPr>
          <a:xfrm>
            <a:off x="8311895" y="1695492"/>
            <a:ext cx="475488" cy="475488"/>
          </a:xfrm>
          <a:prstGeom prst="rect">
            <a:avLst/>
          </a:prstGeom>
          <a:noFill/>
        </p:spPr>
        <p:txBody>
          <a:bodyPr wrap="square" lIns="0" tIns="0" rIns="0" bIns="0" anchor="ctr">
            <a:noAutofit/>
          </a:bodyPr>
          <a:lstStyle/>
          <a:p>
            <a:pPr algn="ctr"/>
            <a:r>
              <a:rPr sz="1300" b="1" i="0">
                <a:solidFill>
                  <a:srgbClr val="FFFFFF"/>
                </a:solidFill>
                <a:latin typeface="Calibri"/>
              </a:rPr>
              <a:t>03</a:t>
            </a:r>
          </a:p>
        </p:txBody>
      </p:sp>
      <p:sp>
        <p:nvSpPr>
          <p:cNvPr id="19" name="TextBox 18"/>
          <p:cNvSpPr txBox="1"/>
          <p:nvPr/>
        </p:nvSpPr>
        <p:spPr>
          <a:xfrm>
            <a:off x="8924543" y="1695492"/>
            <a:ext cx="2414015" cy="475488"/>
          </a:xfrm>
          <a:prstGeom prst="rect">
            <a:avLst/>
          </a:prstGeom>
          <a:noFill/>
        </p:spPr>
        <p:txBody>
          <a:bodyPr wrap="square" lIns="0" tIns="0" rIns="0" bIns="0" anchor="ctr">
            <a:noAutofit/>
          </a:bodyPr>
          <a:lstStyle/>
          <a:p>
            <a:pPr algn="l"/>
            <a:r>
              <a:rPr sz="1500" b="1" i="0">
                <a:solidFill>
                  <a:srgbClr val="1B1F3B"/>
                </a:solidFill>
                <a:latin typeface="Calibri"/>
              </a:rPr>
              <a:t>Candidate Data Collection</a:t>
            </a:r>
          </a:p>
        </p:txBody>
      </p:sp>
      <p:sp>
        <p:nvSpPr>
          <p:cNvPr id="20" name="TextBox 19"/>
          <p:cNvSpPr txBox="1"/>
          <p:nvPr/>
        </p:nvSpPr>
        <p:spPr>
          <a:xfrm>
            <a:off x="8357615" y="2335572"/>
            <a:ext cx="2916935" cy="1005839"/>
          </a:xfrm>
          <a:prstGeom prst="rect">
            <a:avLst/>
          </a:prstGeom>
          <a:noFill/>
        </p:spPr>
        <p:txBody>
          <a:bodyPr wrap="square" lIns="0" tIns="0" rIns="0" bIns="0" anchor="t">
            <a:noAutofit/>
          </a:bodyPr>
          <a:lstStyle/>
          <a:p>
            <a:pPr algn="l"/>
            <a:r>
              <a:rPr sz="1500" b="0" i="0">
                <a:solidFill>
                  <a:srgbClr val="0B1220"/>
                </a:solidFill>
                <a:latin typeface="Calibri"/>
              </a:rPr>
              <a:t>Collect resumes and candidate assessment responses.</a:t>
            </a:r>
          </a:p>
        </p:txBody>
      </p:sp>
      <p:sp>
        <p:nvSpPr>
          <p:cNvPr id="21" name="Rounded Rectangle 20"/>
          <p:cNvSpPr/>
          <p:nvPr/>
        </p:nvSpPr>
        <p:spPr>
          <a:xfrm>
            <a:off x="640080" y="3734603"/>
            <a:ext cx="3465575" cy="1965960"/>
          </a:xfrm>
          <a:prstGeom prst="roundRect">
            <a:avLst>
              <a:gd name="adj" fmla="val 3720"/>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22" name="Oval 21"/>
          <p:cNvSpPr/>
          <p:nvPr/>
        </p:nvSpPr>
        <p:spPr>
          <a:xfrm>
            <a:off x="868680" y="3935771"/>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sp>
        <p:nvSpPr>
          <p:cNvPr id="23" name="TextBox 22"/>
          <p:cNvSpPr txBox="1"/>
          <p:nvPr/>
        </p:nvSpPr>
        <p:spPr>
          <a:xfrm>
            <a:off x="868680" y="3935771"/>
            <a:ext cx="475488" cy="475488"/>
          </a:xfrm>
          <a:prstGeom prst="rect">
            <a:avLst/>
          </a:prstGeom>
          <a:noFill/>
        </p:spPr>
        <p:txBody>
          <a:bodyPr wrap="square" lIns="0" tIns="0" rIns="0" bIns="0" anchor="ctr">
            <a:noAutofit/>
          </a:bodyPr>
          <a:lstStyle/>
          <a:p>
            <a:pPr algn="ctr"/>
            <a:r>
              <a:rPr sz="1300" b="1" i="0">
                <a:solidFill>
                  <a:srgbClr val="FFFFFF"/>
                </a:solidFill>
                <a:latin typeface="Calibri"/>
              </a:rPr>
              <a:t>04</a:t>
            </a:r>
          </a:p>
        </p:txBody>
      </p:sp>
      <p:sp>
        <p:nvSpPr>
          <p:cNvPr id="24" name="TextBox 23"/>
          <p:cNvSpPr txBox="1"/>
          <p:nvPr/>
        </p:nvSpPr>
        <p:spPr>
          <a:xfrm>
            <a:off x="1481328" y="3935771"/>
            <a:ext cx="2414015" cy="475488"/>
          </a:xfrm>
          <a:prstGeom prst="rect">
            <a:avLst/>
          </a:prstGeom>
          <a:noFill/>
        </p:spPr>
        <p:txBody>
          <a:bodyPr wrap="square" lIns="0" tIns="0" rIns="0" bIns="0" anchor="ctr">
            <a:noAutofit/>
          </a:bodyPr>
          <a:lstStyle/>
          <a:p>
            <a:pPr algn="l"/>
            <a:r>
              <a:rPr sz="1500" b="1" i="0">
                <a:solidFill>
                  <a:srgbClr val="1B1F3B"/>
                </a:solidFill>
                <a:latin typeface="Calibri"/>
              </a:rPr>
              <a:t>Candidate Evaluation</a:t>
            </a:r>
          </a:p>
        </p:txBody>
      </p:sp>
      <p:sp>
        <p:nvSpPr>
          <p:cNvPr id="25" name="TextBox 24"/>
          <p:cNvSpPr txBox="1"/>
          <p:nvPr/>
        </p:nvSpPr>
        <p:spPr>
          <a:xfrm>
            <a:off x="914400" y="4575851"/>
            <a:ext cx="2916935" cy="1005839"/>
          </a:xfrm>
          <a:prstGeom prst="rect">
            <a:avLst/>
          </a:prstGeom>
          <a:noFill/>
        </p:spPr>
        <p:txBody>
          <a:bodyPr wrap="square" lIns="0" tIns="0" rIns="0" bIns="0" anchor="t">
            <a:noAutofit/>
          </a:bodyPr>
          <a:lstStyle/>
          <a:p>
            <a:pPr algn="l"/>
            <a:r>
              <a:rPr sz="1500" b="0" i="0">
                <a:solidFill>
                  <a:srgbClr val="0B1220"/>
                </a:solidFill>
                <a:latin typeface="Calibri"/>
              </a:rPr>
              <a:t>Analyze resumes and evaluate aptitude and personality.</a:t>
            </a:r>
          </a:p>
        </p:txBody>
      </p:sp>
      <p:sp>
        <p:nvSpPr>
          <p:cNvPr id="26" name="Rounded Rectangle 25"/>
          <p:cNvSpPr/>
          <p:nvPr/>
        </p:nvSpPr>
        <p:spPr>
          <a:xfrm>
            <a:off x="4361688" y="3734603"/>
            <a:ext cx="3465575" cy="1965960"/>
          </a:xfrm>
          <a:prstGeom prst="roundRect">
            <a:avLst>
              <a:gd name="adj" fmla="val 3720"/>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27" name="Oval 26"/>
          <p:cNvSpPr/>
          <p:nvPr/>
        </p:nvSpPr>
        <p:spPr>
          <a:xfrm>
            <a:off x="4590288" y="3935771"/>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sp>
        <p:nvSpPr>
          <p:cNvPr id="28" name="TextBox 27"/>
          <p:cNvSpPr txBox="1"/>
          <p:nvPr/>
        </p:nvSpPr>
        <p:spPr>
          <a:xfrm>
            <a:off x="4590288" y="3935771"/>
            <a:ext cx="475488" cy="475488"/>
          </a:xfrm>
          <a:prstGeom prst="rect">
            <a:avLst/>
          </a:prstGeom>
          <a:noFill/>
        </p:spPr>
        <p:txBody>
          <a:bodyPr wrap="square" lIns="0" tIns="0" rIns="0" bIns="0" anchor="ctr">
            <a:noAutofit/>
          </a:bodyPr>
          <a:lstStyle/>
          <a:p>
            <a:pPr algn="ctr"/>
            <a:r>
              <a:rPr sz="1300" b="1" i="0">
                <a:solidFill>
                  <a:srgbClr val="FFFFFF"/>
                </a:solidFill>
                <a:latin typeface="Calibri"/>
              </a:rPr>
              <a:t>05</a:t>
            </a:r>
          </a:p>
        </p:txBody>
      </p:sp>
      <p:sp>
        <p:nvSpPr>
          <p:cNvPr id="29" name="TextBox 28"/>
          <p:cNvSpPr txBox="1"/>
          <p:nvPr/>
        </p:nvSpPr>
        <p:spPr>
          <a:xfrm>
            <a:off x="5202936" y="3935771"/>
            <a:ext cx="2414015" cy="475488"/>
          </a:xfrm>
          <a:prstGeom prst="rect">
            <a:avLst/>
          </a:prstGeom>
          <a:noFill/>
        </p:spPr>
        <p:txBody>
          <a:bodyPr wrap="square" lIns="0" tIns="0" rIns="0" bIns="0" anchor="ctr">
            <a:noAutofit/>
          </a:bodyPr>
          <a:lstStyle/>
          <a:p>
            <a:pPr algn="l"/>
            <a:r>
              <a:rPr sz="1500" b="1" i="0">
                <a:solidFill>
                  <a:srgbClr val="1B1F3B"/>
                </a:solidFill>
                <a:latin typeface="Calibri"/>
              </a:rPr>
              <a:t>Scoring &amp; Ranking</a:t>
            </a:r>
          </a:p>
        </p:txBody>
      </p:sp>
      <p:sp>
        <p:nvSpPr>
          <p:cNvPr id="30" name="TextBox 29"/>
          <p:cNvSpPr txBox="1"/>
          <p:nvPr/>
        </p:nvSpPr>
        <p:spPr>
          <a:xfrm>
            <a:off x="4636007" y="4575851"/>
            <a:ext cx="2916935" cy="1005839"/>
          </a:xfrm>
          <a:prstGeom prst="rect">
            <a:avLst/>
          </a:prstGeom>
          <a:noFill/>
        </p:spPr>
        <p:txBody>
          <a:bodyPr wrap="square" lIns="0" tIns="0" rIns="0" bIns="0" anchor="t">
            <a:noAutofit/>
          </a:bodyPr>
          <a:lstStyle/>
          <a:p>
            <a:pPr algn="l"/>
            <a:r>
              <a:rPr sz="1500" b="0" i="0">
                <a:solidFill>
                  <a:srgbClr val="0B1220"/>
                </a:solidFill>
                <a:latin typeface="Calibri"/>
              </a:rPr>
              <a:t>Generate scores and rank candidates based on predefined criteria.</a:t>
            </a:r>
          </a:p>
        </p:txBody>
      </p:sp>
      <p:sp>
        <p:nvSpPr>
          <p:cNvPr id="31" name="Rounded Rectangle 30"/>
          <p:cNvSpPr/>
          <p:nvPr/>
        </p:nvSpPr>
        <p:spPr>
          <a:xfrm>
            <a:off x="8083295" y="3734603"/>
            <a:ext cx="3465575" cy="1965960"/>
          </a:xfrm>
          <a:prstGeom prst="roundRect">
            <a:avLst>
              <a:gd name="adj" fmla="val 3720"/>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32" name="Oval 31"/>
          <p:cNvSpPr/>
          <p:nvPr/>
        </p:nvSpPr>
        <p:spPr>
          <a:xfrm>
            <a:off x="8311895" y="3935771"/>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sp>
        <p:nvSpPr>
          <p:cNvPr id="33" name="TextBox 32"/>
          <p:cNvSpPr txBox="1"/>
          <p:nvPr/>
        </p:nvSpPr>
        <p:spPr>
          <a:xfrm>
            <a:off x="8311895" y="3935771"/>
            <a:ext cx="475488" cy="475488"/>
          </a:xfrm>
          <a:prstGeom prst="rect">
            <a:avLst/>
          </a:prstGeom>
          <a:noFill/>
        </p:spPr>
        <p:txBody>
          <a:bodyPr wrap="square" lIns="0" tIns="0" rIns="0" bIns="0" anchor="ctr">
            <a:noAutofit/>
          </a:bodyPr>
          <a:lstStyle/>
          <a:p>
            <a:pPr algn="ctr"/>
            <a:r>
              <a:rPr sz="1300" b="1" i="0">
                <a:solidFill>
                  <a:srgbClr val="FFFFFF"/>
                </a:solidFill>
                <a:latin typeface="Calibri"/>
              </a:rPr>
              <a:t>06</a:t>
            </a:r>
          </a:p>
        </p:txBody>
      </p:sp>
      <p:sp>
        <p:nvSpPr>
          <p:cNvPr id="34" name="TextBox 33"/>
          <p:cNvSpPr txBox="1"/>
          <p:nvPr/>
        </p:nvSpPr>
        <p:spPr>
          <a:xfrm>
            <a:off x="8924543" y="3935771"/>
            <a:ext cx="2414015" cy="475488"/>
          </a:xfrm>
          <a:prstGeom prst="rect">
            <a:avLst/>
          </a:prstGeom>
          <a:noFill/>
        </p:spPr>
        <p:txBody>
          <a:bodyPr wrap="square" lIns="0" tIns="0" rIns="0" bIns="0" anchor="ctr">
            <a:noAutofit/>
          </a:bodyPr>
          <a:lstStyle/>
          <a:p>
            <a:pPr algn="l"/>
            <a:r>
              <a:rPr sz="1500" b="1" i="0">
                <a:solidFill>
                  <a:srgbClr val="1B1F3B"/>
                </a:solidFill>
                <a:latin typeface="Calibri"/>
              </a:rPr>
              <a:t>HR Decision</a:t>
            </a:r>
          </a:p>
        </p:txBody>
      </p:sp>
      <p:sp>
        <p:nvSpPr>
          <p:cNvPr id="35" name="TextBox 34"/>
          <p:cNvSpPr txBox="1"/>
          <p:nvPr/>
        </p:nvSpPr>
        <p:spPr>
          <a:xfrm>
            <a:off x="8357615" y="4575851"/>
            <a:ext cx="2916935" cy="1005839"/>
          </a:xfrm>
          <a:prstGeom prst="rect">
            <a:avLst/>
          </a:prstGeom>
          <a:noFill/>
        </p:spPr>
        <p:txBody>
          <a:bodyPr wrap="square" lIns="0" tIns="0" rIns="0" bIns="0" anchor="t">
            <a:noAutofit/>
          </a:bodyPr>
          <a:lstStyle/>
          <a:p>
            <a:pPr algn="l"/>
            <a:r>
              <a:rPr sz="1500" b="0" i="0">
                <a:solidFill>
                  <a:srgbClr val="0B1220"/>
                </a:solidFill>
                <a:latin typeface="Calibri"/>
              </a:rPr>
              <a:t>Provide evaluated candidate information to support the recruitment process.</a:t>
            </a:r>
          </a:p>
        </p:txBody>
      </p:sp>
      <p:sp>
        <p:nvSpPr>
          <p:cNvPr id="36" name="TextBox 35"/>
          <p:cNvSpPr txBox="1"/>
          <p:nvPr/>
        </p:nvSpPr>
        <p:spPr>
          <a:xfrm>
            <a:off x="640080" y="6537960"/>
            <a:ext cx="2926080" cy="201168"/>
          </a:xfrm>
          <a:prstGeom prst="rect">
            <a:avLst/>
          </a:prstGeom>
          <a:noFill/>
        </p:spPr>
        <p:txBody>
          <a:bodyPr wrap="square" lIns="0" tIns="0" rIns="0" bIns="0" anchor="ctr">
            <a:noAutofit/>
          </a:bodyPr>
          <a:lstStyle/>
          <a:p>
            <a:pPr algn="l"/>
            <a:r>
              <a:rPr sz="1000" b="1" i="0">
                <a:solidFill>
                  <a:srgbClr val="002060"/>
                </a:solidFill>
                <a:latin typeface="Calibri"/>
              </a:rPr>
              <a:t>INTELLIGENT HIRING SYSTEM</a:t>
            </a:r>
          </a:p>
        </p:txBody>
      </p:sp>
      <p:sp>
        <p:nvSpPr>
          <p:cNvPr id="37" name="Oval 36"/>
          <p:cNvSpPr/>
          <p:nvPr/>
        </p:nvSpPr>
        <p:spPr>
          <a:xfrm>
            <a:off x="11256264" y="6492240"/>
            <a:ext cx="292608" cy="292608"/>
          </a:xfrm>
          <a:prstGeom prst="ellipse">
            <a:avLst/>
          </a:prstGeom>
          <a:solidFill>
            <a:srgbClr val="F4F7FE"/>
          </a:solidFill>
          <a:ln>
            <a:noFill/>
          </a:ln>
        </p:spPr>
        <p:txBody>
          <a:bodyPr rtlCol="0" anchor="ctr"/>
          <a:lstStyle/>
          <a:p>
            <a:pPr algn="ctr"/>
            <a:endParaRPr/>
          </a:p>
        </p:txBody>
      </p:sp>
      <p:sp>
        <p:nvSpPr>
          <p:cNvPr id="38" name="TextBox 37"/>
          <p:cNvSpPr txBox="1"/>
          <p:nvPr/>
        </p:nvSpPr>
        <p:spPr>
          <a:xfrm>
            <a:off x="11256264" y="6492240"/>
            <a:ext cx="292608" cy="292608"/>
          </a:xfrm>
          <a:prstGeom prst="rect">
            <a:avLst/>
          </a:prstGeom>
          <a:noFill/>
        </p:spPr>
        <p:txBody>
          <a:bodyPr wrap="square" lIns="0" tIns="0" rIns="0" bIns="0" anchor="ctr">
            <a:noAutofit/>
          </a:bodyPr>
          <a:lstStyle/>
          <a:p>
            <a:pPr algn="ctr"/>
            <a:r>
              <a:rPr sz="950" b="1" i="0">
                <a:solidFill>
                  <a:srgbClr val="1E2761"/>
                </a:solidFill>
                <a:latin typeface="Calibri"/>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rgbClr val="FAFBFF"/>
            </a:gs>
            <a:gs pos="100000">
              <a:srgbClr val="E4ECFC"/>
            </a:gs>
          </a:gsLst>
          <a:lin ang="2700000" scaled="0"/>
        </a:gradFill>
        <a:effectLst/>
      </p:bgPr>
    </p:bg>
    <p:spTree>
      <p:nvGrpSpPr>
        <p:cNvPr id="1" name=""/>
        <p:cNvGrpSpPr/>
        <p:nvPr/>
      </p:nvGrpSpPr>
      <p:grpSpPr>
        <a:xfrm>
          <a:off x="0" y="0"/>
          <a:ext cx="0" cy="0"/>
          <a:chOff x="0" y="0"/>
          <a:chExt cx="0" cy="0"/>
        </a:xfrm>
      </p:grpSpPr>
      <p:sp>
        <p:nvSpPr>
          <p:cNvPr id="9001" name="Decor 9001"/>
          <p:cNvSpPr/>
          <p:nvPr/>
        </p:nvSpPr>
        <p:spPr>
          <a:xfrm>
            <a:off x="8300000" y="-2300000"/>
            <a:ext cx="5200000" cy="5200000"/>
          </a:xfrm>
          <a:prstGeom prst="ellipse">
            <a:avLst/>
          </a:prstGeom>
          <a:solidFill>
            <a:srgbClr val="4A5BC4">
              <a:alpha val="9000"/>
            </a:srgbClr>
          </a:solidFill>
          <a:ln>
            <a:noFill/>
          </a:ln>
        </p:spPr>
        <p:txBody>
          <a:bodyPr/>
          <a:lstStyle/>
          <a:p>
            <a:endParaRPr lang="en-US"/>
          </a:p>
        </p:txBody>
      </p:sp>
      <p:sp>
        <p:nvSpPr>
          <p:cNvPr id="9002" name="Decor 9002"/>
          <p:cNvSpPr/>
          <p:nvPr/>
        </p:nvSpPr>
        <p:spPr>
          <a:xfrm>
            <a:off x="9300000" y="-1500000"/>
            <a:ext cx="3600000" cy="3600000"/>
          </a:xfrm>
          <a:prstGeom prst="ellipse">
            <a:avLst/>
          </a:prstGeom>
          <a:noFill/>
          <a:ln w="19050">
            <a:solidFill>
              <a:srgbClr val="4A5BC4">
                <a:alpha val="22000"/>
              </a:srgbClr>
            </a:solidFill>
          </a:ln>
        </p:spPr>
        <p:txBody>
          <a:bodyPr/>
          <a:lstStyle/>
          <a:p>
            <a:endParaRPr lang="en-US"/>
          </a:p>
        </p:txBody>
      </p:sp>
      <p:sp>
        <p:nvSpPr>
          <p:cNvPr id="9003" name="Decor 9003"/>
          <p:cNvSpPr/>
          <p:nvPr/>
        </p:nvSpPr>
        <p:spPr>
          <a:xfrm>
            <a:off x="-1500000" y="5000000"/>
            <a:ext cx="3300000" cy="3300000"/>
          </a:xfrm>
          <a:prstGeom prst="ellipse">
            <a:avLst/>
          </a:prstGeom>
          <a:solidFill>
            <a:srgbClr val="22D3A6">
              <a:alpha val="9000"/>
            </a:srgbClr>
          </a:solidFill>
          <a:ln>
            <a:noFill/>
          </a:ln>
        </p:spPr>
        <p:txBody>
          <a:bodyPr/>
          <a:lstStyle/>
          <a:p>
            <a:endParaRPr lang="en-US"/>
          </a:p>
        </p:txBody>
      </p:sp>
      <p:sp>
        <p:nvSpPr>
          <p:cNvPr id="9004" name="Decor 9004"/>
          <p:cNvSpPr/>
          <p:nvPr/>
        </p:nvSpPr>
        <p:spPr>
          <a:xfrm>
            <a:off x="-900000" y="5600000"/>
            <a:ext cx="1900000" cy="1900000"/>
          </a:xfrm>
          <a:prstGeom prst="ellipse">
            <a:avLst/>
          </a:prstGeom>
          <a:noFill/>
          <a:ln w="19050">
            <a:solidFill>
              <a:srgbClr val="4A5BC4">
                <a:alpha val="14000"/>
              </a:srgbClr>
            </a:solidFill>
          </a:ln>
        </p:spPr>
        <p:txBody>
          <a:bodyPr/>
          <a:lstStyle/>
          <a:p>
            <a:endParaRPr lang="en-US"/>
          </a:p>
        </p:txBody>
      </p:sp>
      <p:sp>
        <p:nvSpPr>
          <p:cNvPr id="4" name="TextBox 3"/>
          <p:cNvSpPr txBox="1"/>
          <p:nvPr/>
        </p:nvSpPr>
        <p:spPr>
          <a:xfrm>
            <a:off x="640080" y="505649"/>
            <a:ext cx="10881360" cy="566928"/>
          </a:xfrm>
          <a:prstGeom prst="rect">
            <a:avLst/>
          </a:prstGeom>
          <a:noFill/>
        </p:spPr>
        <p:txBody>
          <a:bodyPr wrap="square" lIns="0" tIns="0" rIns="0" bIns="0" anchor="ctr">
            <a:noAutofit/>
          </a:bodyPr>
          <a:lstStyle/>
          <a:p>
            <a:pPr algn="l"/>
            <a:r>
              <a:rPr sz="3000" b="1" i="0">
                <a:solidFill>
                  <a:srgbClr val="1B1F3B"/>
                </a:solidFill>
                <a:latin typeface="Cambria"/>
              </a:rPr>
              <a:t>System Workflow</a:t>
            </a:r>
          </a:p>
        </p:txBody>
      </p:sp>
      <p:sp>
        <p:nvSpPr>
          <p:cNvPr id="5" name="TextBox 4"/>
          <p:cNvSpPr txBox="1"/>
          <p:nvPr/>
        </p:nvSpPr>
        <p:spPr>
          <a:xfrm>
            <a:off x="640080" y="1054289"/>
            <a:ext cx="10881360" cy="320040"/>
          </a:xfrm>
          <a:prstGeom prst="rect">
            <a:avLst/>
          </a:prstGeom>
          <a:noFill/>
        </p:spPr>
        <p:txBody>
          <a:bodyPr wrap="square" lIns="0" tIns="0" rIns="0" bIns="0" anchor="ctr">
            <a:noAutofit/>
          </a:bodyPr>
          <a:lstStyle/>
          <a:p>
            <a:pPr algn="l"/>
            <a:r>
              <a:rPr sz="1300" b="0" i="0">
                <a:solidFill>
                  <a:srgbClr val="0B1220"/>
                </a:solidFill>
                <a:latin typeface="Calibri"/>
              </a:rPr>
              <a:t>Step-by-step path of a candidate through the system.</a:t>
            </a:r>
          </a:p>
        </p:txBody>
      </p:sp>
      <p:sp>
        <p:nvSpPr>
          <p:cNvPr id="6" name="Rounded Rectangle 5"/>
          <p:cNvSpPr/>
          <p:nvPr/>
        </p:nvSpPr>
        <p:spPr>
          <a:xfrm>
            <a:off x="640080" y="1502345"/>
            <a:ext cx="3200400" cy="1188720"/>
          </a:xfrm>
          <a:prstGeom prst="roundRect">
            <a:avLst>
              <a:gd name="adj" fmla="val 6153"/>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7" name="Oval 6"/>
          <p:cNvSpPr/>
          <p:nvPr/>
        </p:nvSpPr>
        <p:spPr>
          <a:xfrm>
            <a:off x="868680" y="1858961"/>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sp>
        <p:nvSpPr>
          <p:cNvPr id="8" name="TextBox 7"/>
          <p:cNvSpPr txBox="1"/>
          <p:nvPr/>
        </p:nvSpPr>
        <p:spPr>
          <a:xfrm>
            <a:off x="868680" y="1858961"/>
            <a:ext cx="475488" cy="475488"/>
          </a:xfrm>
          <a:prstGeom prst="rect">
            <a:avLst/>
          </a:prstGeom>
          <a:noFill/>
        </p:spPr>
        <p:txBody>
          <a:bodyPr wrap="square" lIns="0" tIns="0" rIns="0" bIns="0" anchor="ctr">
            <a:noAutofit/>
          </a:bodyPr>
          <a:lstStyle/>
          <a:p>
            <a:pPr algn="ctr"/>
            <a:r>
              <a:rPr sz="1300" b="1" i="0">
                <a:solidFill>
                  <a:srgbClr val="FFFFFF"/>
                </a:solidFill>
                <a:latin typeface="Calibri"/>
              </a:rPr>
              <a:t>1</a:t>
            </a:r>
          </a:p>
        </p:txBody>
      </p:sp>
      <p:sp>
        <p:nvSpPr>
          <p:cNvPr id="9" name="TextBox 8"/>
          <p:cNvSpPr txBox="1"/>
          <p:nvPr/>
        </p:nvSpPr>
        <p:spPr>
          <a:xfrm>
            <a:off x="1508760" y="1502345"/>
            <a:ext cx="2148840" cy="1188720"/>
          </a:xfrm>
          <a:prstGeom prst="rect">
            <a:avLst/>
          </a:prstGeom>
          <a:noFill/>
        </p:spPr>
        <p:txBody>
          <a:bodyPr wrap="square" lIns="0" tIns="0" rIns="0" bIns="0" anchor="ctr">
            <a:noAutofit/>
          </a:bodyPr>
          <a:lstStyle/>
          <a:p>
            <a:pPr algn="l"/>
            <a:r>
              <a:rPr sz="1550" b="1" i="0">
                <a:solidFill>
                  <a:srgbClr val="1B1F3B"/>
                </a:solidFill>
                <a:latin typeface="Calibri"/>
              </a:rPr>
              <a:t>Register / Login</a:t>
            </a:r>
          </a:p>
        </p:txBody>
      </p:sp>
      <p:sp>
        <p:nvSpPr>
          <p:cNvPr id="10" name="Rounded Rectangle 9"/>
          <p:cNvSpPr/>
          <p:nvPr/>
        </p:nvSpPr>
        <p:spPr>
          <a:xfrm>
            <a:off x="4494276" y="1502345"/>
            <a:ext cx="3200400" cy="1188720"/>
          </a:xfrm>
          <a:prstGeom prst="roundRect">
            <a:avLst>
              <a:gd name="adj" fmla="val 6153"/>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11" name="Oval 10"/>
          <p:cNvSpPr/>
          <p:nvPr/>
        </p:nvSpPr>
        <p:spPr>
          <a:xfrm>
            <a:off x="4722876" y="1858961"/>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sp>
        <p:nvSpPr>
          <p:cNvPr id="12" name="TextBox 11"/>
          <p:cNvSpPr txBox="1"/>
          <p:nvPr/>
        </p:nvSpPr>
        <p:spPr>
          <a:xfrm>
            <a:off x="4722876" y="1858961"/>
            <a:ext cx="475488" cy="475488"/>
          </a:xfrm>
          <a:prstGeom prst="rect">
            <a:avLst/>
          </a:prstGeom>
          <a:noFill/>
        </p:spPr>
        <p:txBody>
          <a:bodyPr wrap="square" lIns="0" tIns="0" rIns="0" bIns="0" anchor="ctr">
            <a:noAutofit/>
          </a:bodyPr>
          <a:lstStyle/>
          <a:p>
            <a:pPr algn="ctr"/>
            <a:r>
              <a:rPr sz="1300" b="1" i="0">
                <a:solidFill>
                  <a:srgbClr val="FFFFFF"/>
                </a:solidFill>
                <a:latin typeface="Calibri"/>
              </a:rPr>
              <a:t>2</a:t>
            </a:r>
          </a:p>
        </p:txBody>
      </p:sp>
      <p:sp>
        <p:nvSpPr>
          <p:cNvPr id="13" name="TextBox 12"/>
          <p:cNvSpPr txBox="1"/>
          <p:nvPr/>
        </p:nvSpPr>
        <p:spPr>
          <a:xfrm>
            <a:off x="5362956" y="1502345"/>
            <a:ext cx="2148840" cy="1188720"/>
          </a:xfrm>
          <a:prstGeom prst="rect">
            <a:avLst/>
          </a:prstGeom>
          <a:noFill/>
        </p:spPr>
        <p:txBody>
          <a:bodyPr wrap="square" lIns="0" tIns="0" rIns="0" bIns="0" anchor="ctr">
            <a:noAutofit/>
          </a:bodyPr>
          <a:lstStyle/>
          <a:p>
            <a:pPr algn="l"/>
            <a:r>
              <a:rPr sz="1550" b="1" i="0">
                <a:solidFill>
                  <a:srgbClr val="1B1F3B"/>
                </a:solidFill>
                <a:latin typeface="Calibri"/>
              </a:rPr>
              <a:t>Apply for Job</a:t>
            </a:r>
          </a:p>
        </p:txBody>
      </p:sp>
      <p:sp>
        <p:nvSpPr>
          <p:cNvPr id="14" name="Rounded Rectangle 13"/>
          <p:cNvSpPr/>
          <p:nvPr/>
        </p:nvSpPr>
        <p:spPr>
          <a:xfrm>
            <a:off x="8348471" y="1502345"/>
            <a:ext cx="3200400" cy="1188720"/>
          </a:xfrm>
          <a:prstGeom prst="roundRect">
            <a:avLst>
              <a:gd name="adj" fmla="val 6153"/>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15" name="Oval 14"/>
          <p:cNvSpPr/>
          <p:nvPr/>
        </p:nvSpPr>
        <p:spPr>
          <a:xfrm>
            <a:off x="8577072" y="1858961"/>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sp>
        <p:nvSpPr>
          <p:cNvPr id="16" name="TextBox 15"/>
          <p:cNvSpPr txBox="1"/>
          <p:nvPr/>
        </p:nvSpPr>
        <p:spPr>
          <a:xfrm>
            <a:off x="8577072" y="1858961"/>
            <a:ext cx="475488" cy="475488"/>
          </a:xfrm>
          <a:prstGeom prst="rect">
            <a:avLst/>
          </a:prstGeom>
          <a:noFill/>
        </p:spPr>
        <p:txBody>
          <a:bodyPr wrap="square" lIns="0" tIns="0" rIns="0" bIns="0" anchor="ctr">
            <a:noAutofit/>
          </a:bodyPr>
          <a:lstStyle/>
          <a:p>
            <a:pPr algn="ctr"/>
            <a:r>
              <a:rPr sz="1300" b="1" i="0">
                <a:solidFill>
                  <a:srgbClr val="FFFFFF"/>
                </a:solidFill>
                <a:latin typeface="Calibri"/>
              </a:rPr>
              <a:t>3</a:t>
            </a:r>
          </a:p>
        </p:txBody>
      </p:sp>
      <p:sp>
        <p:nvSpPr>
          <p:cNvPr id="17" name="TextBox 16"/>
          <p:cNvSpPr txBox="1"/>
          <p:nvPr/>
        </p:nvSpPr>
        <p:spPr>
          <a:xfrm>
            <a:off x="9217151" y="1502345"/>
            <a:ext cx="2148840" cy="1188720"/>
          </a:xfrm>
          <a:prstGeom prst="rect">
            <a:avLst/>
          </a:prstGeom>
          <a:noFill/>
        </p:spPr>
        <p:txBody>
          <a:bodyPr wrap="square" lIns="0" tIns="0" rIns="0" bIns="0" anchor="ctr">
            <a:noAutofit/>
          </a:bodyPr>
          <a:lstStyle/>
          <a:p>
            <a:pPr algn="l"/>
            <a:r>
              <a:rPr sz="1550" b="1" i="0">
                <a:solidFill>
                  <a:srgbClr val="1B1F3B"/>
                </a:solidFill>
                <a:latin typeface="Calibri"/>
              </a:rPr>
              <a:t>Upload Resume</a:t>
            </a:r>
          </a:p>
        </p:txBody>
      </p:sp>
      <p:sp>
        <p:nvSpPr>
          <p:cNvPr id="18" name="Rounded Rectangle 17"/>
          <p:cNvSpPr/>
          <p:nvPr/>
        </p:nvSpPr>
        <p:spPr>
          <a:xfrm>
            <a:off x="8348471" y="3011105"/>
            <a:ext cx="3200400" cy="1188720"/>
          </a:xfrm>
          <a:prstGeom prst="roundRect">
            <a:avLst>
              <a:gd name="adj" fmla="val 6153"/>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19" name="Oval 18"/>
          <p:cNvSpPr/>
          <p:nvPr/>
        </p:nvSpPr>
        <p:spPr>
          <a:xfrm>
            <a:off x="8577072" y="3367721"/>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sp>
        <p:nvSpPr>
          <p:cNvPr id="20" name="TextBox 19"/>
          <p:cNvSpPr txBox="1"/>
          <p:nvPr/>
        </p:nvSpPr>
        <p:spPr>
          <a:xfrm>
            <a:off x="8577072" y="3367721"/>
            <a:ext cx="475488" cy="475488"/>
          </a:xfrm>
          <a:prstGeom prst="rect">
            <a:avLst/>
          </a:prstGeom>
          <a:noFill/>
        </p:spPr>
        <p:txBody>
          <a:bodyPr wrap="square" lIns="0" tIns="0" rIns="0" bIns="0" anchor="ctr">
            <a:noAutofit/>
          </a:bodyPr>
          <a:lstStyle/>
          <a:p>
            <a:pPr algn="ctr"/>
            <a:r>
              <a:rPr sz="1300" b="1" i="0">
                <a:solidFill>
                  <a:srgbClr val="FFFFFF"/>
                </a:solidFill>
                <a:latin typeface="Calibri"/>
              </a:rPr>
              <a:t>4</a:t>
            </a:r>
          </a:p>
        </p:txBody>
      </p:sp>
      <p:sp>
        <p:nvSpPr>
          <p:cNvPr id="21" name="TextBox 20"/>
          <p:cNvSpPr txBox="1"/>
          <p:nvPr/>
        </p:nvSpPr>
        <p:spPr>
          <a:xfrm>
            <a:off x="9217151" y="3011105"/>
            <a:ext cx="2148840" cy="1188720"/>
          </a:xfrm>
          <a:prstGeom prst="rect">
            <a:avLst/>
          </a:prstGeom>
          <a:noFill/>
        </p:spPr>
        <p:txBody>
          <a:bodyPr wrap="square" lIns="0" tIns="0" rIns="0" bIns="0" anchor="ctr">
            <a:noAutofit/>
          </a:bodyPr>
          <a:lstStyle/>
          <a:p>
            <a:r>
              <a:rPr sz="1550" b="1" i="0" dirty="0">
                <a:solidFill>
                  <a:srgbClr val="1B1F3B"/>
                </a:solidFill>
                <a:latin typeface="Calibri"/>
              </a:rPr>
              <a:t>Take </a:t>
            </a:r>
            <a:r>
              <a:rPr lang="en-IN" sz="1550" b="1" dirty="0">
                <a:solidFill>
                  <a:srgbClr val="1B1F3B"/>
                </a:solidFill>
              </a:rPr>
              <a:t>Personality</a:t>
            </a:r>
            <a:r>
              <a:rPr sz="1550" b="1" i="0" dirty="0">
                <a:solidFill>
                  <a:srgbClr val="1B1F3B"/>
                </a:solidFill>
                <a:latin typeface="Calibri"/>
              </a:rPr>
              <a:t> Test</a:t>
            </a:r>
          </a:p>
        </p:txBody>
      </p:sp>
      <p:sp>
        <p:nvSpPr>
          <p:cNvPr id="22" name="Rounded Rectangle 21"/>
          <p:cNvSpPr/>
          <p:nvPr/>
        </p:nvSpPr>
        <p:spPr>
          <a:xfrm>
            <a:off x="4494276" y="3011105"/>
            <a:ext cx="3200400" cy="1188720"/>
          </a:xfrm>
          <a:prstGeom prst="roundRect">
            <a:avLst>
              <a:gd name="adj" fmla="val 6153"/>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23" name="Oval 22"/>
          <p:cNvSpPr/>
          <p:nvPr/>
        </p:nvSpPr>
        <p:spPr>
          <a:xfrm>
            <a:off x="4722876" y="3367721"/>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sp>
        <p:nvSpPr>
          <p:cNvPr id="24" name="TextBox 23"/>
          <p:cNvSpPr txBox="1"/>
          <p:nvPr/>
        </p:nvSpPr>
        <p:spPr>
          <a:xfrm>
            <a:off x="4722876" y="3367721"/>
            <a:ext cx="475488" cy="475488"/>
          </a:xfrm>
          <a:prstGeom prst="rect">
            <a:avLst/>
          </a:prstGeom>
          <a:noFill/>
        </p:spPr>
        <p:txBody>
          <a:bodyPr wrap="square" lIns="0" tIns="0" rIns="0" bIns="0" anchor="ctr">
            <a:noAutofit/>
          </a:bodyPr>
          <a:lstStyle/>
          <a:p>
            <a:pPr algn="ctr"/>
            <a:r>
              <a:rPr sz="1300" b="1" i="0">
                <a:solidFill>
                  <a:srgbClr val="FFFFFF"/>
                </a:solidFill>
                <a:latin typeface="Calibri"/>
              </a:rPr>
              <a:t>5</a:t>
            </a:r>
          </a:p>
        </p:txBody>
      </p:sp>
      <p:sp>
        <p:nvSpPr>
          <p:cNvPr id="25" name="TextBox 24"/>
          <p:cNvSpPr txBox="1"/>
          <p:nvPr/>
        </p:nvSpPr>
        <p:spPr>
          <a:xfrm>
            <a:off x="5362956" y="3011105"/>
            <a:ext cx="2148840" cy="1188720"/>
          </a:xfrm>
          <a:prstGeom prst="rect">
            <a:avLst/>
          </a:prstGeom>
          <a:noFill/>
        </p:spPr>
        <p:txBody>
          <a:bodyPr wrap="square" lIns="0" tIns="0" rIns="0" bIns="0" anchor="ctr">
            <a:noAutofit/>
          </a:bodyPr>
          <a:lstStyle/>
          <a:p>
            <a:r>
              <a:rPr sz="1550" b="1" i="0" dirty="0">
                <a:solidFill>
                  <a:srgbClr val="1B1F3B"/>
                </a:solidFill>
                <a:latin typeface="Calibri"/>
              </a:rPr>
              <a:t>Take </a:t>
            </a:r>
            <a:r>
              <a:rPr lang="en-IN" sz="1550" b="1" dirty="0">
                <a:solidFill>
                  <a:srgbClr val="1B1F3B"/>
                </a:solidFill>
              </a:rPr>
              <a:t>Aptitude</a:t>
            </a:r>
            <a:r>
              <a:rPr sz="1550" b="1" i="0" dirty="0">
                <a:solidFill>
                  <a:srgbClr val="1B1F3B"/>
                </a:solidFill>
                <a:latin typeface="Calibri"/>
              </a:rPr>
              <a:t> Test</a:t>
            </a:r>
          </a:p>
        </p:txBody>
      </p:sp>
      <p:sp>
        <p:nvSpPr>
          <p:cNvPr id="26" name="Rounded Rectangle 25"/>
          <p:cNvSpPr/>
          <p:nvPr/>
        </p:nvSpPr>
        <p:spPr>
          <a:xfrm>
            <a:off x="640080" y="3011105"/>
            <a:ext cx="3200400" cy="1188720"/>
          </a:xfrm>
          <a:prstGeom prst="roundRect">
            <a:avLst>
              <a:gd name="adj" fmla="val 6153"/>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27" name="Oval 26"/>
          <p:cNvSpPr/>
          <p:nvPr/>
        </p:nvSpPr>
        <p:spPr>
          <a:xfrm>
            <a:off x="868680" y="3367721"/>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sp>
        <p:nvSpPr>
          <p:cNvPr id="28" name="TextBox 27"/>
          <p:cNvSpPr txBox="1"/>
          <p:nvPr/>
        </p:nvSpPr>
        <p:spPr>
          <a:xfrm>
            <a:off x="868680" y="3367721"/>
            <a:ext cx="475488" cy="475488"/>
          </a:xfrm>
          <a:prstGeom prst="rect">
            <a:avLst/>
          </a:prstGeom>
          <a:noFill/>
        </p:spPr>
        <p:txBody>
          <a:bodyPr wrap="square" lIns="0" tIns="0" rIns="0" bIns="0" anchor="ctr">
            <a:noAutofit/>
          </a:bodyPr>
          <a:lstStyle/>
          <a:p>
            <a:pPr algn="ctr"/>
            <a:r>
              <a:rPr sz="1300" b="1" i="0">
                <a:solidFill>
                  <a:srgbClr val="FFFFFF"/>
                </a:solidFill>
                <a:latin typeface="Calibri"/>
              </a:rPr>
              <a:t>6</a:t>
            </a:r>
          </a:p>
        </p:txBody>
      </p:sp>
      <p:sp>
        <p:nvSpPr>
          <p:cNvPr id="29" name="TextBox 28"/>
          <p:cNvSpPr txBox="1"/>
          <p:nvPr/>
        </p:nvSpPr>
        <p:spPr>
          <a:xfrm>
            <a:off x="1508760" y="3011105"/>
            <a:ext cx="2148840" cy="1188720"/>
          </a:xfrm>
          <a:prstGeom prst="rect">
            <a:avLst/>
          </a:prstGeom>
          <a:noFill/>
        </p:spPr>
        <p:txBody>
          <a:bodyPr wrap="square" lIns="0" tIns="0" rIns="0" bIns="0" anchor="ctr">
            <a:noAutofit/>
          </a:bodyPr>
          <a:lstStyle/>
          <a:p>
            <a:pPr algn="l"/>
            <a:r>
              <a:rPr sz="1550" b="1" i="0">
                <a:solidFill>
                  <a:srgbClr val="1B1F3B"/>
                </a:solidFill>
                <a:latin typeface="Calibri"/>
              </a:rPr>
              <a:t>System Evaluates Candidate</a:t>
            </a:r>
          </a:p>
        </p:txBody>
      </p:sp>
      <p:sp>
        <p:nvSpPr>
          <p:cNvPr id="30" name="Rounded Rectangle 29"/>
          <p:cNvSpPr/>
          <p:nvPr/>
        </p:nvSpPr>
        <p:spPr>
          <a:xfrm>
            <a:off x="640080" y="4519865"/>
            <a:ext cx="3200400" cy="1188720"/>
          </a:xfrm>
          <a:prstGeom prst="roundRect">
            <a:avLst>
              <a:gd name="adj" fmla="val 6153"/>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31" name="Oval 30"/>
          <p:cNvSpPr/>
          <p:nvPr/>
        </p:nvSpPr>
        <p:spPr>
          <a:xfrm>
            <a:off x="868680" y="4876481"/>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sp>
        <p:nvSpPr>
          <p:cNvPr id="32" name="TextBox 31"/>
          <p:cNvSpPr txBox="1"/>
          <p:nvPr/>
        </p:nvSpPr>
        <p:spPr>
          <a:xfrm>
            <a:off x="868680" y="4876481"/>
            <a:ext cx="475488" cy="475488"/>
          </a:xfrm>
          <a:prstGeom prst="rect">
            <a:avLst/>
          </a:prstGeom>
          <a:noFill/>
        </p:spPr>
        <p:txBody>
          <a:bodyPr wrap="square" lIns="0" tIns="0" rIns="0" bIns="0" anchor="ctr">
            <a:noAutofit/>
          </a:bodyPr>
          <a:lstStyle/>
          <a:p>
            <a:pPr algn="ctr"/>
            <a:r>
              <a:rPr sz="1300" b="1" i="0">
                <a:solidFill>
                  <a:srgbClr val="FFFFFF"/>
                </a:solidFill>
                <a:latin typeface="Calibri"/>
              </a:rPr>
              <a:t>7</a:t>
            </a:r>
          </a:p>
        </p:txBody>
      </p:sp>
      <p:sp>
        <p:nvSpPr>
          <p:cNvPr id="33" name="TextBox 32"/>
          <p:cNvSpPr txBox="1"/>
          <p:nvPr/>
        </p:nvSpPr>
        <p:spPr>
          <a:xfrm>
            <a:off x="1508760" y="4519865"/>
            <a:ext cx="2148840" cy="1188720"/>
          </a:xfrm>
          <a:prstGeom prst="rect">
            <a:avLst/>
          </a:prstGeom>
          <a:noFill/>
        </p:spPr>
        <p:txBody>
          <a:bodyPr wrap="square" lIns="0" tIns="0" rIns="0" bIns="0" anchor="ctr">
            <a:noAutofit/>
          </a:bodyPr>
          <a:lstStyle/>
          <a:p>
            <a:pPr algn="l"/>
            <a:r>
              <a:rPr sz="1550" b="1" i="0">
                <a:solidFill>
                  <a:srgbClr val="1B1F3B"/>
                </a:solidFill>
                <a:latin typeface="Calibri"/>
              </a:rPr>
              <a:t>Overall Score Generated</a:t>
            </a:r>
          </a:p>
        </p:txBody>
      </p:sp>
      <p:sp>
        <p:nvSpPr>
          <p:cNvPr id="34" name="Rounded Rectangle 33"/>
          <p:cNvSpPr/>
          <p:nvPr/>
        </p:nvSpPr>
        <p:spPr>
          <a:xfrm>
            <a:off x="4494276" y="4519865"/>
            <a:ext cx="3200400" cy="1188720"/>
          </a:xfrm>
          <a:prstGeom prst="roundRect">
            <a:avLst>
              <a:gd name="adj" fmla="val 6153"/>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35" name="Oval 34"/>
          <p:cNvSpPr/>
          <p:nvPr/>
        </p:nvSpPr>
        <p:spPr>
          <a:xfrm>
            <a:off x="4722876" y="4876481"/>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sp>
        <p:nvSpPr>
          <p:cNvPr id="36" name="TextBox 35"/>
          <p:cNvSpPr txBox="1"/>
          <p:nvPr/>
        </p:nvSpPr>
        <p:spPr>
          <a:xfrm>
            <a:off x="4722876" y="4876481"/>
            <a:ext cx="475488" cy="475488"/>
          </a:xfrm>
          <a:prstGeom prst="rect">
            <a:avLst/>
          </a:prstGeom>
          <a:noFill/>
        </p:spPr>
        <p:txBody>
          <a:bodyPr wrap="square" lIns="0" tIns="0" rIns="0" bIns="0" anchor="ctr">
            <a:noAutofit/>
          </a:bodyPr>
          <a:lstStyle/>
          <a:p>
            <a:pPr algn="ctr"/>
            <a:r>
              <a:rPr sz="1300" b="1" i="0">
                <a:solidFill>
                  <a:srgbClr val="FFFFFF"/>
                </a:solidFill>
                <a:latin typeface="Calibri"/>
              </a:rPr>
              <a:t>8</a:t>
            </a:r>
          </a:p>
        </p:txBody>
      </p:sp>
      <p:sp>
        <p:nvSpPr>
          <p:cNvPr id="37" name="TextBox 36"/>
          <p:cNvSpPr txBox="1"/>
          <p:nvPr/>
        </p:nvSpPr>
        <p:spPr>
          <a:xfrm>
            <a:off x="5362956" y="4519865"/>
            <a:ext cx="2148840" cy="1188720"/>
          </a:xfrm>
          <a:prstGeom prst="rect">
            <a:avLst/>
          </a:prstGeom>
          <a:noFill/>
        </p:spPr>
        <p:txBody>
          <a:bodyPr wrap="square" lIns="0" tIns="0" rIns="0" bIns="0" anchor="ctr">
            <a:noAutofit/>
          </a:bodyPr>
          <a:lstStyle/>
          <a:p>
            <a:pPr algn="l"/>
            <a:r>
              <a:rPr sz="1550" b="1" i="0">
                <a:solidFill>
                  <a:srgbClr val="1B1F3B"/>
                </a:solidFill>
                <a:latin typeface="Calibri"/>
              </a:rPr>
              <a:t>Recruiter Reviews Candidate</a:t>
            </a:r>
          </a:p>
        </p:txBody>
      </p:sp>
      <p:sp>
        <p:nvSpPr>
          <p:cNvPr id="38" name="Rounded Rectangle 37"/>
          <p:cNvSpPr/>
          <p:nvPr/>
        </p:nvSpPr>
        <p:spPr>
          <a:xfrm>
            <a:off x="8348471" y="4519865"/>
            <a:ext cx="3200400" cy="1188720"/>
          </a:xfrm>
          <a:prstGeom prst="roundRect">
            <a:avLst>
              <a:gd name="adj" fmla="val 6153"/>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39" name="Oval 38"/>
          <p:cNvSpPr/>
          <p:nvPr/>
        </p:nvSpPr>
        <p:spPr>
          <a:xfrm>
            <a:off x="8577072" y="4876481"/>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sp>
        <p:nvSpPr>
          <p:cNvPr id="40" name="TextBox 39"/>
          <p:cNvSpPr txBox="1"/>
          <p:nvPr/>
        </p:nvSpPr>
        <p:spPr>
          <a:xfrm>
            <a:off x="8577072" y="4876481"/>
            <a:ext cx="475488" cy="475488"/>
          </a:xfrm>
          <a:prstGeom prst="rect">
            <a:avLst/>
          </a:prstGeom>
          <a:noFill/>
        </p:spPr>
        <p:txBody>
          <a:bodyPr wrap="square" lIns="0" tIns="0" rIns="0" bIns="0" anchor="ctr">
            <a:noAutofit/>
          </a:bodyPr>
          <a:lstStyle/>
          <a:p>
            <a:pPr algn="ctr"/>
            <a:r>
              <a:rPr sz="1300" b="1" i="0">
                <a:solidFill>
                  <a:srgbClr val="FFFFFF"/>
                </a:solidFill>
                <a:latin typeface="Calibri"/>
              </a:rPr>
              <a:t>9</a:t>
            </a:r>
          </a:p>
        </p:txBody>
      </p:sp>
      <p:sp>
        <p:nvSpPr>
          <p:cNvPr id="41" name="TextBox 40"/>
          <p:cNvSpPr txBox="1"/>
          <p:nvPr/>
        </p:nvSpPr>
        <p:spPr>
          <a:xfrm>
            <a:off x="9217151" y="4519865"/>
            <a:ext cx="2148840" cy="1188720"/>
          </a:xfrm>
          <a:prstGeom prst="rect">
            <a:avLst/>
          </a:prstGeom>
          <a:noFill/>
        </p:spPr>
        <p:txBody>
          <a:bodyPr wrap="square" lIns="0" tIns="0" rIns="0" bIns="0" anchor="ctr">
            <a:noAutofit/>
          </a:bodyPr>
          <a:lstStyle/>
          <a:p>
            <a:pPr algn="l"/>
            <a:r>
              <a:rPr sz="1550" b="1" i="0">
                <a:solidFill>
                  <a:srgbClr val="1B1F3B"/>
                </a:solidFill>
                <a:latin typeface="Calibri"/>
              </a:rPr>
              <a:t>Application Status Updated</a:t>
            </a:r>
          </a:p>
        </p:txBody>
      </p:sp>
      <p:sp>
        <p:nvSpPr>
          <p:cNvPr id="42" name="Right Arrow 41"/>
          <p:cNvSpPr/>
          <p:nvPr/>
        </p:nvSpPr>
        <p:spPr>
          <a:xfrm>
            <a:off x="3968496" y="1959545"/>
            <a:ext cx="402336" cy="274320"/>
          </a:xfrm>
          <a:prstGeom prst="rightArrow">
            <a:avLst/>
          </a:prstGeom>
          <a:solidFill>
            <a:srgbClr val="6B7394"/>
          </a:solidFill>
          <a:ln>
            <a:noFill/>
          </a:ln>
        </p:spPr>
        <p:txBody>
          <a:bodyPr rtlCol="0" anchor="ctr"/>
          <a:lstStyle/>
          <a:p>
            <a:pPr algn="ctr"/>
            <a:endParaRPr/>
          </a:p>
        </p:txBody>
      </p:sp>
      <p:sp>
        <p:nvSpPr>
          <p:cNvPr id="43" name="Right Arrow 42"/>
          <p:cNvSpPr/>
          <p:nvPr/>
        </p:nvSpPr>
        <p:spPr>
          <a:xfrm>
            <a:off x="7822692" y="1959545"/>
            <a:ext cx="402336" cy="274320"/>
          </a:xfrm>
          <a:prstGeom prst="rightArrow">
            <a:avLst/>
          </a:prstGeom>
          <a:solidFill>
            <a:srgbClr val="6B7394"/>
          </a:solidFill>
          <a:ln>
            <a:noFill/>
          </a:ln>
        </p:spPr>
        <p:txBody>
          <a:bodyPr rtlCol="0" anchor="ctr"/>
          <a:lstStyle/>
          <a:p>
            <a:pPr algn="ctr"/>
            <a:endParaRPr/>
          </a:p>
        </p:txBody>
      </p:sp>
      <p:sp>
        <p:nvSpPr>
          <p:cNvPr id="44" name="Down Arrow 43"/>
          <p:cNvSpPr/>
          <p:nvPr/>
        </p:nvSpPr>
        <p:spPr>
          <a:xfrm>
            <a:off x="9802367" y="2718497"/>
            <a:ext cx="292608" cy="265176"/>
          </a:xfrm>
          <a:prstGeom prst="downArrow">
            <a:avLst/>
          </a:prstGeom>
          <a:solidFill>
            <a:srgbClr val="6B7394"/>
          </a:solidFill>
          <a:ln>
            <a:noFill/>
          </a:ln>
        </p:spPr>
        <p:txBody>
          <a:bodyPr rtlCol="0" anchor="ctr"/>
          <a:lstStyle/>
          <a:p>
            <a:pPr algn="ctr"/>
            <a:endParaRPr/>
          </a:p>
        </p:txBody>
      </p:sp>
      <p:sp>
        <p:nvSpPr>
          <p:cNvPr id="45" name="Left Arrow 44"/>
          <p:cNvSpPr/>
          <p:nvPr/>
        </p:nvSpPr>
        <p:spPr>
          <a:xfrm>
            <a:off x="7822692" y="3468304"/>
            <a:ext cx="402336" cy="274320"/>
          </a:xfrm>
          <a:prstGeom prst="leftArrow">
            <a:avLst/>
          </a:prstGeom>
          <a:solidFill>
            <a:srgbClr val="6B7394"/>
          </a:solidFill>
          <a:ln>
            <a:noFill/>
          </a:ln>
        </p:spPr>
        <p:txBody>
          <a:bodyPr rtlCol="0" anchor="ctr"/>
          <a:lstStyle/>
          <a:p>
            <a:pPr algn="ctr"/>
            <a:endParaRPr/>
          </a:p>
        </p:txBody>
      </p:sp>
      <p:sp>
        <p:nvSpPr>
          <p:cNvPr id="46" name="Left Arrow 45"/>
          <p:cNvSpPr/>
          <p:nvPr/>
        </p:nvSpPr>
        <p:spPr>
          <a:xfrm>
            <a:off x="3968496" y="3468304"/>
            <a:ext cx="402336" cy="274320"/>
          </a:xfrm>
          <a:prstGeom prst="leftArrow">
            <a:avLst/>
          </a:prstGeom>
          <a:solidFill>
            <a:srgbClr val="6B7394"/>
          </a:solidFill>
          <a:ln>
            <a:noFill/>
          </a:ln>
        </p:spPr>
        <p:txBody>
          <a:bodyPr rtlCol="0" anchor="ctr"/>
          <a:lstStyle/>
          <a:p>
            <a:pPr algn="ctr"/>
            <a:endParaRPr/>
          </a:p>
        </p:txBody>
      </p:sp>
      <p:sp>
        <p:nvSpPr>
          <p:cNvPr id="47" name="Down Arrow 46"/>
          <p:cNvSpPr/>
          <p:nvPr/>
        </p:nvSpPr>
        <p:spPr>
          <a:xfrm>
            <a:off x="2093976" y="4227257"/>
            <a:ext cx="292608" cy="265176"/>
          </a:xfrm>
          <a:prstGeom prst="downArrow">
            <a:avLst/>
          </a:prstGeom>
          <a:solidFill>
            <a:srgbClr val="6B7394"/>
          </a:solidFill>
          <a:ln>
            <a:noFill/>
          </a:ln>
        </p:spPr>
        <p:txBody>
          <a:bodyPr rtlCol="0" anchor="ctr"/>
          <a:lstStyle/>
          <a:p>
            <a:pPr algn="ctr"/>
            <a:endParaRPr/>
          </a:p>
        </p:txBody>
      </p:sp>
      <p:sp>
        <p:nvSpPr>
          <p:cNvPr id="48" name="Right Arrow 47"/>
          <p:cNvSpPr/>
          <p:nvPr/>
        </p:nvSpPr>
        <p:spPr>
          <a:xfrm>
            <a:off x="3968496" y="4977065"/>
            <a:ext cx="402336" cy="274320"/>
          </a:xfrm>
          <a:prstGeom prst="rightArrow">
            <a:avLst/>
          </a:prstGeom>
          <a:solidFill>
            <a:srgbClr val="6B7394"/>
          </a:solidFill>
          <a:ln>
            <a:noFill/>
          </a:ln>
        </p:spPr>
        <p:txBody>
          <a:bodyPr rtlCol="0" anchor="ctr"/>
          <a:lstStyle/>
          <a:p>
            <a:pPr algn="ctr"/>
            <a:endParaRPr/>
          </a:p>
        </p:txBody>
      </p:sp>
      <p:sp>
        <p:nvSpPr>
          <p:cNvPr id="49" name="Right Arrow 48"/>
          <p:cNvSpPr/>
          <p:nvPr/>
        </p:nvSpPr>
        <p:spPr>
          <a:xfrm>
            <a:off x="7822692" y="4977065"/>
            <a:ext cx="402336" cy="274320"/>
          </a:xfrm>
          <a:prstGeom prst="rightArrow">
            <a:avLst/>
          </a:prstGeom>
          <a:solidFill>
            <a:srgbClr val="6B7394"/>
          </a:solidFill>
          <a:ln>
            <a:noFill/>
          </a:ln>
        </p:spPr>
        <p:txBody>
          <a:bodyPr rtlCol="0" anchor="ctr"/>
          <a:lstStyle/>
          <a:p>
            <a:pPr algn="ctr"/>
            <a:endParaRPr/>
          </a:p>
        </p:txBody>
      </p:sp>
      <p:sp>
        <p:nvSpPr>
          <p:cNvPr id="50" name="TextBox 49"/>
          <p:cNvSpPr txBox="1"/>
          <p:nvPr/>
        </p:nvSpPr>
        <p:spPr>
          <a:xfrm>
            <a:off x="640080" y="6537960"/>
            <a:ext cx="2926080" cy="201168"/>
          </a:xfrm>
          <a:prstGeom prst="rect">
            <a:avLst/>
          </a:prstGeom>
          <a:noFill/>
        </p:spPr>
        <p:txBody>
          <a:bodyPr wrap="square" lIns="0" tIns="0" rIns="0" bIns="0" anchor="ctr">
            <a:noAutofit/>
          </a:bodyPr>
          <a:lstStyle/>
          <a:p>
            <a:pPr algn="l"/>
            <a:r>
              <a:rPr sz="1000" b="1" i="0">
                <a:solidFill>
                  <a:srgbClr val="002060"/>
                </a:solidFill>
                <a:latin typeface="Calibri"/>
              </a:rPr>
              <a:t>INTELLIGENT HIRING SYSTEM</a:t>
            </a:r>
          </a:p>
        </p:txBody>
      </p:sp>
      <p:sp>
        <p:nvSpPr>
          <p:cNvPr id="51" name="Oval 50"/>
          <p:cNvSpPr/>
          <p:nvPr/>
        </p:nvSpPr>
        <p:spPr>
          <a:xfrm>
            <a:off x="11256264" y="6492240"/>
            <a:ext cx="292608" cy="292608"/>
          </a:xfrm>
          <a:prstGeom prst="ellipse">
            <a:avLst/>
          </a:prstGeom>
          <a:solidFill>
            <a:srgbClr val="F4F7FE"/>
          </a:solidFill>
          <a:ln>
            <a:noFill/>
          </a:ln>
        </p:spPr>
        <p:txBody>
          <a:bodyPr rtlCol="0" anchor="ctr"/>
          <a:lstStyle/>
          <a:p>
            <a:pPr algn="ctr"/>
            <a:endParaRPr/>
          </a:p>
        </p:txBody>
      </p:sp>
      <p:sp>
        <p:nvSpPr>
          <p:cNvPr id="52" name="TextBox 51"/>
          <p:cNvSpPr txBox="1"/>
          <p:nvPr/>
        </p:nvSpPr>
        <p:spPr>
          <a:xfrm>
            <a:off x="11256264" y="6492240"/>
            <a:ext cx="292608" cy="292608"/>
          </a:xfrm>
          <a:prstGeom prst="rect">
            <a:avLst/>
          </a:prstGeom>
          <a:noFill/>
        </p:spPr>
        <p:txBody>
          <a:bodyPr wrap="square" lIns="0" tIns="0" rIns="0" bIns="0" anchor="ctr">
            <a:noAutofit/>
          </a:bodyPr>
          <a:lstStyle/>
          <a:p>
            <a:pPr algn="ctr"/>
            <a:r>
              <a:rPr sz="950" b="1" i="0">
                <a:solidFill>
                  <a:srgbClr val="1E2761"/>
                </a:solidFill>
                <a:latin typeface="Calibri"/>
              </a:rPr>
              <a:t>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rgbClr val="FAFBFF"/>
            </a:gs>
            <a:gs pos="100000">
              <a:srgbClr val="E4ECFC"/>
            </a:gs>
          </a:gsLst>
          <a:lin ang="2700000" scaled="0"/>
        </a:gradFill>
        <a:effectLst/>
      </p:bgPr>
    </p:bg>
    <p:spTree>
      <p:nvGrpSpPr>
        <p:cNvPr id="1" name=""/>
        <p:cNvGrpSpPr/>
        <p:nvPr/>
      </p:nvGrpSpPr>
      <p:grpSpPr>
        <a:xfrm>
          <a:off x="0" y="0"/>
          <a:ext cx="0" cy="0"/>
          <a:chOff x="0" y="0"/>
          <a:chExt cx="0" cy="0"/>
        </a:xfrm>
      </p:grpSpPr>
      <p:sp>
        <p:nvSpPr>
          <p:cNvPr id="9001" name="Decor 9001"/>
          <p:cNvSpPr/>
          <p:nvPr/>
        </p:nvSpPr>
        <p:spPr>
          <a:xfrm>
            <a:off x="8300000" y="-2300000"/>
            <a:ext cx="5200000" cy="5200000"/>
          </a:xfrm>
          <a:prstGeom prst="ellipse">
            <a:avLst/>
          </a:prstGeom>
          <a:solidFill>
            <a:srgbClr val="4A5BC4">
              <a:alpha val="9000"/>
            </a:srgbClr>
          </a:solidFill>
          <a:ln>
            <a:noFill/>
          </a:ln>
        </p:spPr>
        <p:txBody>
          <a:bodyPr/>
          <a:lstStyle/>
          <a:p>
            <a:endParaRPr lang="en-US"/>
          </a:p>
        </p:txBody>
      </p:sp>
      <p:sp>
        <p:nvSpPr>
          <p:cNvPr id="9002" name="Decor 9002"/>
          <p:cNvSpPr/>
          <p:nvPr/>
        </p:nvSpPr>
        <p:spPr>
          <a:xfrm>
            <a:off x="9300000" y="-1500000"/>
            <a:ext cx="3600000" cy="3600000"/>
          </a:xfrm>
          <a:prstGeom prst="ellipse">
            <a:avLst/>
          </a:prstGeom>
          <a:noFill/>
          <a:ln w="19050">
            <a:solidFill>
              <a:srgbClr val="4A5BC4">
                <a:alpha val="22000"/>
              </a:srgbClr>
            </a:solidFill>
          </a:ln>
        </p:spPr>
        <p:txBody>
          <a:bodyPr/>
          <a:lstStyle/>
          <a:p>
            <a:endParaRPr lang="en-US"/>
          </a:p>
        </p:txBody>
      </p:sp>
      <p:sp>
        <p:nvSpPr>
          <p:cNvPr id="9003" name="Decor 9003"/>
          <p:cNvSpPr/>
          <p:nvPr/>
        </p:nvSpPr>
        <p:spPr>
          <a:xfrm>
            <a:off x="-1500000" y="5000000"/>
            <a:ext cx="3300000" cy="3300000"/>
          </a:xfrm>
          <a:prstGeom prst="ellipse">
            <a:avLst/>
          </a:prstGeom>
          <a:solidFill>
            <a:srgbClr val="22D3A6">
              <a:alpha val="9000"/>
            </a:srgbClr>
          </a:solidFill>
          <a:ln>
            <a:noFill/>
          </a:ln>
        </p:spPr>
        <p:txBody>
          <a:bodyPr/>
          <a:lstStyle/>
          <a:p>
            <a:endParaRPr lang="en-US"/>
          </a:p>
        </p:txBody>
      </p:sp>
      <p:sp>
        <p:nvSpPr>
          <p:cNvPr id="9004" name="Decor 9004"/>
          <p:cNvSpPr/>
          <p:nvPr/>
        </p:nvSpPr>
        <p:spPr>
          <a:xfrm>
            <a:off x="-900000" y="5600000"/>
            <a:ext cx="1900000" cy="1900000"/>
          </a:xfrm>
          <a:prstGeom prst="ellipse">
            <a:avLst/>
          </a:prstGeom>
          <a:noFill/>
          <a:ln w="19050">
            <a:solidFill>
              <a:srgbClr val="4A5BC4">
                <a:alpha val="14000"/>
              </a:srgbClr>
            </a:solidFill>
          </a:ln>
        </p:spPr>
        <p:txBody>
          <a:bodyPr/>
          <a:lstStyle/>
          <a:p>
            <a:endParaRPr lang="en-US"/>
          </a:p>
        </p:txBody>
      </p:sp>
      <p:sp>
        <p:nvSpPr>
          <p:cNvPr id="4" name="TextBox 3"/>
          <p:cNvSpPr txBox="1"/>
          <p:nvPr/>
        </p:nvSpPr>
        <p:spPr>
          <a:xfrm>
            <a:off x="640080" y="457523"/>
            <a:ext cx="10881360" cy="566928"/>
          </a:xfrm>
          <a:prstGeom prst="rect">
            <a:avLst/>
          </a:prstGeom>
          <a:noFill/>
        </p:spPr>
        <p:txBody>
          <a:bodyPr wrap="square" lIns="0" tIns="0" rIns="0" bIns="0" anchor="ctr">
            <a:noAutofit/>
          </a:bodyPr>
          <a:lstStyle/>
          <a:p>
            <a:pPr algn="l"/>
            <a:r>
              <a:rPr sz="3000" b="1" i="0">
                <a:solidFill>
                  <a:srgbClr val="1B1F3B"/>
                </a:solidFill>
                <a:latin typeface="Cambria"/>
              </a:rPr>
              <a:t>Implementation</a:t>
            </a:r>
          </a:p>
        </p:txBody>
      </p:sp>
      <p:sp>
        <p:nvSpPr>
          <p:cNvPr id="5" name="Rounded Rectangle 4"/>
          <p:cNvSpPr/>
          <p:nvPr/>
        </p:nvSpPr>
        <p:spPr>
          <a:xfrm>
            <a:off x="640080" y="1271339"/>
            <a:ext cx="3465575" cy="2194560"/>
          </a:xfrm>
          <a:prstGeom prst="roundRect">
            <a:avLst>
              <a:gd name="adj" fmla="val 3333"/>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6" name="Oval 5"/>
          <p:cNvSpPr/>
          <p:nvPr/>
        </p:nvSpPr>
        <p:spPr>
          <a:xfrm>
            <a:off x="868680" y="1472507"/>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7" name="Picture 6" descr="image.png"/>
          <p:cNvPicPr>
            <a:picLocks noChangeAspect="1"/>
          </p:cNvPicPr>
          <p:nvPr/>
        </p:nvPicPr>
        <p:blipFill>
          <a:blip r:embed="rId2"/>
          <a:stretch>
            <a:fillRect/>
          </a:stretch>
        </p:blipFill>
        <p:spPr>
          <a:xfrm>
            <a:off x="968532" y="1572359"/>
            <a:ext cx="275783" cy="275783"/>
          </a:xfrm>
          <a:prstGeom prst="rect">
            <a:avLst/>
          </a:prstGeom>
        </p:spPr>
      </p:pic>
      <p:sp>
        <p:nvSpPr>
          <p:cNvPr id="8" name="TextBox 7"/>
          <p:cNvSpPr txBox="1"/>
          <p:nvPr/>
        </p:nvSpPr>
        <p:spPr>
          <a:xfrm>
            <a:off x="1481328" y="1472507"/>
            <a:ext cx="2414015" cy="475488"/>
          </a:xfrm>
          <a:prstGeom prst="rect">
            <a:avLst/>
          </a:prstGeom>
          <a:noFill/>
        </p:spPr>
        <p:txBody>
          <a:bodyPr wrap="square" lIns="0" tIns="0" rIns="0" bIns="0" anchor="ctr">
            <a:noAutofit/>
          </a:bodyPr>
          <a:lstStyle/>
          <a:p>
            <a:pPr algn="l"/>
            <a:r>
              <a:rPr sz="1650" b="1" i="0">
                <a:solidFill>
                  <a:srgbClr val="1B1F3B"/>
                </a:solidFill>
                <a:latin typeface="Calibri"/>
              </a:rPr>
              <a:t>Frontend Implementation</a:t>
            </a:r>
          </a:p>
        </p:txBody>
      </p:sp>
      <p:sp>
        <p:nvSpPr>
          <p:cNvPr id="9" name="TextBox 8"/>
          <p:cNvSpPr txBox="1"/>
          <p:nvPr/>
        </p:nvSpPr>
        <p:spPr>
          <a:xfrm>
            <a:off x="914400" y="2112587"/>
            <a:ext cx="2916935" cy="1234439"/>
          </a:xfrm>
          <a:prstGeom prst="rect">
            <a:avLst/>
          </a:prstGeom>
          <a:noFill/>
        </p:spPr>
        <p:txBody>
          <a:bodyPr wrap="square" lIns="0" tIns="0" rIns="0" bIns="0" anchor="t">
            <a:noAutofit/>
          </a:bodyPr>
          <a:lstStyle/>
          <a:p>
            <a:pPr algn="l">
              <a:spcAft>
                <a:spcPts val="300"/>
              </a:spcAft>
            </a:pPr>
            <a:r>
              <a:rPr sz="1350" b="0" i="0">
                <a:solidFill>
                  <a:srgbClr val="0B1220"/>
                </a:solidFill>
                <a:latin typeface="Calibri"/>
              </a:rPr>
              <a:t>HTML, CSS, Bootstrap and JavaScript pages for login, registration, dashboards, resume upload and tests.</a:t>
            </a:r>
          </a:p>
        </p:txBody>
      </p:sp>
      <p:sp>
        <p:nvSpPr>
          <p:cNvPr id="10" name="Rounded Rectangle 9"/>
          <p:cNvSpPr/>
          <p:nvPr/>
        </p:nvSpPr>
        <p:spPr>
          <a:xfrm>
            <a:off x="4361688" y="1271339"/>
            <a:ext cx="3465575" cy="2194560"/>
          </a:xfrm>
          <a:prstGeom prst="roundRect">
            <a:avLst>
              <a:gd name="adj" fmla="val 3333"/>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11" name="Oval 10"/>
          <p:cNvSpPr/>
          <p:nvPr/>
        </p:nvSpPr>
        <p:spPr>
          <a:xfrm>
            <a:off x="4590288" y="1472507"/>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12" name="Picture 11" descr="image.png"/>
          <p:cNvPicPr>
            <a:picLocks noChangeAspect="1"/>
          </p:cNvPicPr>
          <p:nvPr/>
        </p:nvPicPr>
        <p:blipFill>
          <a:blip r:embed="rId3"/>
          <a:stretch>
            <a:fillRect/>
          </a:stretch>
        </p:blipFill>
        <p:spPr>
          <a:xfrm>
            <a:off x="4690140" y="1572359"/>
            <a:ext cx="275783" cy="275783"/>
          </a:xfrm>
          <a:prstGeom prst="rect">
            <a:avLst/>
          </a:prstGeom>
        </p:spPr>
      </p:pic>
      <p:sp>
        <p:nvSpPr>
          <p:cNvPr id="13" name="TextBox 12"/>
          <p:cNvSpPr txBox="1"/>
          <p:nvPr/>
        </p:nvSpPr>
        <p:spPr>
          <a:xfrm>
            <a:off x="5202936" y="1472507"/>
            <a:ext cx="2414015" cy="475488"/>
          </a:xfrm>
          <a:prstGeom prst="rect">
            <a:avLst/>
          </a:prstGeom>
          <a:noFill/>
        </p:spPr>
        <p:txBody>
          <a:bodyPr wrap="square" lIns="0" tIns="0" rIns="0" bIns="0" anchor="ctr">
            <a:noAutofit/>
          </a:bodyPr>
          <a:lstStyle/>
          <a:p>
            <a:pPr algn="l"/>
            <a:r>
              <a:rPr sz="1650" b="1" i="0">
                <a:solidFill>
                  <a:srgbClr val="1B1F3B"/>
                </a:solidFill>
                <a:latin typeface="Calibri"/>
              </a:rPr>
              <a:t>Backend Implementation</a:t>
            </a:r>
          </a:p>
        </p:txBody>
      </p:sp>
      <p:sp>
        <p:nvSpPr>
          <p:cNvPr id="14" name="TextBox 13"/>
          <p:cNvSpPr txBox="1"/>
          <p:nvPr/>
        </p:nvSpPr>
        <p:spPr>
          <a:xfrm>
            <a:off x="4636007" y="2112587"/>
            <a:ext cx="2916935" cy="1234439"/>
          </a:xfrm>
          <a:prstGeom prst="rect">
            <a:avLst/>
          </a:prstGeom>
          <a:noFill/>
        </p:spPr>
        <p:txBody>
          <a:bodyPr wrap="square" lIns="0" tIns="0" rIns="0" bIns="0" anchor="t">
            <a:noAutofit/>
          </a:bodyPr>
          <a:lstStyle/>
          <a:p>
            <a:pPr algn="l">
              <a:spcAft>
                <a:spcPts val="300"/>
              </a:spcAft>
            </a:pPr>
            <a:r>
              <a:rPr sz="1350" b="0" i="0">
                <a:solidFill>
                  <a:srgbClr val="0B1220"/>
                </a:solidFill>
                <a:latin typeface="Calibri"/>
              </a:rPr>
              <a:t>Django (Python) views, models and URL routing handle authentication, applications, tests and scoring.</a:t>
            </a:r>
          </a:p>
        </p:txBody>
      </p:sp>
      <p:sp>
        <p:nvSpPr>
          <p:cNvPr id="15" name="Rounded Rectangle 14"/>
          <p:cNvSpPr/>
          <p:nvPr/>
        </p:nvSpPr>
        <p:spPr>
          <a:xfrm>
            <a:off x="8083295" y="1271339"/>
            <a:ext cx="3465575" cy="2194560"/>
          </a:xfrm>
          <a:prstGeom prst="roundRect">
            <a:avLst>
              <a:gd name="adj" fmla="val 3333"/>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16" name="Oval 15"/>
          <p:cNvSpPr/>
          <p:nvPr/>
        </p:nvSpPr>
        <p:spPr>
          <a:xfrm>
            <a:off x="8311895" y="1472507"/>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17" name="Picture 16" descr="image.png"/>
          <p:cNvPicPr>
            <a:picLocks noChangeAspect="1"/>
          </p:cNvPicPr>
          <p:nvPr/>
        </p:nvPicPr>
        <p:blipFill>
          <a:blip r:embed="rId4"/>
          <a:stretch>
            <a:fillRect/>
          </a:stretch>
        </p:blipFill>
        <p:spPr>
          <a:xfrm>
            <a:off x="8411748" y="1572359"/>
            <a:ext cx="275783" cy="275783"/>
          </a:xfrm>
          <a:prstGeom prst="rect">
            <a:avLst/>
          </a:prstGeom>
        </p:spPr>
      </p:pic>
      <p:sp>
        <p:nvSpPr>
          <p:cNvPr id="18" name="TextBox 17"/>
          <p:cNvSpPr txBox="1"/>
          <p:nvPr/>
        </p:nvSpPr>
        <p:spPr>
          <a:xfrm>
            <a:off x="8924543" y="1472507"/>
            <a:ext cx="2414015" cy="475488"/>
          </a:xfrm>
          <a:prstGeom prst="rect">
            <a:avLst/>
          </a:prstGeom>
          <a:noFill/>
        </p:spPr>
        <p:txBody>
          <a:bodyPr wrap="square" lIns="0" tIns="0" rIns="0" bIns="0" anchor="ctr">
            <a:noAutofit/>
          </a:bodyPr>
          <a:lstStyle/>
          <a:p>
            <a:pPr algn="l"/>
            <a:r>
              <a:rPr sz="1650" b="1" i="0">
                <a:solidFill>
                  <a:srgbClr val="1B1F3B"/>
                </a:solidFill>
                <a:latin typeface="Calibri"/>
              </a:rPr>
              <a:t>Database Implementation</a:t>
            </a:r>
          </a:p>
        </p:txBody>
      </p:sp>
      <p:sp>
        <p:nvSpPr>
          <p:cNvPr id="19" name="TextBox 18"/>
          <p:cNvSpPr txBox="1"/>
          <p:nvPr/>
        </p:nvSpPr>
        <p:spPr>
          <a:xfrm>
            <a:off x="8357615" y="2112587"/>
            <a:ext cx="2916935" cy="1234439"/>
          </a:xfrm>
          <a:prstGeom prst="rect">
            <a:avLst/>
          </a:prstGeom>
          <a:noFill/>
        </p:spPr>
        <p:txBody>
          <a:bodyPr wrap="square" lIns="0" tIns="0" rIns="0" bIns="0" anchor="t">
            <a:noAutofit/>
          </a:bodyPr>
          <a:lstStyle/>
          <a:p>
            <a:pPr algn="l">
              <a:spcAft>
                <a:spcPts val="300"/>
              </a:spcAft>
            </a:pPr>
            <a:r>
              <a:rPr sz="1350" b="0" i="0">
                <a:solidFill>
                  <a:srgbClr val="0B1220"/>
                </a:solidFill>
                <a:latin typeface="Calibri"/>
              </a:rPr>
              <a:t>Relational schema in SQLite, managed through the Django ORM, storing users, jobs, resumes, responses and scores.</a:t>
            </a:r>
          </a:p>
        </p:txBody>
      </p:sp>
      <p:sp>
        <p:nvSpPr>
          <p:cNvPr id="20" name="Rounded Rectangle 19"/>
          <p:cNvSpPr/>
          <p:nvPr/>
        </p:nvSpPr>
        <p:spPr>
          <a:xfrm>
            <a:off x="640080" y="3740218"/>
            <a:ext cx="3465575" cy="2194560"/>
          </a:xfrm>
          <a:prstGeom prst="roundRect">
            <a:avLst>
              <a:gd name="adj" fmla="val 3333"/>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21" name="Oval 20"/>
          <p:cNvSpPr/>
          <p:nvPr/>
        </p:nvSpPr>
        <p:spPr>
          <a:xfrm>
            <a:off x="868680" y="3941386"/>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22" name="Picture 21" descr="image.png"/>
          <p:cNvPicPr>
            <a:picLocks noChangeAspect="1"/>
          </p:cNvPicPr>
          <p:nvPr/>
        </p:nvPicPr>
        <p:blipFill>
          <a:blip r:embed="rId5"/>
          <a:stretch>
            <a:fillRect/>
          </a:stretch>
        </p:blipFill>
        <p:spPr>
          <a:xfrm>
            <a:off x="968532" y="4041239"/>
            <a:ext cx="275783" cy="275783"/>
          </a:xfrm>
          <a:prstGeom prst="rect">
            <a:avLst/>
          </a:prstGeom>
        </p:spPr>
      </p:pic>
      <p:sp>
        <p:nvSpPr>
          <p:cNvPr id="23" name="TextBox 22"/>
          <p:cNvSpPr txBox="1"/>
          <p:nvPr/>
        </p:nvSpPr>
        <p:spPr>
          <a:xfrm>
            <a:off x="1481328" y="3941386"/>
            <a:ext cx="2414015" cy="475488"/>
          </a:xfrm>
          <a:prstGeom prst="rect">
            <a:avLst/>
          </a:prstGeom>
          <a:noFill/>
        </p:spPr>
        <p:txBody>
          <a:bodyPr wrap="square" lIns="0" tIns="0" rIns="0" bIns="0" anchor="ctr">
            <a:noAutofit/>
          </a:bodyPr>
          <a:lstStyle/>
          <a:p>
            <a:pPr algn="l"/>
            <a:r>
              <a:rPr sz="1650" b="1" i="0">
                <a:solidFill>
                  <a:srgbClr val="1B1F3B"/>
                </a:solidFill>
                <a:latin typeface="Calibri"/>
              </a:rPr>
              <a:t>Important Functionalities</a:t>
            </a:r>
          </a:p>
        </p:txBody>
      </p:sp>
      <p:sp>
        <p:nvSpPr>
          <p:cNvPr id="24" name="TextBox 23"/>
          <p:cNvSpPr txBox="1"/>
          <p:nvPr/>
        </p:nvSpPr>
        <p:spPr>
          <a:xfrm>
            <a:off x="914400" y="4581466"/>
            <a:ext cx="2916935" cy="1234439"/>
          </a:xfrm>
          <a:prstGeom prst="rect">
            <a:avLst/>
          </a:prstGeom>
          <a:noFill/>
        </p:spPr>
        <p:txBody>
          <a:bodyPr wrap="square" lIns="0" tIns="0" rIns="0" bIns="0" anchor="t">
            <a:noAutofit/>
          </a:bodyPr>
          <a:lstStyle/>
          <a:p>
            <a:pPr marL="201168" indent="-201168" algn="l">
              <a:spcAft>
                <a:spcPts val="300"/>
              </a:spcAft>
              <a:buFont typeface="Arial"/>
              <a:buChar char="•"/>
            </a:pPr>
            <a:r>
              <a:rPr sz="1350" b="0" i="0">
                <a:solidFill>
                  <a:srgbClr val="0B1220"/>
                </a:solidFill>
                <a:latin typeface="Calibri"/>
              </a:rPr>
              <a:t>Role-based secure login</a:t>
            </a:r>
          </a:p>
          <a:p>
            <a:pPr marL="201168" indent="-201168" algn="l">
              <a:spcAft>
                <a:spcPts val="300"/>
              </a:spcAft>
              <a:buFont typeface="Arial"/>
              <a:buChar char="•"/>
            </a:pPr>
            <a:r>
              <a:rPr sz="1350" b="0" i="0">
                <a:solidFill>
                  <a:srgbClr val="0B1220"/>
                </a:solidFill>
                <a:latin typeface="Calibri"/>
              </a:rPr>
              <a:t>Resume upload and analysis</a:t>
            </a:r>
          </a:p>
          <a:p>
            <a:pPr marL="201168" indent="-201168" algn="l">
              <a:spcAft>
                <a:spcPts val="300"/>
              </a:spcAft>
              <a:buFont typeface="Arial"/>
              <a:buChar char="•"/>
            </a:pPr>
            <a:r>
              <a:rPr sz="1350" b="0" i="0">
                <a:solidFill>
                  <a:srgbClr val="0B1220"/>
                </a:solidFill>
                <a:latin typeface="Calibri"/>
              </a:rPr>
              <a:t>Aptitude and personality tests</a:t>
            </a:r>
          </a:p>
          <a:p>
            <a:pPr marL="201168" indent="-201168" algn="l">
              <a:spcAft>
                <a:spcPts val="300"/>
              </a:spcAft>
              <a:buFont typeface="Arial"/>
              <a:buChar char="•"/>
            </a:pPr>
            <a:r>
              <a:rPr sz="1350" b="0" i="0">
                <a:solidFill>
                  <a:srgbClr val="0B1220"/>
                </a:solidFill>
                <a:latin typeface="Calibri"/>
              </a:rPr>
              <a:t>Score generation and ranking</a:t>
            </a:r>
          </a:p>
        </p:txBody>
      </p:sp>
      <p:sp>
        <p:nvSpPr>
          <p:cNvPr id="25" name="Rounded Rectangle 24"/>
          <p:cNvSpPr/>
          <p:nvPr/>
        </p:nvSpPr>
        <p:spPr>
          <a:xfrm>
            <a:off x="4361688" y="3740218"/>
            <a:ext cx="3465575" cy="2194560"/>
          </a:xfrm>
          <a:prstGeom prst="roundRect">
            <a:avLst>
              <a:gd name="adj" fmla="val 3333"/>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26" name="Oval 25"/>
          <p:cNvSpPr/>
          <p:nvPr/>
        </p:nvSpPr>
        <p:spPr>
          <a:xfrm>
            <a:off x="4590288" y="3941386"/>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27" name="Picture 26" descr="image.png"/>
          <p:cNvPicPr>
            <a:picLocks noChangeAspect="1"/>
          </p:cNvPicPr>
          <p:nvPr/>
        </p:nvPicPr>
        <p:blipFill>
          <a:blip r:embed="rId6"/>
          <a:stretch>
            <a:fillRect/>
          </a:stretch>
        </p:blipFill>
        <p:spPr>
          <a:xfrm>
            <a:off x="4690140" y="4041239"/>
            <a:ext cx="275783" cy="275783"/>
          </a:xfrm>
          <a:prstGeom prst="rect">
            <a:avLst/>
          </a:prstGeom>
        </p:spPr>
      </p:pic>
      <p:sp>
        <p:nvSpPr>
          <p:cNvPr id="28" name="TextBox 27"/>
          <p:cNvSpPr txBox="1"/>
          <p:nvPr/>
        </p:nvSpPr>
        <p:spPr>
          <a:xfrm>
            <a:off x="5202936" y="3941386"/>
            <a:ext cx="2414015" cy="475488"/>
          </a:xfrm>
          <a:prstGeom prst="rect">
            <a:avLst/>
          </a:prstGeom>
          <a:noFill/>
        </p:spPr>
        <p:txBody>
          <a:bodyPr wrap="square" lIns="0" tIns="0" rIns="0" bIns="0" anchor="ctr">
            <a:noAutofit/>
          </a:bodyPr>
          <a:lstStyle/>
          <a:p>
            <a:pPr algn="l"/>
            <a:r>
              <a:rPr sz="1650" b="1" i="0">
                <a:solidFill>
                  <a:srgbClr val="1B1F3B"/>
                </a:solidFill>
                <a:latin typeface="Calibri"/>
              </a:rPr>
              <a:t>APIs / Integrations</a:t>
            </a:r>
          </a:p>
        </p:txBody>
      </p:sp>
      <p:sp>
        <p:nvSpPr>
          <p:cNvPr id="29" name="TextBox 28"/>
          <p:cNvSpPr txBox="1"/>
          <p:nvPr/>
        </p:nvSpPr>
        <p:spPr>
          <a:xfrm>
            <a:off x="4636007" y="4602000"/>
            <a:ext cx="2916935" cy="1234439"/>
          </a:xfrm>
          <a:prstGeom prst="rect">
            <a:avLst/>
          </a:prstGeom>
          <a:noFill/>
        </p:spPr>
        <p:txBody>
          <a:bodyPr wrap="square" lIns="0" tIns="0" rIns="0" bIns="0" anchor="t">
            <a:noAutofit/>
          </a:bodyPr>
          <a:lstStyle/>
          <a:p>
            <a:pPr>
              <a:spcAft>
                <a:spcPts val="300"/>
              </a:spcAft>
            </a:pPr>
            <a:r>
              <a:rPr lang="en-IN" sz="1350" dirty="0">
                <a:latin typeface="Calibri "/>
              </a:rPr>
              <a:t>Resume Parser API for resume data </a:t>
            </a:r>
            <a:r>
              <a:rPr lang="en-IN" sz="1350" dirty="0" err="1">
                <a:latin typeface="Calibri "/>
              </a:rPr>
              <a:t>extraction.Extracted</a:t>
            </a:r>
            <a:r>
              <a:rPr lang="en-IN" sz="1350" dirty="0">
                <a:latin typeface="Calibri "/>
              </a:rPr>
              <a:t> candidate details are processed by Django</a:t>
            </a:r>
            <a:endParaRPr sz="1350" b="0" i="0" dirty="0">
              <a:solidFill>
                <a:srgbClr val="0B1220"/>
              </a:solidFill>
              <a:latin typeface="Calibri "/>
            </a:endParaRPr>
          </a:p>
        </p:txBody>
      </p:sp>
      <p:sp>
        <p:nvSpPr>
          <p:cNvPr id="30" name="Rounded Rectangle 29"/>
          <p:cNvSpPr/>
          <p:nvPr/>
        </p:nvSpPr>
        <p:spPr>
          <a:xfrm>
            <a:off x="8083295" y="3740218"/>
            <a:ext cx="3465575" cy="2194560"/>
          </a:xfrm>
          <a:prstGeom prst="roundRect">
            <a:avLst>
              <a:gd name="adj" fmla="val 3333"/>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31" name="Oval 30"/>
          <p:cNvSpPr/>
          <p:nvPr/>
        </p:nvSpPr>
        <p:spPr>
          <a:xfrm>
            <a:off x="8311895" y="3941386"/>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32" name="Picture 31" descr="image.png"/>
          <p:cNvPicPr>
            <a:picLocks noChangeAspect="1"/>
          </p:cNvPicPr>
          <p:nvPr/>
        </p:nvPicPr>
        <p:blipFill>
          <a:blip r:embed="rId7"/>
          <a:stretch>
            <a:fillRect/>
          </a:stretch>
        </p:blipFill>
        <p:spPr>
          <a:xfrm>
            <a:off x="8411748" y="4041239"/>
            <a:ext cx="275783" cy="275783"/>
          </a:xfrm>
          <a:prstGeom prst="rect">
            <a:avLst/>
          </a:prstGeom>
        </p:spPr>
      </p:pic>
      <p:sp>
        <p:nvSpPr>
          <p:cNvPr id="33" name="TextBox 32"/>
          <p:cNvSpPr txBox="1"/>
          <p:nvPr/>
        </p:nvSpPr>
        <p:spPr>
          <a:xfrm>
            <a:off x="8924543" y="3941386"/>
            <a:ext cx="2414015" cy="475488"/>
          </a:xfrm>
          <a:prstGeom prst="rect">
            <a:avLst/>
          </a:prstGeom>
          <a:noFill/>
        </p:spPr>
        <p:txBody>
          <a:bodyPr wrap="square" lIns="0" tIns="0" rIns="0" bIns="0" anchor="ctr">
            <a:noAutofit/>
          </a:bodyPr>
          <a:lstStyle/>
          <a:p>
            <a:pPr algn="l"/>
            <a:r>
              <a:rPr sz="1650" b="1" i="0">
                <a:solidFill>
                  <a:srgbClr val="1B1F3B"/>
                </a:solidFill>
                <a:latin typeface="Calibri"/>
              </a:rPr>
              <a:t>Key Code Logic</a:t>
            </a:r>
          </a:p>
        </p:txBody>
      </p:sp>
      <p:sp>
        <p:nvSpPr>
          <p:cNvPr id="34" name="TextBox 33"/>
          <p:cNvSpPr txBox="1"/>
          <p:nvPr/>
        </p:nvSpPr>
        <p:spPr>
          <a:xfrm>
            <a:off x="8357615" y="4581466"/>
            <a:ext cx="2916935" cy="1234439"/>
          </a:xfrm>
          <a:prstGeom prst="rect">
            <a:avLst/>
          </a:prstGeom>
          <a:noFill/>
        </p:spPr>
        <p:txBody>
          <a:bodyPr wrap="square" lIns="0" tIns="0" rIns="0" bIns="0" anchor="t">
            <a:noAutofit/>
          </a:bodyPr>
          <a:lstStyle/>
          <a:p>
            <a:pPr algn="l">
              <a:spcAft>
                <a:spcPts val="300"/>
              </a:spcAft>
            </a:pPr>
            <a:r>
              <a:rPr sz="1350" b="0" i="0" dirty="0">
                <a:solidFill>
                  <a:srgbClr val="0B1220"/>
                </a:solidFill>
                <a:latin typeface="Calibri"/>
              </a:rPr>
              <a:t>Resume, aptitude and personality results are combined into an overall score; candidates are sorted by it to form the ranked shortlist.</a:t>
            </a:r>
          </a:p>
        </p:txBody>
      </p:sp>
      <p:sp>
        <p:nvSpPr>
          <p:cNvPr id="35" name="TextBox 34"/>
          <p:cNvSpPr txBox="1"/>
          <p:nvPr/>
        </p:nvSpPr>
        <p:spPr>
          <a:xfrm>
            <a:off x="640080" y="6537960"/>
            <a:ext cx="2926080" cy="201168"/>
          </a:xfrm>
          <a:prstGeom prst="rect">
            <a:avLst/>
          </a:prstGeom>
          <a:noFill/>
        </p:spPr>
        <p:txBody>
          <a:bodyPr wrap="square" lIns="0" tIns="0" rIns="0" bIns="0" anchor="ctr">
            <a:noAutofit/>
          </a:bodyPr>
          <a:lstStyle/>
          <a:p>
            <a:pPr algn="l"/>
            <a:r>
              <a:rPr sz="1000" b="1" i="0">
                <a:solidFill>
                  <a:srgbClr val="002060"/>
                </a:solidFill>
                <a:latin typeface="Calibri"/>
              </a:rPr>
              <a:t>INTELLIGENT HIRING SYSTEM</a:t>
            </a:r>
          </a:p>
        </p:txBody>
      </p:sp>
      <p:sp>
        <p:nvSpPr>
          <p:cNvPr id="36" name="Oval 35"/>
          <p:cNvSpPr/>
          <p:nvPr/>
        </p:nvSpPr>
        <p:spPr>
          <a:xfrm>
            <a:off x="11256264" y="6492240"/>
            <a:ext cx="292608" cy="292608"/>
          </a:xfrm>
          <a:prstGeom prst="ellipse">
            <a:avLst/>
          </a:prstGeom>
          <a:solidFill>
            <a:srgbClr val="F4F7FE"/>
          </a:solidFill>
          <a:ln>
            <a:noFill/>
          </a:ln>
        </p:spPr>
        <p:txBody>
          <a:bodyPr rtlCol="0" anchor="ctr"/>
          <a:lstStyle/>
          <a:p>
            <a:pPr algn="ctr"/>
            <a:endParaRPr/>
          </a:p>
        </p:txBody>
      </p:sp>
      <p:sp>
        <p:nvSpPr>
          <p:cNvPr id="37" name="TextBox 36"/>
          <p:cNvSpPr txBox="1"/>
          <p:nvPr/>
        </p:nvSpPr>
        <p:spPr>
          <a:xfrm>
            <a:off x="11256264" y="6492240"/>
            <a:ext cx="292608" cy="292608"/>
          </a:xfrm>
          <a:prstGeom prst="rect">
            <a:avLst/>
          </a:prstGeom>
          <a:noFill/>
        </p:spPr>
        <p:txBody>
          <a:bodyPr wrap="square" lIns="0" tIns="0" rIns="0" bIns="0" anchor="ctr">
            <a:noAutofit/>
          </a:bodyPr>
          <a:lstStyle/>
          <a:p>
            <a:pPr algn="ctr"/>
            <a:r>
              <a:rPr sz="950" b="1" i="0">
                <a:solidFill>
                  <a:srgbClr val="1E2761"/>
                </a:solidFill>
                <a:latin typeface="Calibri"/>
              </a:rPr>
              <a:t>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0">
              <a:srgbClr val="FAFBFF"/>
            </a:gs>
            <a:gs pos="100000">
              <a:srgbClr val="E4ECFC"/>
            </a:gs>
          </a:gsLst>
          <a:lin ang="2700000" scaled="0"/>
        </a:gradFill>
        <a:effectLst/>
      </p:bgPr>
    </p:bg>
    <p:spTree>
      <p:nvGrpSpPr>
        <p:cNvPr id="1" name=""/>
        <p:cNvGrpSpPr/>
        <p:nvPr/>
      </p:nvGrpSpPr>
      <p:grpSpPr>
        <a:xfrm>
          <a:off x="0" y="0"/>
          <a:ext cx="0" cy="0"/>
          <a:chOff x="0" y="0"/>
          <a:chExt cx="0" cy="0"/>
        </a:xfrm>
      </p:grpSpPr>
      <p:sp>
        <p:nvSpPr>
          <p:cNvPr id="9001" name="Decor 9001"/>
          <p:cNvSpPr/>
          <p:nvPr/>
        </p:nvSpPr>
        <p:spPr>
          <a:xfrm>
            <a:off x="8300000" y="-2300000"/>
            <a:ext cx="5200000" cy="5200000"/>
          </a:xfrm>
          <a:prstGeom prst="ellipse">
            <a:avLst/>
          </a:prstGeom>
          <a:solidFill>
            <a:srgbClr val="4A5BC4">
              <a:alpha val="9000"/>
            </a:srgbClr>
          </a:solidFill>
          <a:ln>
            <a:noFill/>
          </a:ln>
        </p:spPr>
        <p:txBody>
          <a:bodyPr/>
          <a:lstStyle/>
          <a:p>
            <a:endParaRPr lang="en-US"/>
          </a:p>
        </p:txBody>
      </p:sp>
      <p:sp>
        <p:nvSpPr>
          <p:cNvPr id="9002" name="Decor 9002"/>
          <p:cNvSpPr/>
          <p:nvPr/>
        </p:nvSpPr>
        <p:spPr>
          <a:xfrm>
            <a:off x="9300000" y="-1500000"/>
            <a:ext cx="3600000" cy="3600000"/>
          </a:xfrm>
          <a:prstGeom prst="ellipse">
            <a:avLst/>
          </a:prstGeom>
          <a:noFill/>
          <a:ln w="19050">
            <a:solidFill>
              <a:srgbClr val="4A5BC4">
                <a:alpha val="22000"/>
              </a:srgbClr>
            </a:solidFill>
          </a:ln>
        </p:spPr>
        <p:txBody>
          <a:bodyPr/>
          <a:lstStyle/>
          <a:p>
            <a:endParaRPr lang="en-US"/>
          </a:p>
        </p:txBody>
      </p:sp>
      <p:sp>
        <p:nvSpPr>
          <p:cNvPr id="9003" name="Decor 9003"/>
          <p:cNvSpPr/>
          <p:nvPr/>
        </p:nvSpPr>
        <p:spPr>
          <a:xfrm>
            <a:off x="-1500000" y="5000000"/>
            <a:ext cx="3300000" cy="3300000"/>
          </a:xfrm>
          <a:prstGeom prst="ellipse">
            <a:avLst/>
          </a:prstGeom>
          <a:solidFill>
            <a:srgbClr val="22D3A6">
              <a:alpha val="9000"/>
            </a:srgbClr>
          </a:solidFill>
          <a:ln>
            <a:noFill/>
          </a:ln>
        </p:spPr>
        <p:txBody>
          <a:bodyPr/>
          <a:lstStyle/>
          <a:p>
            <a:endParaRPr lang="en-US"/>
          </a:p>
        </p:txBody>
      </p:sp>
      <p:sp>
        <p:nvSpPr>
          <p:cNvPr id="9004" name="Decor 9004"/>
          <p:cNvSpPr/>
          <p:nvPr/>
        </p:nvSpPr>
        <p:spPr>
          <a:xfrm>
            <a:off x="-900000" y="5600000"/>
            <a:ext cx="1900000" cy="1900000"/>
          </a:xfrm>
          <a:prstGeom prst="ellipse">
            <a:avLst/>
          </a:prstGeom>
          <a:noFill/>
          <a:ln w="19050">
            <a:solidFill>
              <a:srgbClr val="4A5BC4">
                <a:alpha val="14000"/>
              </a:srgbClr>
            </a:solidFill>
          </a:ln>
        </p:spPr>
        <p:txBody>
          <a:bodyPr/>
          <a:lstStyle/>
          <a:p>
            <a:endParaRPr lang="en-US"/>
          </a:p>
        </p:txBody>
      </p:sp>
      <p:sp>
        <p:nvSpPr>
          <p:cNvPr id="4" name="TextBox 3"/>
          <p:cNvSpPr txBox="1"/>
          <p:nvPr/>
        </p:nvSpPr>
        <p:spPr>
          <a:xfrm>
            <a:off x="640080" y="452535"/>
            <a:ext cx="10881360" cy="566928"/>
          </a:xfrm>
          <a:prstGeom prst="rect">
            <a:avLst/>
          </a:prstGeom>
          <a:noFill/>
        </p:spPr>
        <p:txBody>
          <a:bodyPr wrap="square" lIns="0" tIns="0" rIns="0" bIns="0" anchor="ctr">
            <a:noAutofit/>
          </a:bodyPr>
          <a:lstStyle/>
          <a:p>
            <a:pPr algn="l"/>
            <a:r>
              <a:rPr sz="3000" b="1" i="0" dirty="0">
                <a:solidFill>
                  <a:srgbClr val="1B1F3B"/>
                </a:solidFill>
                <a:latin typeface="Cambria"/>
              </a:rPr>
              <a:t>Screenshots</a:t>
            </a:r>
          </a:p>
        </p:txBody>
      </p:sp>
      <p:sp>
        <p:nvSpPr>
          <p:cNvPr id="7" name="TextBox 6"/>
          <p:cNvSpPr txBox="1"/>
          <p:nvPr/>
        </p:nvSpPr>
        <p:spPr>
          <a:xfrm>
            <a:off x="3909060" y="6312890"/>
            <a:ext cx="4343400" cy="256032"/>
          </a:xfrm>
          <a:prstGeom prst="rect">
            <a:avLst/>
          </a:prstGeom>
          <a:noFill/>
        </p:spPr>
        <p:txBody>
          <a:bodyPr wrap="square" lIns="0" tIns="0" rIns="0" bIns="0" anchor="ctr">
            <a:noAutofit/>
          </a:bodyPr>
          <a:lstStyle/>
          <a:p>
            <a:pPr algn="ctr"/>
            <a:r>
              <a:rPr sz="1200" b="1" i="0" dirty="0">
                <a:solidFill>
                  <a:srgbClr val="1E2761"/>
                </a:solidFill>
                <a:latin typeface="Calibri"/>
              </a:rPr>
              <a:t>Home</a:t>
            </a:r>
            <a:r>
              <a:rPr lang="en-US" sz="1200" b="1" i="0" dirty="0">
                <a:solidFill>
                  <a:srgbClr val="1E2761"/>
                </a:solidFill>
                <a:latin typeface="Calibri"/>
              </a:rPr>
              <a:t> </a:t>
            </a:r>
            <a:r>
              <a:rPr sz="1200" b="1" i="0" dirty="0">
                <a:solidFill>
                  <a:srgbClr val="1E2761"/>
                </a:solidFill>
                <a:latin typeface="Calibri"/>
              </a:rPr>
              <a:t>page</a:t>
            </a:r>
          </a:p>
        </p:txBody>
      </p:sp>
      <p:sp>
        <p:nvSpPr>
          <p:cNvPr id="17" name="TextBox 16"/>
          <p:cNvSpPr txBox="1"/>
          <p:nvPr/>
        </p:nvSpPr>
        <p:spPr>
          <a:xfrm>
            <a:off x="640080" y="6537960"/>
            <a:ext cx="2926080" cy="201168"/>
          </a:xfrm>
          <a:prstGeom prst="rect">
            <a:avLst/>
          </a:prstGeom>
          <a:noFill/>
        </p:spPr>
        <p:txBody>
          <a:bodyPr wrap="square" lIns="0" tIns="0" rIns="0" bIns="0" anchor="ctr">
            <a:noAutofit/>
          </a:bodyPr>
          <a:lstStyle/>
          <a:p>
            <a:pPr algn="l"/>
            <a:r>
              <a:rPr sz="1000" b="1" i="0">
                <a:solidFill>
                  <a:srgbClr val="002060"/>
                </a:solidFill>
                <a:latin typeface="Calibri"/>
              </a:rPr>
              <a:t>INTELLIGENT HIRING SYSTEM</a:t>
            </a:r>
          </a:p>
        </p:txBody>
      </p:sp>
      <p:sp>
        <p:nvSpPr>
          <p:cNvPr id="18" name="Oval 17"/>
          <p:cNvSpPr/>
          <p:nvPr/>
        </p:nvSpPr>
        <p:spPr>
          <a:xfrm>
            <a:off x="11256264" y="6492240"/>
            <a:ext cx="292608" cy="292608"/>
          </a:xfrm>
          <a:prstGeom prst="ellipse">
            <a:avLst/>
          </a:prstGeom>
          <a:solidFill>
            <a:srgbClr val="F4F7FE"/>
          </a:solidFill>
          <a:ln>
            <a:noFill/>
          </a:ln>
        </p:spPr>
        <p:txBody>
          <a:bodyPr rtlCol="0" anchor="ctr"/>
          <a:lstStyle/>
          <a:p>
            <a:pPr algn="ctr"/>
            <a:endParaRPr/>
          </a:p>
        </p:txBody>
      </p:sp>
      <p:sp>
        <p:nvSpPr>
          <p:cNvPr id="19" name="TextBox 18"/>
          <p:cNvSpPr txBox="1"/>
          <p:nvPr/>
        </p:nvSpPr>
        <p:spPr>
          <a:xfrm>
            <a:off x="11256264" y="6492240"/>
            <a:ext cx="292608" cy="292608"/>
          </a:xfrm>
          <a:prstGeom prst="rect">
            <a:avLst/>
          </a:prstGeom>
          <a:noFill/>
        </p:spPr>
        <p:txBody>
          <a:bodyPr wrap="square" lIns="0" tIns="0" rIns="0" bIns="0" anchor="ctr">
            <a:noAutofit/>
          </a:bodyPr>
          <a:lstStyle/>
          <a:p>
            <a:pPr algn="ctr"/>
            <a:r>
              <a:rPr sz="950" b="1" i="0" dirty="0">
                <a:solidFill>
                  <a:srgbClr val="1E2761"/>
                </a:solidFill>
                <a:latin typeface="Calibri"/>
              </a:rPr>
              <a:t>2</a:t>
            </a:r>
            <a:r>
              <a:rPr lang="en-US" sz="950" b="1" i="0" dirty="0">
                <a:solidFill>
                  <a:srgbClr val="1E2761"/>
                </a:solidFill>
                <a:latin typeface="Calibri"/>
              </a:rPr>
              <a:t>6</a:t>
            </a:r>
            <a:endParaRPr sz="950" b="1" i="0" dirty="0">
              <a:solidFill>
                <a:srgbClr val="1E2761"/>
              </a:solidFill>
              <a:latin typeface="Calibri"/>
            </a:endParaRPr>
          </a:p>
        </p:txBody>
      </p:sp>
      <p:pic>
        <p:nvPicPr>
          <p:cNvPr id="21" name="Picture 20">
            <a:extLst>
              <a:ext uri="{FF2B5EF4-FFF2-40B4-BE49-F238E27FC236}">
                <a16:creationId xmlns:a16="http://schemas.microsoft.com/office/drawing/2014/main" id="{057B4172-FA28-3788-CF1A-D86C34DB7850}"/>
              </a:ext>
            </a:extLst>
          </p:cNvPr>
          <p:cNvPicPr>
            <a:picLocks noChangeAspect="1"/>
          </p:cNvPicPr>
          <p:nvPr/>
        </p:nvPicPr>
        <p:blipFill>
          <a:blip r:embed="rId2"/>
          <a:stretch>
            <a:fillRect/>
          </a:stretch>
        </p:blipFill>
        <p:spPr>
          <a:xfrm>
            <a:off x="640080" y="1120703"/>
            <a:ext cx="10908792" cy="5175504"/>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0">
              <a:srgbClr val="FAFBFF"/>
            </a:gs>
            <a:gs pos="100000">
              <a:srgbClr val="E4ECFC"/>
            </a:gs>
          </a:gsLst>
          <a:lin ang="2700000" scaled="0"/>
        </a:gradFill>
        <a:effectLst/>
      </p:bgPr>
    </p:bg>
    <p:spTree>
      <p:nvGrpSpPr>
        <p:cNvPr id="1" name="">
          <a:extLst>
            <a:ext uri="{FF2B5EF4-FFF2-40B4-BE49-F238E27FC236}">
              <a16:creationId xmlns:a16="http://schemas.microsoft.com/office/drawing/2014/main" id="{29EE780B-2319-F255-618E-F45069DC5EC7}"/>
            </a:ext>
          </a:extLst>
        </p:cNvPr>
        <p:cNvGrpSpPr/>
        <p:nvPr/>
      </p:nvGrpSpPr>
      <p:grpSpPr>
        <a:xfrm>
          <a:off x="0" y="0"/>
          <a:ext cx="0" cy="0"/>
          <a:chOff x="0" y="0"/>
          <a:chExt cx="0" cy="0"/>
        </a:xfrm>
      </p:grpSpPr>
      <p:sp>
        <p:nvSpPr>
          <p:cNvPr id="9001" name="Decor 9001">
            <a:extLst>
              <a:ext uri="{FF2B5EF4-FFF2-40B4-BE49-F238E27FC236}">
                <a16:creationId xmlns:a16="http://schemas.microsoft.com/office/drawing/2014/main" id="{443E40F7-E3E9-6A4B-5171-6E9C716E8EC0}"/>
              </a:ext>
            </a:extLst>
          </p:cNvPr>
          <p:cNvSpPr/>
          <p:nvPr/>
        </p:nvSpPr>
        <p:spPr>
          <a:xfrm>
            <a:off x="8300000" y="-2300000"/>
            <a:ext cx="5200000" cy="5200000"/>
          </a:xfrm>
          <a:prstGeom prst="ellipse">
            <a:avLst/>
          </a:prstGeom>
          <a:solidFill>
            <a:srgbClr val="4A5BC4">
              <a:alpha val="9000"/>
            </a:srgbClr>
          </a:solidFill>
          <a:ln>
            <a:noFill/>
          </a:ln>
        </p:spPr>
        <p:txBody>
          <a:bodyPr/>
          <a:lstStyle/>
          <a:p>
            <a:endParaRPr lang="en-US"/>
          </a:p>
        </p:txBody>
      </p:sp>
      <p:sp>
        <p:nvSpPr>
          <p:cNvPr id="9002" name="Decor 9002">
            <a:extLst>
              <a:ext uri="{FF2B5EF4-FFF2-40B4-BE49-F238E27FC236}">
                <a16:creationId xmlns:a16="http://schemas.microsoft.com/office/drawing/2014/main" id="{EE56499B-23B0-C6A0-A126-F06C970D8F9C}"/>
              </a:ext>
            </a:extLst>
          </p:cNvPr>
          <p:cNvSpPr/>
          <p:nvPr/>
        </p:nvSpPr>
        <p:spPr>
          <a:xfrm>
            <a:off x="9300000" y="-1500000"/>
            <a:ext cx="3600000" cy="3600000"/>
          </a:xfrm>
          <a:prstGeom prst="ellipse">
            <a:avLst/>
          </a:prstGeom>
          <a:noFill/>
          <a:ln w="19050">
            <a:solidFill>
              <a:srgbClr val="4A5BC4">
                <a:alpha val="22000"/>
              </a:srgbClr>
            </a:solidFill>
          </a:ln>
        </p:spPr>
        <p:txBody>
          <a:bodyPr/>
          <a:lstStyle/>
          <a:p>
            <a:endParaRPr lang="en-US"/>
          </a:p>
        </p:txBody>
      </p:sp>
      <p:sp>
        <p:nvSpPr>
          <p:cNvPr id="9003" name="Decor 9003">
            <a:extLst>
              <a:ext uri="{FF2B5EF4-FFF2-40B4-BE49-F238E27FC236}">
                <a16:creationId xmlns:a16="http://schemas.microsoft.com/office/drawing/2014/main" id="{4521E2DB-CF8E-84EF-B686-A32C2923BA49}"/>
              </a:ext>
            </a:extLst>
          </p:cNvPr>
          <p:cNvSpPr/>
          <p:nvPr/>
        </p:nvSpPr>
        <p:spPr>
          <a:xfrm>
            <a:off x="-1500000" y="5000000"/>
            <a:ext cx="3300000" cy="3300000"/>
          </a:xfrm>
          <a:prstGeom prst="ellipse">
            <a:avLst/>
          </a:prstGeom>
          <a:solidFill>
            <a:srgbClr val="22D3A6">
              <a:alpha val="9000"/>
            </a:srgbClr>
          </a:solidFill>
          <a:ln>
            <a:noFill/>
          </a:ln>
        </p:spPr>
        <p:txBody>
          <a:bodyPr/>
          <a:lstStyle/>
          <a:p>
            <a:endParaRPr lang="en-US"/>
          </a:p>
        </p:txBody>
      </p:sp>
      <p:sp>
        <p:nvSpPr>
          <p:cNvPr id="9004" name="Decor 9004">
            <a:extLst>
              <a:ext uri="{FF2B5EF4-FFF2-40B4-BE49-F238E27FC236}">
                <a16:creationId xmlns:a16="http://schemas.microsoft.com/office/drawing/2014/main" id="{4E0DFE87-3E73-A15A-0FC0-B9245FBD90AD}"/>
              </a:ext>
            </a:extLst>
          </p:cNvPr>
          <p:cNvSpPr/>
          <p:nvPr/>
        </p:nvSpPr>
        <p:spPr>
          <a:xfrm>
            <a:off x="-900000" y="5600000"/>
            <a:ext cx="1900000" cy="1900000"/>
          </a:xfrm>
          <a:prstGeom prst="ellipse">
            <a:avLst/>
          </a:prstGeom>
          <a:noFill/>
          <a:ln w="19050">
            <a:solidFill>
              <a:srgbClr val="4A5BC4">
                <a:alpha val="14000"/>
              </a:srgbClr>
            </a:solidFill>
          </a:ln>
        </p:spPr>
        <p:txBody>
          <a:bodyPr/>
          <a:lstStyle/>
          <a:p>
            <a:endParaRPr lang="en-US"/>
          </a:p>
        </p:txBody>
      </p:sp>
      <p:sp>
        <p:nvSpPr>
          <p:cNvPr id="4" name="TextBox 3">
            <a:extLst>
              <a:ext uri="{FF2B5EF4-FFF2-40B4-BE49-F238E27FC236}">
                <a16:creationId xmlns:a16="http://schemas.microsoft.com/office/drawing/2014/main" id="{51C27651-1FF4-FF3B-6B00-C3F51512DFF8}"/>
              </a:ext>
            </a:extLst>
          </p:cNvPr>
          <p:cNvSpPr txBox="1"/>
          <p:nvPr/>
        </p:nvSpPr>
        <p:spPr>
          <a:xfrm>
            <a:off x="640080" y="452535"/>
            <a:ext cx="10881360" cy="566928"/>
          </a:xfrm>
          <a:prstGeom prst="rect">
            <a:avLst/>
          </a:prstGeom>
          <a:noFill/>
        </p:spPr>
        <p:txBody>
          <a:bodyPr wrap="square" lIns="0" tIns="0" rIns="0" bIns="0" anchor="ctr">
            <a:noAutofit/>
          </a:bodyPr>
          <a:lstStyle/>
          <a:p>
            <a:pPr algn="l"/>
            <a:r>
              <a:rPr sz="3000" b="1" i="0" dirty="0">
                <a:solidFill>
                  <a:srgbClr val="1B1F3B"/>
                </a:solidFill>
                <a:latin typeface="Cambria"/>
              </a:rPr>
              <a:t>Screenshots</a:t>
            </a:r>
          </a:p>
        </p:txBody>
      </p:sp>
      <p:sp>
        <p:nvSpPr>
          <p:cNvPr id="10" name="TextBox 9">
            <a:extLst>
              <a:ext uri="{FF2B5EF4-FFF2-40B4-BE49-F238E27FC236}">
                <a16:creationId xmlns:a16="http://schemas.microsoft.com/office/drawing/2014/main" id="{03ED95EE-C538-DC62-102F-4AFB878CEEC3}"/>
              </a:ext>
            </a:extLst>
          </p:cNvPr>
          <p:cNvSpPr txBox="1"/>
          <p:nvPr/>
        </p:nvSpPr>
        <p:spPr>
          <a:xfrm>
            <a:off x="3922776" y="6295083"/>
            <a:ext cx="4343400" cy="256032"/>
          </a:xfrm>
          <a:prstGeom prst="rect">
            <a:avLst/>
          </a:prstGeom>
          <a:noFill/>
        </p:spPr>
        <p:txBody>
          <a:bodyPr wrap="square" lIns="0" tIns="0" rIns="0" bIns="0" anchor="ctr">
            <a:noAutofit/>
          </a:bodyPr>
          <a:lstStyle/>
          <a:p>
            <a:pPr algn="ctr"/>
            <a:r>
              <a:rPr sz="1200" b="1" i="0" dirty="0">
                <a:solidFill>
                  <a:srgbClr val="1E2761"/>
                </a:solidFill>
                <a:latin typeface="Calibri"/>
              </a:rPr>
              <a:t>Registration page</a:t>
            </a:r>
          </a:p>
        </p:txBody>
      </p:sp>
      <p:sp>
        <p:nvSpPr>
          <p:cNvPr id="17" name="TextBox 16">
            <a:extLst>
              <a:ext uri="{FF2B5EF4-FFF2-40B4-BE49-F238E27FC236}">
                <a16:creationId xmlns:a16="http://schemas.microsoft.com/office/drawing/2014/main" id="{512C1567-7EE8-A2D9-E781-0960273A6AF4}"/>
              </a:ext>
            </a:extLst>
          </p:cNvPr>
          <p:cNvSpPr txBox="1"/>
          <p:nvPr/>
        </p:nvSpPr>
        <p:spPr>
          <a:xfrm>
            <a:off x="640080" y="6537960"/>
            <a:ext cx="2926080" cy="201168"/>
          </a:xfrm>
          <a:prstGeom prst="rect">
            <a:avLst/>
          </a:prstGeom>
          <a:noFill/>
        </p:spPr>
        <p:txBody>
          <a:bodyPr wrap="square" lIns="0" tIns="0" rIns="0" bIns="0" anchor="ctr">
            <a:noAutofit/>
          </a:bodyPr>
          <a:lstStyle/>
          <a:p>
            <a:pPr algn="l"/>
            <a:r>
              <a:rPr sz="1000" b="1" i="0">
                <a:solidFill>
                  <a:srgbClr val="002060"/>
                </a:solidFill>
                <a:latin typeface="Calibri"/>
              </a:rPr>
              <a:t>INTELLIGENT HIRING SYSTEM</a:t>
            </a:r>
          </a:p>
        </p:txBody>
      </p:sp>
      <p:sp>
        <p:nvSpPr>
          <p:cNvPr id="18" name="Oval 17">
            <a:extLst>
              <a:ext uri="{FF2B5EF4-FFF2-40B4-BE49-F238E27FC236}">
                <a16:creationId xmlns:a16="http://schemas.microsoft.com/office/drawing/2014/main" id="{BAF6F92C-5FAA-3E47-18F7-C5FA5FB7EC61}"/>
              </a:ext>
            </a:extLst>
          </p:cNvPr>
          <p:cNvSpPr/>
          <p:nvPr/>
        </p:nvSpPr>
        <p:spPr>
          <a:xfrm>
            <a:off x="11256264" y="6492240"/>
            <a:ext cx="292608" cy="292608"/>
          </a:xfrm>
          <a:prstGeom prst="ellipse">
            <a:avLst/>
          </a:prstGeom>
          <a:solidFill>
            <a:srgbClr val="F4F7FE"/>
          </a:solidFill>
          <a:ln>
            <a:noFill/>
          </a:ln>
        </p:spPr>
        <p:txBody>
          <a:bodyPr rtlCol="0" anchor="ctr"/>
          <a:lstStyle/>
          <a:p>
            <a:pPr algn="ctr"/>
            <a:endParaRPr/>
          </a:p>
        </p:txBody>
      </p:sp>
      <p:sp>
        <p:nvSpPr>
          <p:cNvPr id="19" name="TextBox 18">
            <a:extLst>
              <a:ext uri="{FF2B5EF4-FFF2-40B4-BE49-F238E27FC236}">
                <a16:creationId xmlns:a16="http://schemas.microsoft.com/office/drawing/2014/main" id="{78B97DE4-79D5-17F0-4800-987253AF4ACA}"/>
              </a:ext>
            </a:extLst>
          </p:cNvPr>
          <p:cNvSpPr txBox="1"/>
          <p:nvPr/>
        </p:nvSpPr>
        <p:spPr>
          <a:xfrm>
            <a:off x="11256264" y="6492240"/>
            <a:ext cx="292608" cy="292608"/>
          </a:xfrm>
          <a:prstGeom prst="rect">
            <a:avLst/>
          </a:prstGeom>
          <a:noFill/>
        </p:spPr>
        <p:txBody>
          <a:bodyPr wrap="square" lIns="0" tIns="0" rIns="0" bIns="0" anchor="ctr">
            <a:noAutofit/>
          </a:bodyPr>
          <a:lstStyle/>
          <a:p>
            <a:pPr algn="ctr"/>
            <a:r>
              <a:rPr sz="950" b="1" i="0">
                <a:solidFill>
                  <a:srgbClr val="1E2761"/>
                </a:solidFill>
                <a:latin typeface="Calibri"/>
              </a:rPr>
              <a:t>27</a:t>
            </a:r>
          </a:p>
        </p:txBody>
      </p:sp>
      <p:pic>
        <p:nvPicPr>
          <p:cNvPr id="6" name="Picture 5">
            <a:extLst>
              <a:ext uri="{FF2B5EF4-FFF2-40B4-BE49-F238E27FC236}">
                <a16:creationId xmlns:a16="http://schemas.microsoft.com/office/drawing/2014/main" id="{59A29E0C-E89D-5333-72DF-1E4D6951AD53}"/>
              </a:ext>
            </a:extLst>
          </p:cNvPr>
          <p:cNvPicPr>
            <a:picLocks noChangeAspect="1"/>
          </p:cNvPicPr>
          <p:nvPr/>
        </p:nvPicPr>
        <p:blipFill>
          <a:blip r:embed="rId2"/>
          <a:stretch>
            <a:fillRect/>
          </a:stretch>
        </p:blipFill>
        <p:spPr>
          <a:xfrm>
            <a:off x="641604" y="1120703"/>
            <a:ext cx="10908792" cy="5175504"/>
          </a:xfrm>
          <a:prstGeom prst="rect">
            <a:avLst/>
          </a:prstGeom>
        </p:spPr>
      </p:pic>
    </p:spTree>
    <p:extLst>
      <p:ext uri="{BB962C8B-B14F-4D97-AF65-F5344CB8AC3E}">
        <p14:creationId xmlns:p14="http://schemas.microsoft.com/office/powerpoint/2010/main" val="21859418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rotWithShape="1">
          <a:gsLst>
            <a:gs pos="0">
              <a:srgbClr val="FAFBFF"/>
            </a:gs>
            <a:gs pos="100000">
              <a:srgbClr val="E4ECFC"/>
            </a:gs>
          </a:gsLst>
          <a:lin ang="2700000" scaled="0"/>
        </a:gradFill>
        <a:effectLst/>
      </p:bgPr>
    </p:bg>
    <p:spTree>
      <p:nvGrpSpPr>
        <p:cNvPr id="1" name="">
          <a:extLst>
            <a:ext uri="{FF2B5EF4-FFF2-40B4-BE49-F238E27FC236}">
              <a16:creationId xmlns:a16="http://schemas.microsoft.com/office/drawing/2014/main" id="{B900AB39-3672-AD7A-7F48-83E79155BBE7}"/>
            </a:ext>
          </a:extLst>
        </p:cNvPr>
        <p:cNvGrpSpPr/>
        <p:nvPr/>
      </p:nvGrpSpPr>
      <p:grpSpPr>
        <a:xfrm>
          <a:off x="0" y="0"/>
          <a:ext cx="0" cy="0"/>
          <a:chOff x="0" y="0"/>
          <a:chExt cx="0" cy="0"/>
        </a:xfrm>
      </p:grpSpPr>
      <p:sp>
        <p:nvSpPr>
          <p:cNvPr id="9001" name="Decor 9001">
            <a:extLst>
              <a:ext uri="{FF2B5EF4-FFF2-40B4-BE49-F238E27FC236}">
                <a16:creationId xmlns:a16="http://schemas.microsoft.com/office/drawing/2014/main" id="{ACE276E0-FA9B-4306-CEC9-1F01F3C632F6}"/>
              </a:ext>
            </a:extLst>
          </p:cNvPr>
          <p:cNvSpPr/>
          <p:nvPr/>
        </p:nvSpPr>
        <p:spPr>
          <a:xfrm>
            <a:off x="8300000" y="-2300000"/>
            <a:ext cx="5200000" cy="5200000"/>
          </a:xfrm>
          <a:prstGeom prst="ellipse">
            <a:avLst/>
          </a:prstGeom>
          <a:solidFill>
            <a:srgbClr val="4A5BC4">
              <a:alpha val="9000"/>
            </a:srgbClr>
          </a:solidFill>
          <a:ln>
            <a:noFill/>
          </a:ln>
        </p:spPr>
        <p:txBody>
          <a:bodyPr/>
          <a:lstStyle/>
          <a:p>
            <a:endParaRPr lang="en-US"/>
          </a:p>
        </p:txBody>
      </p:sp>
      <p:sp>
        <p:nvSpPr>
          <p:cNvPr id="9002" name="Decor 9002">
            <a:extLst>
              <a:ext uri="{FF2B5EF4-FFF2-40B4-BE49-F238E27FC236}">
                <a16:creationId xmlns:a16="http://schemas.microsoft.com/office/drawing/2014/main" id="{F39CB7CF-68BB-08BD-FEE1-66555DAB3C73}"/>
              </a:ext>
            </a:extLst>
          </p:cNvPr>
          <p:cNvSpPr/>
          <p:nvPr/>
        </p:nvSpPr>
        <p:spPr>
          <a:xfrm>
            <a:off x="9300000" y="-1500000"/>
            <a:ext cx="3600000" cy="3600000"/>
          </a:xfrm>
          <a:prstGeom prst="ellipse">
            <a:avLst/>
          </a:prstGeom>
          <a:noFill/>
          <a:ln w="19050">
            <a:solidFill>
              <a:srgbClr val="4A5BC4">
                <a:alpha val="22000"/>
              </a:srgbClr>
            </a:solidFill>
          </a:ln>
        </p:spPr>
        <p:txBody>
          <a:bodyPr/>
          <a:lstStyle/>
          <a:p>
            <a:endParaRPr lang="en-US"/>
          </a:p>
        </p:txBody>
      </p:sp>
      <p:sp>
        <p:nvSpPr>
          <p:cNvPr id="9003" name="Decor 9003">
            <a:extLst>
              <a:ext uri="{FF2B5EF4-FFF2-40B4-BE49-F238E27FC236}">
                <a16:creationId xmlns:a16="http://schemas.microsoft.com/office/drawing/2014/main" id="{81B4F8E6-E57D-0F1B-0956-D3360D9CF7CC}"/>
              </a:ext>
            </a:extLst>
          </p:cNvPr>
          <p:cNvSpPr/>
          <p:nvPr/>
        </p:nvSpPr>
        <p:spPr>
          <a:xfrm>
            <a:off x="-1500000" y="5000000"/>
            <a:ext cx="3300000" cy="3300000"/>
          </a:xfrm>
          <a:prstGeom prst="ellipse">
            <a:avLst/>
          </a:prstGeom>
          <a:solidFill>
            <a:srgbClr val="22D3A6">
              <a:alpha val="9000"/>
            </a:srgbClr>
          </a:solidFill>
          <a:ln>
            <a:noFill/>
          </a:ln>
        </p:spPr>
        <p:txBody>
          <a:bodyPr/>
          <a:lstStyle/>
          <a:p>
            <a:endParaRPr lang="en-US"/>
          </a:p>
        </p:txBody>
      </p:sp>
      <p:sp>
        <p:nvSpPr>
          <p:cNvPr id="9004" name="Decor 9004">
            <a:extLst>
              <a:ext uri="{FF2B5EF4-FFF2-40B4-BE49-F238E27FC236}">
                <a16:creationId xmlns:a16="http://schemas.microsoft.com/office/drawing/2014/main" id="{B8484A04-FDDD-A5BF-1554-22B484F6E3FA}"/>
              </a:ext>
            </a:extLst>
          </p:cNvPr>
          <p:cNvSpPr/>
          <p:nvPr/>
        </p:nvSpPr>
        <p:spPr>
          <a:xfrm>
            <a:off x="-900000" y="5600000"/>
            <a:ext cx="1900000" cy="1900000"/>
          </a:xfrm>
          <a:prstGeom prst="ellipse">
            <a:avLst/>
          </a:prstGeom>
          <a:noFill/>
          <a:ln w="19050">
            <a:solidFill>
              <a:srgbClr val="4A5BC4">
                <a:alpha val="14000"/>
              </a:srgbClr>
            </a:solidFill>
          </a:ln>
        </p:spPr>
        <p:txBody>
          <a:bodyPr/>
          <a:lstStyle/>
          <a:p>
            <a:endParaRPr lang="en-US"/>
          </a:p>
        </p:txBody>
      </p:sp>
      <p:sp>
        <p:nvSpPr>
          <p:cNvPr id="4" name="TextBox 3">
            <a:extLst>
              <a:ext uri="{FF2B5EF4-FFF2-40B4-BE49-F238E27FC236}">
                <a16:creationId xmlns:a16="http://schemas.microsoft.com/office/drawing/2014/main" id="{AA954D46-BEC2-1CFD-35C7-3E245CF0D8EF}"/>
              </a:ext>
            </a:extLst>
          </p:cNvPr>
          <p:cNvSpPr txBox="1"/>
          <p:nvPr/>
        </p:nvSpPr>
        <p:spPr>
          <a:xfrm>
            <a:off x="640080" y="452535"/>
            <a:ext cx="10881360" cy="566928"/>
          </a:xfrm>
          <a:prstGeom prst="rect">
            <a:avLst/>
          </a:prstGeom>
          <a:noFill/>
        </p:spPr>
        <p:txBody>
          <a:bodyPr wrap="square" lIns="0" tIns="0" rIns="0" bIns="0" anchor="ctr">
            <a:noAutofit/>
          </a:bodyPr>
          <a:lstStyle/>
          <a:p>
            <a:pPr algn="l"/>
            <a:r>
              <a:rPr sz="3000" b="1" i="0" dirty="0">
                <a:solidFill>
                  <a:srgbClr val="1B1F3B"/>
                </a:solidFill>
                <a:latin typeface="Cambria"/>
              </a:rPr>
              <a:t>Screenshots</a:t>
            </a:r>
          </a:p>
        </p:txBody>
      </p:sp>
      <p:sp>
        <p:nvSpPr>
          <p:cNvPr id="13" name="TextBox 12">
            <a:extLst>
              <a:ext uri="{FF2B5EF4-FFF2-40B4-BE49-F238E27FC236}">
                <a16:creationId xmlns:a16="http://schemas.microsoft.com/office/drawing/2014/main" id="{3E09E825-D1C0-8F5D-8CCA-D38C328FF8AF}"/>
              </a:ext>
            </a:extLst>
          </p:cNvPr>
          <p:cNvSpPr txBox="1"/>
          <p:nvPr/>
        </p:nvSpPr>
        <p:spPr>
          <a:xfrm>
            <a:off x="3909060" y="6293968"/>
            <a:ext cx="4343400" cy="256032"/>
          </a:xfrm>
          <a:prstGeom prst="rect">
            <a:avLst/>
          </a:prstGeom>
          <a:noFill/>
        </p:spPr>
        <p:txBody>
          <a:bodyPr wrap="square" lIns="0" tIns="0" rIns="0" bIns="0" anchor="ctr">
            <a:noAutofit/>
          </a:bodyPr>
          <a:lstStyle/>
          <a:p>
            <a:pPr algn="ctr"/>
            <a:r>
              <a:rPr sz="1200" b="1" i="0" dirty="0">
                <a:solidFill>
                  <a:srgbClr val="1E2761"/>
                </a:solidFill>
                <a:latin typeface="Calibri"/>
              </a:rPr>
              <a:t>Login page</a:t>
            </a:r>
          </a:p>
        </p:txBody>
      </p:sp>
      <p:sp>
        <p:nvSpPr>
          <p:cNvPr id="17" name="TextBox 16">
            <a:extLst>
              <a:ext uri="{FF2B5EF4-FFF2-40B4-BE49-F238E27FC236}">
                <a16:creationId xmlns:a16="http://schemas.microsoft.com/office/drawing/2014/main" id="{7A1ECFCD-51B9-C803-06F7-5E56F1477D26}"/>
              </a:ext>
            </a:extLst>
          </p:cNvPr>
          <p:cNvSpPr txBox="1"/>
          <p:nvPr/>
        </p:nvSpPr>
        <p:spPr>
          <a:xfrm>
            <a:off x="640080" y="6537960"/>
            <a:ext cx="2926080" cy="201168"/>
          </a:xfrm>
          <a:prstGeom prst="rect">
            <a:avLst/>
          </a:prstGeom>
          <a:noFill/>
        </p:spPr>
        <p:txBody>
          <a:bodyPr wrap="square" lIns="0" tIns="0" rIns="0" bIns="0" anchor="ctr">
            <a:noAutofit/>
          </a:bodyPr>
          <a:lstStyle/>
          <a:p>
            <a:pPr algn="l"/>
            <a:r>
              <a:rPr sz="1000" b="1" i="0">
                <a:solidFill>
                  <a:srgbClr val="002060"/>
                </a:solidFill>
                <a:latin typeface="Calibri"/>
              </a:rPr>
              <a:t>INTELLIGENT HIRING SYSTEM</a:t>
            </a:r>
          </a:p>
        </p:txBody>
      </p:sp>
      <p:sp>
        <p:nvSpPr>
          <p:cNvPr id="18" name="Oval 17">
            <a:extLst>
              <a:ext uri="{FF2B5EF4-FFF2-40B4-BE49-F238E27FC236}">
                <a16:creationId xmlns:a16="http://schemas.microsoft.com/office/drawing/2014/main" id="{75A5CA19-E223-6324-E34B-F4B591A51C2A}"/>
              </a:ext>
            </a:extLst>
          </p:cNvPr>
          <p:cNvSpPr/>
          <p:nvPr/>
        </p:nvSpPr>
        <p:spPr>
          <a:xfrm>
            <a:off x="11256264" y="6492240"/>
            <a:ext cx="292608" cy="292608"/>
          </a:xfrm>
          <a:prstGeom prst="ellipse">
            <a:avLst/>
          </a:prstGeom>
          <a:solidFill>
            <a:srgbClr val="F4F7FE"/>
          </a:solidFill>
          <a:ln>
            <a:noFill/>
          </a:ln>
        </p:spPr>
        <p:txBody>
          <a:bodyPr rtlCol="0" anchor="ctr"/>
          <a:lstStyle/>
          <a:p>
            <a:pPr algn="ctr"/>
            <a:endParaRPr/>
          </a:p>
        </p:txBody>
      </p:sp>
      <p:sp>
        <p:nvSpPr>
          <p:cNvPr id="19" name="TextBox 18">
            <a:extLst>
              <a:ext uri="{FF2B5EF4-FFF2-40B4-BE49-F238E27FC236}">
                <a16:creationId xmlns:a16="http://schemas.microsoft.com/office/drawing/2014/main" id="{BD558DE6-FC0D-9C66-6947-6577997D8A99}"/>
              </a:ext>
            </a:extLst>
          </p:cNvPr>
          <p:cNvSpPr txBox="1"/>
          <p:nvPr/>
        </p:nvSpPr>
        <p:spPr>
          <a:xfrm>
            <a:off x="11256264" y="6492240"/>
            <a:ext cx="292608" cy="292608"/>
          </a:xfrm>
          <a:prstGeom prst="rect">
            <a:avLst/>
          </a:prstGeom>
          <a:noFill/>
        </p:spPr>
        <p:txBody>
          <a:bodyPr wrap="square" lIns="0" tIns="0" rIns="0" bIns="0" anchor="ctr">
            <a:noAutofit/>
          </a:bodyPr>
          <a:lstStyle/>
          <a:p>
            <a:pPr algn="ctr"/>
            <a:r>
              <a:rPr sz="950" b="1" i="0" dirty="0">
                <a:solidFill>
                  <a:srgbClr val="1E2761"/>
                </a:solidFill>
                <a:latin typeface="Calibri"/>
              </a:rPr>
              <a:t>2</a:t>
            </a:r>
            <a:r>
              <a:rPr lang="en-US" sz="950" b="1" i="0" dirty="0">
                <a:solidFill>
                  <a:srgbClr val="1E2761"/>
                </a:solidFill>
                <a:latin typeface="Calibri"/>
              </a:rPr>
              <a:t>8</a:t>
            </a:r>
            <a:endParaRPr sz="950" b="1" i="0" dirty="0">
              <a:solidFill>
                <a:srgbClr val="1E2761"/>
              </a:solidFill>
              <a:latin typeface="Calibri"/>
            </a:endParaRPr>
          </a:p>
        </p:txBody>
      </p:sp>
      <p:pic>
        <p:nvPicPr>
          <p:cNvPr id="3" name="Picture 2">
            <a:extLst>
              <a:ext uri="{FF2B5EF4-FFF2-40B4-BE49-F238E27FC236}">
                <a16:creationId xmlns:a16="http://schemas.microsoft.com/office/drawing/2014/main" id="{3ACF555A-5ADF-D915-19AD-21921F4D9684}"/>
              </a:ext>
            </a:extLst>
          </p:cNvPr>
          <p:cNvPicPr>
            <a:picLocks noChangeAspect="1"/>
          </p:cNvPicPr>
          <p:nvPr/>
        </p:nvPicPr>
        <p:blipFill>
          <a:blip r:embed="rId2"/>
          <a:stretch>
            <a:fillRect/>
          </a:stretch>
        </p:blipFill>
        <p:spPr>
          <a:xfrm>
            <a:off x="641604" y="1128724"/>
            <a:ext cx="10908792" cy="5175504"/>
          </a:xfrm>
          <a:prstGeom prst="rect">
            <a:avLst/>
          </a:prstGeom>
        </p:spPr>
      </p:pic>
    </p:spTree>
    <p:extLst>
      <p:ext uri="{BB962C8B-B14F-4D97-AF65-F5344CB8AC3E}">
        <p14:creationId xmlns:p14="http://schemas.microsoft.com/office/powerpoint/2010/main" val="19792711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rotWithShape="1">
          <a:gsLst>
            <a:gs pos="0">
              <a:srgbClr val="FAFBFF"/>
            </a:gs>
            <a:gs pos="100000">
              <a:srgbClr val="E4ECFC"/>
            </a:gs>
          </a:gsLst>
          <a:lin ang="2700000" scaled="0"/>
        </a:gradFill>
        <a:effectLst/>
      </p:bgPr>
    </p:bg>
    <p:spTree>
      <p:nvGrpSpPr>
        <p:cNvPr id="1" name="">
          <a:extLst>
            <a:ext uri="{FF2B5EF4-FFF2-40B4-BE49-F238E27FC236}">
              <a16:creationId xmlns:a16="http://schemas.microsoft.com/office/drawing/2014/main" id="{4BC39202-35CE-BC12-73FD-9E84997E3D0D}"/>
            </a:ext>
          </a:extLst>
        </p:cNvPr>
        <p:cNvGrpSpPr/>
        <p:nvPr/>
      </p:nvGrpSpPr>
      <p:grpSpPr>
        <a:xfrm>
          <a:off x="0" y="0"/>
          <a:ext cx="0" cy="0"/>
          <a:chOff x="0" y="0"/>
          <a:chExt cx="0" cy="0"/>
        </a:xfrm>
      </p:grpSpPr>
      <p:sp>
        <p:nvSpPr>
          <p:cNvPr id="9001" name="Decor 9001">
            <a:extLst>
              <a:ext uri="{FF2B5EF4-FFF2-40B4-BE49-F238E27FC236}">
                <a16:creationId xmlns:a16="http://schemas.microsoft.com/office/drawing/2014/main" id="{2794DF80-7569-89EF-AE16-F456078B718C}"/>
              </a:ext>
            </a:extLst>
          </p:cNvPr>
          <p:cNvSpPr/>
          <p:nvPr/>
        </p:nvSpPr>
        <p:spPr>
          <a:xfrm>
            <a:off x="8300000" y="-2300000"/>
            <a:ext cx="5200000" cy="5200000"/>
          </a:xfrm>
          <a:prstGeom prst="ellipse">
            <a:avLst/>
          </a:prstGeom>
          <a:solidFill>
            <a:srgbClr val="4A5BC4">
              <a:alpha val="9000"/>
            </a:srgbClr>
          </a:solidFill>
          <a:ln>
            <a:noFill/>
          </a:ln>
        </p:spPr>
        <p:txBody>
          <a:bodyPr/>
          <a:lstStyle/>
          <a:p>
            <a:endParaRPr lang="en-US"/>
          </a:p>
        </p:txBody>
      </p:sp>
      <p:sp>
        <p:nvSpPr>
          <p:cNvPr id="9002" name="Decor 9002">
            <a:extLst>
              <a:ext uri="{FF2B5EF4-FFF2-40B4-BE49-F238E27FC236}">
                <a16:creationId xmlns:a16="http://schemas.microsoft.com/office/drawing/2014/main" id="{E02D6EC8-2055-4C36-CEC4-E0433D0C7827}"/>
              </a:ext>
            </a:extLst>
          </p:cNvPr>
          <p:cNvSpPr/>
          <p:nvPr/>
        </p:nvSpPr>
        <p:spPr>
          <a:xfrm>
            <a:off x="9300000" y="-1500000"/>
            <a:ext cx="3600000" cy="3600000"/>
          </a:xfrm>
          <a:prstGeom prst="ellipse">
            <a:avLst/>
          </a:prstGeom>
          <a:noFill/>
          <a:ln w="19050">
            <a:solidFill>
              <a:srgbClr val="4A5BC4">
                <a:alpha val="22000"/>
              </a:srgbClr>
            </a:solidFill>
          </a:ln>
        </p:spPr>
        <p:txBody>
          <a:bodyPr/>
          <a:lstStyle/>
          <a:p>
            <a:endParaRPr lang="en-US"/>
          </a:p>
        </p:txBody>
      </p:sp>
      <p:sp>
        <p:nvSpPr>
          <p:cNvPr id="9003" name="Decor 9003">
            <a:extLst>
              <a:ext uri="{FF2B5EF4-FFF2-40B4-BE49-F238E27FC236}">
                <a16:creationId xmlns:a16="http://schemas.microsoft.com/office/drawing/2014/main" id="{CFF2AFF7-8042-35B7-19F7-2C15BB9647B5}"/>
              </a:ext>
            </a:extLst>
          </p:cNvPr>
          <p:cNvSpPr/>
          <p:nvPr/>
        </p:nvSpPr>
        <p:spPr>
          <a:xfrm>
            <a:off x="-1500000" y="5000000"/>
            <a:ext cx="3300000" cy="3300000"/>
          </a:xfrm>
          <a:prstGeom prst="ellipse">
            <a:avLst/>
          </a:prstGeom>
          <a:solidFill>
            <a:srgbClr val="22D3A6">
              <a:alpha val="9000"/>
            </a:srgbClr>
          </a:solidFill>
          <a:ln>
            <a:noFill/>
          </a:ln>
        </p:spPr>
        <p:txBody>
          <a:bodyPr/>
          <a:lstStyle/>
          <a:p>
            <a:endParaRPr lang="en-US"/>
          </a:p>
        </p:txBody>
      </p:sp>
      <p:sp>
        <p:nvSpPr>
          <p:cNvPr id="9004" name="Decor 9004">
            <a:extLst>
              <a:ext uri="{FF2B5EF4-FFF2-40B4-BE49-F238E27FC236}">
                <a16:creationId xmlns:a16="http://schemas.microsoft.com/office/drawing/2014/main" id="{01C016A3-D4F0-B6B1-1CBD-0DD1DB34921B}"/>
              </a:ext>
            </a:extLst>
          </p:cNvPr>
          <p:cNvSpPr/>
          <p:nvPr/>
        </p:nvSpPr>
        <p:spPr>
          <a:xfrm>
            <a:off x="-900000" y="5600000"/>
            <a:ext cx="1900000" cy="1900000"/>
          </a:xfrm>
          <a:prstGeom prst="ellipse">
            <a:avLst/>
          </a:prstGeom>
          <a:noFill/>
          <a:ln w="19050">
            <a:solidFill>
              <a:srgbClr val="4A5BC4">
                <a:alpha val="14000"/>
              </a:srgbClr>
            </a:solidFill>
          </a:ln>
        </p:spPr>
        <p:txBody>
          <a:bodyPr/>
          <a:lstStyle/>
          <a:p>
            <a:endParaRPr lang="en-US"/>
          </a:p>
        </p:txBody>
      </p:sp>
      <p:sp>
        <p:nvSpPr>
          <p:cNvPr id="4" name="TextBox 3">
            <a:extLst>
              <a:ext uri="{FF2B5EF4-FFF2-40B4-BE49-F238E27FC236}">
                <a16:creationId xmlns:a16="http://schemas.microsoft.com/office/drawing/2014/main" id="{27D6DB04-E5D2-FE4B-EA48-8188C65C5925}"/>
              </a:ext>
            </a:extLst>
          </p:cNvPr>
          <p:cNvSpPr txBox="1"/>
          <p:nvPr/>
        </p:nvSpPr>
        <p:spPr>
          <a:xfrm>
            <a:off x="640080" y="452535"/>
            <a:ext cx="10881360" cy="566928"/>
          </a:xfrm>
          <a:prstGeom prst="rect">
            <a:avLst/>
          </a:prstGeom>
          <a:noFill/>
        </p:spPr>
        <p:txBody>
          <a:bodyPr wrap="square" lIns="0" tIns="0" rIns="0" bIns="0" anchor="ctr">
            <a:noAutofit/>
          </a:bodyPr>
          <a:lstStyle/>
          <a:p>
            <a:pPr algn="l"/>
            <a:r>
              <a:rPr sz="3000" b="1" i="0" dirty="0">
                <a:solidFill>
                  <a:srgbClr val="1B1F3B"/>
                </a:solidFill>
                <a:latin typeface="Cambria"/>
              </a:rPr>
              <a:t>Screenshots</a:t>
            </a:r>
          </a:p>
        </p:txBody>
      </p:sp>
      <p:sp>
        <p:nvSpPr>
          <p:cNvPr id="16" name="TextBox 15">
            <a:extLst>
              <a:ext uri="{FF2B5EF4-FFF2-40B4-BE49-F238E27FC236}">
                <a16:creationId xmlns:a16="http://schemas.microsoft.com/office/drawing/2014/main" id="{52B9F6CD-21CD-81BF-89FB-D9544DC8941E}"/>
              </a:ext>
            </a:extLst>
          </p:cNvPr>
          <p:cNvSpPr txBox="1"/>
          <p:nvPr/>
        </p:nvSpPr>
        <p:spPr>
          <a:xfrm>
            <a:off x="3924300" y="6291714"/>
            <a:ext cx="4343400" cy="256032"/>
          </a:xfrm>
          <a:prstGeom prst="rect">
            <a:avLst/>
          </a:prstGeom>
          <a:noFill/>
        </p:spPr>
        <p:txBody>
          <a:bodyPr wrap="square" lIns="0" tIns="0" rIns="0" bIns="0" anchor="ctr">
            <a:noAutofit/>
          </a:bodyPr>
          <a:lstStyle/>
          <a:p>
            <a:pPr algn="ctr"/>
            <a:r>
              <a:rPr sz="1200" b="1" i="0" dirty="0">
                <a:solidFill>
                  <a:srgbClr val="1E2761"/>
                </a:solidFill>
                <a:latin typeface="Calibri"/>
              </a:rPr>
              <a:t>Admin dashboard</a:t>
            </a:r>
          </a:p>
        </p:txBody>
      </p:sp>
      <p:sp>
        <p:nvSpPr>
          <p:cNvPr id="17" name="TextBox 16">
            <a:extLst>
              <a:ext uri="{FF2B5EF4-FFF2-40B4-BE49-F238E27FC236}">
                <a16:creationId xmlns:a16="http://schemas.microsoft.com/office/drawing/2014/main" id="{CCE77B06-0E4F-99BB-4F64-42877E56B588}"/>
              </a:ext>
            </a:extLst>
          </p:cNvPr>
          <p:cNvSpPr txBox="1"/>
          <p:nvPr/>
        </p:nvSpPr>
        <p:spPr>
          <a:xfrm>
            <a:off x="640080" y="6537960"/>
            <a:ext cx="2926080" cy="201168"/>
          </a:xfrm>
          <a:prstGeom prst="rect">
            <a:avLst/>
          </a:prstGeom>
          <a:noFill/>
        </p:spPr>
        <p:txBody>
          <a:bodyPr wrap="square" lIns="0" tIns="0" rIns="0" bIns="0" anchor="ctr">
            <a:noAutofit/>
          </a:bodyPr>
          <a:lstStyle/>
          <a:p>
            <a:pPr algn="l"/>
            <a:r>
              <a:rPr sz="1000" b="1" i="0">
                <a:solidFill>
                  <a:srgbClr val="002060"/>
                </a:solidFill>
                <a:latin typeface="Calibri"/>
              </a:rPr>
              <a:t>INTELLIGENT HIRING SYSTEM</a:t>
            </a:r>
          </a:p>
        </p:txBody>
      </p:sp>
      <p:sp>
        <p:nvSpPr>
          <p:cNvPr id="18" name="Oval 17">
            <a:extLst>
              <a:ext uri="{FF2B5EF4-FFF2-40B4-BE49-F238E27FC236}">
                <a16:creationId xmlns:a16="http://schemas.microsoft.com/office/drawing/2014/main" id="{D620BB68-2AB9-6F42-1428-F7BBAF525EDC}"/>
              </a:ext>
            </a:extLst>
          </p:cNvPr>
          <p:cNvSpPr/>
          <p:nvPr/>
        </p:nvSpPr>
        <p:spPr>
          <a:xfrm>
            <a:off x="11256264" y="6492240"/>
            <a:ext cx="292608" cy="292608"/>
          </a:xfrm>
          <a:prstGeom prst="ellipse">
            <a:avLst/>
          </a:prstGeom>
          <a:solidFill>
            <a:srgbClr val="F4F7FE"/>
          </a:solidFill>
          <a:ln>
            <a:noFill/>
          </a:ln>
        </p:spPr>
        <p:txBody>
          <a:bodyPr rtlCol="0" anchor="ctr"/>
          <a:lstStyle/>
          <a:p>
            <a:pPr algn="ctr"/>
            <a:endParaRPr/>
          </a:p>
        </p:txBody>
      </p:sp>
      <p:sp>
        <p:nvSpPr>
          <p:cNvPr id="19" name="TextBox 18">
            <a:extLst>
              <a:ext uri="{FF2B5EF4-FFF2-40B4-BE49-F238E27FC236}">
                <a16:creationId xmlns:a16="http://schemas.microsoft.com/office/drawing/2014/main" id="{EF0461B9-BFDD-ABF3-679D-0973C8DE5F35}"/>
              </a:ext>
            </a:extLst>
          </p:cNvPr>
          <p:cNvSpPr txBox="1"/>
          <p:nvPr/>
        </p:nvSpPr>
        <p:spPr>
          <a:xfrm>
            <a:off x="11256264" y="6492240"/>
            <a:ext cx="292608" cy="292608"/>
          </a:xfrm>
          <a:prstGeom prst="rect">
            <a:avLst/>
          </a:prstGeom>
          <a:noFill/>
        </p:spPr>
        <p:txBody>
          <a:bodyPr wrap="square" lIns="0" tIns="0" rIns="0" bIns="0" anchor="ctr">
            <a:noAutofit/>
          </a:bodyPr>
          <a:lstStyle/>
          <a:p>
            <a:pPr algn="ctr"/>
            <a:r>
              <a:rPr sz="950" b="1" i="0" dirty="0">
                <a:solidFill>
                  <a:srgbClr val="1E2761"/>
                </a:solidFill>
                <a:latin typeface="Calibri"/>
              </a:rPr>
              <a:t>2</a:t>
            </a:r>
            <a:r>
              <a:rPr lang="en-US" sz="950" b="1" i="0" dirty="0">
                <a:solidFill>
                  <a:srgbClr val="1E2761"/>
                </a:solidFill>
                <a:latin typeface="Calibri"/>
              </a:rPr>
              <a:t>9</a:t>
            </a:r>
            <a:endParaRPr sz="950" b="1" i="0" dirty="0">
              <a:solidFill>
                <a:srgbClr val="1E2761"/>
              </a:solidFill>
              <a:latin typeface="Calibri"/>
            </a:endParaRPr>
          </a:p>
        </p:txBody>
      </p:sp>
      <p:pic>
        <p:nvPicPr>
          <p:cNvPr id="5" name="Picture 4">
            <a:extLst>
              <a:ext uri="{FF2B5EF4-FFF2-40B4-BE49-F238E27FC236}">
                <a16:creationId xmlns:a16="http://schemas.microsoft.com/office/drawing/2014/main" id="{0645C2BA-6BB9-59B4-C2A7-0C06FAE5F4EB}"/>
              </a:ext>
            </a:extLst>
          </p:cNvPr>
          <p:cNvPicPr>
            <a:picLocks noChangeAspect="1"/>
          </p:cNvPicPr>
          <p:nvPr/>
        </p:nvPicPr>
        <p:blipFill>
          <a:blip r:embed="rId2"/>
          <a:stretch>
            <a:fillRect/>
          </a:stretch>
        </p:blipFill>
        <p:spPr>
          <a:xfrm>
            <a:off x="648101" y="1136745"/>
            <a:ext cx="10910316" cy="5175504"/>
          </a:xfrm>
          <a:prstGeom prst="rect">
            <a:avLst/>
          </a:prstGeom>
        </p:spPr>
      </p:pic>
    </p:spTree>
    <p:extLst>
      <p:ext uri="{BB962C8B-B14F-4D97-AF65-F5344CB8AC3E}">
        <p14:creationId xmlns:p14="http://schemas.microsoft.com/office/powerpoint/2010/main" val="10275615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rotWithShape="1">
          <a:gsLst>
            <a:gs pos="0">
              <a:srgbClr val="FAFBFF"/>
            </a:gs>
            <a:gs pos="100000">
              <a:srgbClr val="E4ECFC"/>
            </a:gs>
          </a:gsLst>
          <a:lin ang="2700000" scaled="0"/>
        </a:gradFill>
        <a:effectLst/>
      </p:bgPr>
    </p:bg>
    <p:spTree>
      <p:nvGrpSpPr>
        <p:cNvPr id="1" name=""/>
        <p:cNvGrpSpPr/>
        <p:nvPr/>
      </p:nvGrpSpPr>
      <p:grpSpPr>
        <a:xfrm>
          <a:off x="0" y="0"/>
          <a:ext cx="0" cy="0"/>
          <a:chOff x="0" y="0"/>
          <a:chExt cx="0" cy="0"/>
        </a:xfrm>
      </p:grpSpPr>
      <p:sp>
        <p:nvSpPr>
          <p:cNvPr id="9001" name="Decor 9001"/>
          <p:cNvSpPr/>
          <p:nvPr/>
        </p:nvSpPr>
        <p:spPr>
          <a:xfrm>
            <a:off x="8300000" y="-2300000"/>
            <a:ext cx="5200000" cy="5200000"/>
          </a:xfrm>
          <a:prstGeom prst="ellipse">
            <a:avLst/>
          </a:prstGeom>
          <a:solidFill>
            <a:srgbClr val="4A5BC4">
              <a:alpha val="9000"/>
            </a:srgbClr>
          </a:solidFill>
          <a:ln>
            <a:noFill/>
          </a:ln>
        </p:spPr>
        <p:txBody>
          <a:bodyPr/>
          <a:lstStyle/>
          <a:p>
            <a:endParaRPr lang="en-US"/>
          </a:p>
        </p:txBody>
      </p:sp>
      <p:sp>
        <p:nvSpPr>
          <p:cNvPr id="9002" name="Decor 9002"/>
          <p:cNvSpPr/>
          <p:nvPr/>
        </p:nvSpPr>
        <p:spPr>
          <a:xfrm>
            <a:off x="9300000" y="-1500000"/>
            <a:ext cx="3600000" cy="3600000"/>
          </a:xfrm>
          <a:prstGeom prst="ellipse">
            <a:avLst/>
          </a:prstGeom>
          <a:noFill/>
          <a:ln w="19050">
            <a:solidFill>
              <a:srgbClr val="4A5BC4">
                <a:alpha val="22000"/>
              </a:srgbClr>
            </a:solidFill>
          </a:ln>
        </p:spPr>
        <p:txBody>
          <a:bodyPr/>
          <a:lstStyle/>
          <a:p>
            <a:endParaRPr lang="en-US"/>
          </a:p>
        </p:txBody>
      </p:sp>
      <p:sp>
        <p:nvSpPr>
          <p:cNvPr id="9003" name="Decor 9003"/>
          <p:cNvSpPr/>
          <p:nvPr/>
        </p:nvSpPr>
        <p:spPr>
          <a:xfrm>
            <a:off x="-1500000" y="5000000"/>
            <a:ext cx="3300000" cy="3300000"/>
          </a:xfrm>
          <a:prstGeom prst="ellipse">
            <a:avLst/>
          </a:prstGeom>
          <a:solidFill>
            <a:srgbClr val="22D3A6">
              <a:alpha val="9000"/>
            </a:srgbClr>
          </a:solidFill>
          <a:ln>
            <a:noFill/>
          </a:ln>
        </p:spPr>
        <p:txBody>
          <a:bodyPr/>
          <a:lstStyle/>
          <a:p>
            <a:endParaRPr lang="en-US"/>
          </a:p>
        </p:txBody>
      </p:sp>
      <p:sp>
        <p:nvSpPr>
          <p:cNvPr id="9004" name="Decor 9004"/>
          <p:cNvSpPr/>
          <p:nvPr/>
        </p:nvSpPr>
        <p:spPr>
          <a:xfrm>
            <a:off x="-900000" y="5600000"/>
            <a:ext cx="1900000" cy="1900000"/>
          </a:xfrm>
          <a:prstGeom prst="ellipse">
            <a:avLst/>
          </a:prstGeom>
          <a:noFill/>
          <a:ln w="19050">
            <a:solidFill>
              <a:srgbClr val="4A5BC4">
                <a:alpha val="14000"/>
              </a:srgbClr>
            </a:solidFill>
          </a:ln>
        </p:spPr>
        <p:txBody>
          <a:bodyPr/>
          <a:lstStyle/>
          <a:p>
            <a:endParaRPr lang="en-US"/>
          </a:p>
        </p:txBody>
      </p:sp>
      <p:sp>
        <p:nvSpPr>
          <p:cNvPr id="4" name="TextBox 3"/>
          <p:cNvSpPr txBox="1"/>
          <p:nvPr/>
        </p:nvSpPr>
        <p:spPr>
          <a:xfrm>
            <a:off x="640080" y="585859"/>
            <a:ext cx="10881360" cy="566928"/>
          </a:xfrm>
          <a:prstGeom prst="rect">
            <a:avLst/>
          </a:prstGeom>
          <a:noFill/>
        </p:spPr>
        <p:txBody>
          <a:bodyPr wrap="square" lIns="0" tIns="0" rIns="0" bIns="0" anchor="ctr">
            <a:noAutofit/>
          </a:bodyPr>
          <a:lstStyle/>
          <a:p>
            <a:pPr algn="l"/>
            <a:r>
              <a:rPr sz="3000" b="1" i="0">
                <a:solidFill>
                  <a:srgbClr val="1B1F3B"/>
                </a:solidFill>
                <a:latin typeface="Cambria"/>
              </a:rPr>
              <a:t>Comparison with Existing System</a:t>
            </a:r>
          </a:p>
        </p:txBody>
      </p:sp>
      <p:graphicFrame>
        <p:nvGraphicFramePr>
          <p:cNvPr id="5" name="Table 4"/>
          <p:cNvGraphicFramePr>
            <a:graphicFrameLocks noGrp="1"/>
          </p:cNvGraphicFramePr>
          <p:nvPr>
            <p:extLst>
              <p:ext uri="{D42A27DB-BD31-4B8C-83A1-F6EECF244321}">
                <p14:modId xmlns:p14="http://schemas.microsoft.com/office/powerpoint/2010/main" val="157689574"/>
              </p:ext>
            </p:extLst>
          </p:nvPr>
        </p:nvGraphicFramePr>
        <p:xfrm>
          <a:off x="640080" y="1399675"/>
          <a:ext cx="10908792" cy="4187952"/>
        </p:xfrm>
        <a:graphic>
          <a:graphicData uri="http://schemas.openxmlformats.org/drawingml/2006/table">
            <a:tbl>
              <a:tblPr/>
              <a:tblGrid>
                <a:gridCol w="219456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370832">
                  <a:extLst>
                    <a:ext uri="{9D8B030D-6E8A-4147-A177-3AD203B41FA5}">
                      <a16:colId xmlns:a16="http://schemas.microsoft.com/office/drawing/2014/main" val="20002"/>
                    </a:ext>
                  </a:extLst>
                </a:gridCol>
              </a:tblGrid>
              <a:tr h="457200">
                <a:tc>
                  <a:txBody>
                    <a:bodyPr/>
                    <a:lstStyle/>
                    <a:p>
                      <a:r>
                        <a:rPr sz="1400" b="1" i="0">
                          <a:solidFill>
                            <a:srgbClr val="FFFFFF"/>
                          </a:solidFill>
                          <a:latin typeface="Calibri"/>
                        </a:rPr>
                        <a:t>Feature</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1E2761"/>
                    </a:solidFill>
                  </a:tcPr>
                </a:tc>
                <a:tc>
                  <a:txBody>
                    <a:bodyPr/>
                    <a:lstStyle/>
                    <a:p>
                      <a:r>
                        <a:rPr sz="1400" b="1" i="0" dirty="0">
                          <a:solidFill>
                            <a:srgbClr val="FFFFFF"/>
                          </a:solidFill>
                          <a:latin typeface="Calibri"/>
                        </a:rPr>
                        <a:t>Existing System</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1E2761"/>
                    </a:solidFill>
                  </a:tcPr>
                </a:tc>
                <a:tc>
                  <a:txBody>
                    <a:bodyPr/>
                    <a:lstStyle/>
                    <a:p>
                      <a:r>
                        <a:rPr sz="1400" b="1" i="0">
                          <a:solidFill>
                            <a:srgbClr val="FFFFFF"/>
                          </a:solidFill>
                          <a:latin typeface="Calibri"/>
                        </a:rPr>
                        <a:t>Proposed System</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1E2761"/>
                    </a:solidFill>
                  </a:tcPr>
                </a:tc>
                <a:extLst>
                  <a:ext uri="{0D108BD9-81ED-4DB2-BD59-A6C34878D82A}">
                    <a16:rowId xmlns:a16="http://schemas.microsoft.com/office/drawing/2014/main" val="10000"/>
                  </a:ext>
                </a:extLst>
              </a:tr>
              <a:tr h="621792">
                <a:tc>
                  <a:txBody>
                    <a:bodyPr/>
                    <a:lstStyle/>
                    <a:p>
                      <a:r>
                        <a:rPr sz="1400" b="1" i="0">
                          <a:solidFill>
                            <a:srgbClr val="1B1F3B"/>
                          </a:solidFill>
                          <a:latin typeface="Calibri"/>
                        </a:rPr>
                        <a:t>Processing</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FFFFF"/>
                    </a:solidFill>
                  </a:tcPr>
                </a:tc>
                <a:tc>
                  <a:txBody>
                    <a:bodyPr/>
                    <a:lstStyle/>
                    <a:p>
                      <a:r>
                        <a:rPr sz="1400" b="0" i="0">
                          <a:solidFill>
                            <a:srgbClr val="0B1220"/>
                          </a:solidFill>
                          <a:latin typeface="Calibri"/>
                        </a:rPr>
                        <a:t>Manual, one resume at a time</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FFFFF"/>
                    </a:solidFill>
                  </a:tcPr>
                </a:tc>
                <a:tc>
                  <a:txBody>
                    <a:bodyPr/>
                    <a:lstStyle/>
                    <a:p>
                      <a:r>
                        <a:rPr sz="1400" b="0" i="0">
                          <a:solidFill>
                            <a:srgbClr val="0B1220"/>
                          </a:solidFill>
                          <a:latin typeface="Calibri"/>
                        </a:rPr>
                        <a:t>Automated resume analysis and scoring</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FFFFF"/>
                    </a:solidFill>
                  </a:tcPr>
                </a:tc>
                <a:extLst>
                  <a:ext uri="{0D108BD9-81ED-4DB2-BD59-A6C34878D82A}">
                    <a16:rowId xmlns:a16="http://schemas.microsoft.com/office/drawing/2014/main" val="10001"/>
                  </a:ext>
                </a:extLst>
              </a:tr>
              <a:tr h="621792">
                <a:tc>
                  <a:txBody>
                    <a:bodyPr/>
                    <a:lstStyle/>
                    <a:p>
                      <a:r>
                        <a:rPr sz="1400" b="1" i="0">
                          <a:solidFill>
                            <a:srgbClr val="1B1F3B"/>
                          </a:solidFill>
                          <a:latin typeface="Calibri"/>
                        </a:rPr>
                        <a:t>Accuracy</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4F7FE"/>
                    </a:solidFill>
                  </a:tcPr>
                </a:tc>
                <a:tc>
                  <a:txBody>
                    <a:bodyPr/>
                    <a:lstStyle/>
                    <a:p>
                      <a:r>
                        <a:rPr sz="1400" b="0" i="0">
                          <a:solidFill>
                            <a:srgbClr val="0B1220"/>
                          </a:solidFill>
                          <a:latin typeface="Calibri"/>
                        </a:rPr>
                        <a:t>Subjective and reviewer-dependent</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4F7FE"/>
                    </a:solidFill>
                  </a:tcPr>
                </a:tc>
                <a:tc>
                  <a:txBody>
                    <a:bodyPr/>
                    <a:lstStyle/>
                    <a:p>
                      <a:r>
                        <a:rPr sz="1400" b="0" i="0">
                          <a:solidFill>
                            <a:srgbClr val="0B1220"/>
                          </a:solidFill>
                          <a:latin typeface="Calibri"/>
                        </a:rPr>
                        <a:t>Consistent, criteria-based scoring for every candidate</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4F7FE"/>
                    </a:solidFill>
                  </a:tcPr>
                </a:tc>
                <a:extLst>
                  <a:ext uri="{0D108BD9-81ED-4DB2-BD59-A6C34878D82A}">
                    <a16:rowId xmlns:a16="http://schemas.microsoft.com/office/drawing/2014/main" val="10002"/>
                  </a:ext>
                </a:extLst>
              </a:tr>
              <a:tr h="621792">
                <a:tc>
                  <a:txBody>
                    <a:bodyPr/>
                    <a:lstStyle/>
                    <a:p>
                      <a:r>
                        <a:rPr sz="1400" b="1" i="0">
                          <a:solidFill>
                            <a:srgbClr val="1B1F3B"/>
                          </a:solidFill>
                          <a:latin typeface="Calibri"/>
                        </a:rPr>
                        <a:t>Time</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FFFFF"/>
                    </a:solidFill>
                  </a:tcPr>
                </a:tc>
                <a:tc>
                  <a:txBody>
                    <a:bodyPr/>
                    <a:lstStyle/>
                    <a:p>
                      <a:r>
                        <a:rPr sz="1400" b="0" i="0">
                          <a:solidFill>
                            <a:srgbClr val="0B1220"/>
                          </a:solidFill>
                          <a:latin typeface="Calibri"/>
                        </a:rPr>
                        <a:t>Slow; decisions take longer to finalize</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FFFFF"/>
                    </a:solidFill>
                  </a:tcPr>
                </a:tc>
                <a:tc>
                  <a:txBody>
                    <a:bodyPr/>
                    <a:lstStyle/>
                    <a:p>
                      <a:r>
                        <a:rPr sz="1400" b="0" i="0">
                          <a:solidFill>
                            <a:srgbClr val="0B1220"/>
                          </a:solidFill>
                          <a:latin typeface="Calibri"/>
                        </a:rPr>
                        <a:t>Faster shortlisting through automated evaluation and ranking</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FFFFF"/>
                    </a:solidFill>
                  </a:tcPr>
                </a:tc>
                <a:extLst>
                  <a:ext uri="{0D108BD9-81ED-4DB2-BD59-A6C34878D82A}">
                    <a16:rowId xmlns:a16="http://schemas.microsoft.com/office/drawing/2014/main" val="10003"/>
                  </a:ext>
                </a:extLst>
              </a:tr>
              <a:tr h="621792">
                <a:tc>
                  <a:txBody>
                    <a:bodyPr/>
                    <a:lstStyle/>
                    <a:p>
                      <a:r>
                        <a:rPr sz="1400" b="1" i="0">
                          <a:solidFill>
                            <a:srgbClr val="1B1F3B"/>
                          </a:solidFill>
                          <a:latin typeface="Calibri"/>
                        </a:rPr>
                        <a:t>Security</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4F7FE"/>
                    </a:solidFill>
                  </a:tcPr>
                </a:tc>
                <a:tc>
                  <a:txBody>
                    <a:bodyPr/>
                    <a:lstStyle/>
                    <a:p>
                      <a:r>
                        <a:rPr sz="1400" b="0" i="0">
                          <a:solidFill>
                            <a:srgbClr val="0B1220"/>
                          </a:solidFill>
                          <a:latin typeface="Calibri"/>
                        </a:rPr>
                        <a:t>Manual record keeping with no role-based access</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4F7FE"/>
                    </a:solidFill>
                  </a:tcPr>
                </a:tc>
                <a:tc>
                  <a:txBody>
                    <a:bodyPr/>
                    <a:lstStyle/>
                    <a:p>
                      <a:r>
                        <a:rPr sz="1400" b="0" i="0">
                          <a:solidFill>
                            <a:srgbClr val="0B1220"/>
                          </a:solidFill>
                          <a:latin typeface="Calibri"/>
                        </a:rPr>
                        <a:t>Secure, role-based login for candidates, HR and admin</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4F7FE"/>
                    </a:solidFill>
                  </a:tcPr>
                </a:tc>
                <a:extLst>
                  <a:ext uri="{0D108BD9-81ED-4DB2-BD59-A6C34878D82A}">
                    <a16:rowId xmlns:a16="http://schemas.microsoft.com/office/drawing/2014/main" val="10004"/>
                  </a:ext>
                </a:extLst>
              </a:tr>
              <a:tr h="621792">
                <a:tc>
                  <a:txBody>
                    <a:bodyPr/>
                    <a:lstStyle/>
                    <a:p>
                      <a:r>
                        <a:rPr sz="1400" b="1" i="0">
                          <a:solidFill>
                            <a:srgbClr val="1B1F3B"/>
                          </a:solidFill>
                          <a:latin typeface="Calibri"/>
                        </a:rPr>
                        <a:t>Accessibility</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FFFFF"/>
                    </a:solidFill>
                  </a:tcPr>
                </a:tc>
                <a:tc>
                  <a:txBody>
                    <a:bodyPr/>
                    <a:lstStyle/>
                    <a:p>
                      <a:r>
                        <a:rPr sz="1400" b="0" i="0">
                          <a:solidFill>
                            <a:srgbClr val="0B1220"/>
                          </a:solidFill>
                          <a:latin typeface="Calibri"/>
                        </a:rPr>
                        <a:t>Assessments and interviews scheduled separately</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FFFFF"/>
                    </a:solidFill>
                  </a:tcPr>
                </a:tc>
                <a:tc>
                  <a:txBody>
                    <a:bodyPr/>
                    <a:lstStyle/>
                    <a:p>
                      <a:r>
                        <a:rPr sz="1400" b="0" i="0">
                          <a:solidFill>
                            <a:srgbClr val="0B1220"/>
                          </a:solidFill>
                          <a:latin typeface="Calibri"/>
                        </a:rPr>
                        <a:t>Online applications and tests available from any web browser</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FFFFF"/>
                    </a:solidFill>
                  </a:tcPr>
                </a:tc>
                <a:extLst>
                  <a:ext uri="{0D108BD9-81ED-4DB2-BD59-A6C34878D82A}">
                    <a16:rowId xmlns:a16="http://schemas.microsoft.com/office/drawing/2014/main" val="10005"/>
                  </a:ext>
                </a:extLst>
              </a:tr>
              <a:tr h="621792">
                <a:tc>
                  <a:txBody>
                    <a:bodyPr/>
                    <a:lstStyle/>
                    <a:p>
                      <a:r>
                        <a:rPr sz="1400" b="1" i="0">
                          <a:solidFill>
                            <a:srgbClr val="1B1F3B"/>
                          </a:solidFill>
                          <a:latin typeface="Calibri"/>
                        </a:rPr>
                        <a:t>Reporting</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4F7FE"/>
                    </a:solidFill>
                  </a:tcPr>
                </a:tc>
                <a:tc>
                  <a:txBody>
                    <a:bodyPr/>
                    <a:lstStyle/>
                    <a:p>
                      <a:r>
                        <a:rPr sz="1400" b="0" i="0">
                          <a:solidFill>
                            <a:srgbClr val="0B1220"/>
                          </a:solidFill>
                          <a:latin typeface="Calibri"/>
                        </a:rPr>
                        <a:t>Little to no process data</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4F7FE"/>
                    </a:solidFill>
                  </a:tcPr>
                </a:tc>
                <a:tc>
                  <a:txBody>
                    <a:bodyPr/>
                    <a:lstStyle/>
                    <a:p>
                      <a:r>
                        <a:rPr sz="1400" b="0" i="0" dirty="0">
                          <a:solidFill>
                            <a:srgbClr val="0B1220"/>
                          </a:solidFill>
                          <a:latin typeface="Calibri"/>
                        </a:rPr>
                        <a:t>HR dashboard with scores and a ranked shortlist</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4F7FE"/>
                    </a:solidFill>
                  </a:tcPr>
                </a:tc>
                <a:extLst>
                  <a:ext uri="{0D108BD9-81ED-4DB2-BD59-A6C34878D82A}">
                    <a16:rowId xmlns:a16="http://schemas.microsoft.com/office/drawing/2014/main" val="10006"/>
                  </a:ext>
                </a:extLst>
              </a:tr>
            </a:tbl>
          </a:graphicData>
        </a:graphic>
      </p:graphicFrame>
      <p:sp>
        <p:nvSpPr>
          <p:cNvPr id="6" name="TextBox 5"/>
          <p:cNvSpPr txBox="1"/>
          <p:nvPr/>
        </p:nvSpPr>
        <p:spPr>
          <a:xfrm>
            <a:off x="640080" y="6537960"/>
            <a:ext cx="2926080" cy="201168"/>
          </a:xfrm>
          <a:prstGeom prst="rect">
            <a:avLst/>
          </a:prstGeom>
          <a:noFill/>
        </p:spPr>
        <p:txBody>
          <a:bodyPr wrap="square" lIns="0" tIns="0" rIns="0" bIns="0" anchor="ctr">
            <a:noAutofit/>
          </a:bodyPr>
          <a:lstStyle/>
          <a:p>
            <a:pPr algn="l"/>
            <a:r>
              <a:rPr sz="1000" b="1" i="0">
                <a:solidFill>
                  <a:srgbClr val="002060"/>
                </a:solidFill>
                <a:latin typeface="Calibri"/>
              </a:rPr>
              <a:t>INTELLIGENT HIRING SYSTEM</a:t>
            </a:r>
          </a:p>
        </p:txBody>
      </p:sp>
      <p:sp>
        <p:nvSpPr>
          <p:cNvPr id="7" name="Oval 6"/>
          <p:cNvSpPr/>
          <p:nvPr/>
        </p:nvSpPr>
        <p:spPr>
          <a:xfrm>
            <a:off x="11256264" y="6492240"/>
            <a:ext cx="292608" cy="292608"/>
          </a:xfrm>
          <a:prstGeom prst="ellipse">
            <a:avLst/>
          </a:prstGeom>
          <a:solidFill>
            <a:srgbClr val="F4F7FE"/>
          </a:solidFill>
          <a:ln>
            <a:noFill/>
          </a:ln>
        </p:spPr>
        <p:txBody>
          <a:bodyPr rtlCol="0" anchor="ctr"/>
          <a:lstStyle/>
          <a:p>
            <a:pPr algn="ctr"/>
            <a:endParaRPr/>
          </a:p>
        </p:txBody>
      </p:sp>
      <p:sp>
        <p:nvSpPr>
          <p:cNvPr id="8" name="TextBox 7"/>
          <p:cNvSpPr txBox="1"/>
          <p:nvPr/>
        </p:nvSpPr>
        <p:spPr>
          <a:xfrm>
            <a:off x="11256264" y="6492240"/>
            <a:ext cx="292608" cy="292608"/>
          </a:xfrm>
          <a:prstGeom prst="rect">
            <a:avLst/>
          </a:prstGeom>
          <a:noFill/>
        </p:spPr>
        <p:txBody>
          <a:bodyPr wrap="square" lIns="0" tIns="0" rIns="0" bIns="0" anchor="ctr">
            <a:noAutofit/>
          </a:bodyPr>
          <a:lstStyle/>
          <a:p>
            <a:pPr algn="ctr"/>
            <a:r>
              <a:rPr lang="en-US" sz="950" b="1" dirty="0">
                <a:solidFill>
                  <a:srgbClr val="1E2761"/>
                </a:solidFill>
                <a:latin typeface="Calibri"/>
              </a:rPr>
              <a:t>30</a:t>
            </a:r>
            <a:endParaRPr sz="950" b="1" i="0" dirty="0">
              <a:solidFill>
                <a:srgbClr val="1E2761"/>
              </a:solidFill>
              <a:latin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rotWithShape="1">
          <a:gsLst>
            <a:gs pos="0">
              <a:srgbClr val="FAFBFF"/>
            </a:gs>
            <a:gs pos="100000">
              <a:srgbClr val="E4ECFC"/>
            </a:gs>
          </a:gsLst>
          <a:lin ang="2700000" scaled="0"/>
        </a:gradFill>
        <a:effectLst/>
      </p:bgPr>
    </p:bg>
    <p:spTree>
      <p:nvGrpSpPr>
        <p:cNvPr id="1" name=""/>
        <p:cNvGrpSpPr/>
        <p:nvPr/>
      </p:nvGrpSpPr>
      <p:grpSpPr>
        <a:xfrm>
          <a:off x="0" y="0"/>
          <a:ext cx="0" cy="0"/>
          <a:chOff x="0" y="0"/>
          <a:chExt cx="0" cy="0"/>
        </a:xfrm>
      </p:grpSpPr>
      <p:sp>
        <p:nvSpPr>
          <p:cNvPr id="9001" name="Decor 9001"/>
          <p:cNvSpPr/>
          <p:nvPr/>
        </p:nvSpPr>
        <p:spPr>
          <a:xfrm>
            <a:off x="8300000" y="-2300000"/>
            <a:ext cx="5200000" cy="5200000"/>
          </a:xfrm>
          <a:prstGeom prst="ellipse">
            <a:avLst/>
          </a:prstGeom>
          <a:solidFill>
            <a:srgbClr val="4A5BC4">
              <a:alpha val="9000"/>
            </a:srgbClr>
          </a:solidFill>
          <a:ln>
            <a:noFill/>
          </a:ln>
        </p:spPr>
        <p:txBody>
          <a:bodyPr/>
          <a:lstStyle/>
          <a:p>
            <a:endParaRPr lang="en-US"/>
          </a:p>
        </p:txBody>
      </p:sp>
      <p:sp>
        <p:nvSpPr>
          <p:cNvPr id="9002" name="Decor 9002"/>
          <p:cNvSpPr/>
          <p:nvPr/>
        </p:nvSpPr>
        <p:spPr>
          <a:xfrm>
            <a:off x="9300000" y="-1500000"/>
            <a:ext cx="3600000" cy="3600000"/>
          </a:xfrm>
          <a:prstGeom prst="ellipse">
            <a:avLst/>
          </a:prstGeom>
          <a:noFill/>
          <a:ln w="19050">
            <a:solidFill>
              <a:srgbClr val="4A5BC4">
                <a:alpha val="22000"/>
              </a:srgbClr>
            </a:solidFill>
          </a:ln>
        </p:spPr>
        <p:txBody>
          <a:bodyPr/>
          <a:lstStyle/>
          <a:p>
            <a:endParaRPr lang="en-US"/>
          </a:p>
        </p:txBody>
      </p:sp>
      <p:sp>
        <p:nvSpPr>
          <p:cNvPr id="9003" name="Decor 9003"/>
          <p:cNvSpPr/>
          <p:nvPr/>
        </p:nvSpPr>
        <p:spPr>
          <a:xfrm>
            <a:off x="-1500000" y="5000000"/>
            <a:ext cx="3300000" cy="3300000"/>
          </a:xfrm>
          <a:prstGeom prst="ellipse">
            <a:avLst/>
          </a:prstGeom>
          <a:solidFill>
            <a:srgbClr val="22D3A6">
              <a:alpha val="9000"/>
            </a:srgbClr>
          </a:solidFill>
          <a:ln>
            <a:noFill/>
          </a:ln>
        </p:spPr>
        <p:txBody>
          <a:bodyPr/>
          <a:lstStyle/>
          <a:p>
            <a:endParaRPr lang="en-US"/>
          </a:p>
        </p:txBody>
      </p:sp>
      <p:sp>
        <p:nvSpPr>
          <p:cNvPr id="9004" name="Decor 9004"/>
          <p:cNvSpPr/>
          <p:nvPr/>
        </p:nvSpPr>
        <p:spPr>
          <a:xfrm>
            <a:off x="-900000" y="5600000"/>
            <a:ext cx="1900000" cy="1900000"/>
          </a:xfrm>
          <a:prstGeom prst="ellipse">
            <a:avLst/>
          </a:prstGeom>
          <a:noFill/>
          <a:ln w="19050">
            <a:solidFill>
              <a:srgbClr val="4A5BC4">
                <a:alpha val="14000"/>
              </a:srgbClr>
            </a:solidFill>
          </a:ln>
        </p:spPr>
        <p:txBody>
          <a:bodyPr/>
          <a:lstStyle/>
          <a:p>
            <a:endParaRPr lang="en-US"/>
          </a:p>
        </p:txBody>
      </p:sp>
      <p:sp>
        <p:nvSpPr>
          <p:cNvPr id="4" name="TextBox 3"/>
          <p:cNvSpPr txBox="1"/>
          <p:nvPr/>
        </p:nvSpPr>
        <p:spPr>
          <a:xfrm>
            <a:off x="640080" y="617943"/>
            <a:ext cx="10881360" cy="566928"/>
          </a:xfrm>
          <a:prstGeom prst="rect">
            <a:avLst/>
          </a:prstGeom>
          <a:noFill/>
        </p:spPr>
        <p:txBody>
          <a:bodyPr wrap="square" lIns="0" tIns="0" rIns="0" bIns="0" anchor="ctr">
            <a:noAutofit/>
          </a:bodyPr>
          <a:lstStyle/>
          <a:p>
            <a:pPr algn="l"/>
            <a:r>
              <a:rPr sz="3000" b="1" i="0">
                <a:solidFill>
                  <a:srgbClr val="1B1F3B"/>
                </a:solidFill>
                <a:latin typeface="Cambria"/>
              </a:rPr>
              <a:t>Testing</a:t>
            </a:r>
          </a:p>
        </p:txBody>
      </p:sp>
      <p:sp>
        <p:nvSpPr>
          <p:cNvPr id="5" name="TextBox 4"/>
          <p:cNvSpPr txBox="1"/>
          <p:nvPr/>
        </p:nvSpPr>
        <p:spPr>
          <a:xfrm>
            <a:off x="640080" y="1166583"/>
            <a:ext cx="10881360" cy="320040"/>
          </a:xfrm>
          <a:prstGeom prst="rect">
            <a:avLst/>
          </a:prstGeom>
          <a:noFill/>
        </p:spPr>
        <p:txBody>
          <a:bodyPr wrap="square" lIns="0" tIns="0" rIns="0" bIns="0" anchor="ctr">
            <a:noAutofit/>
          </a:bodyPr>
          <a:lstStyle/>
          <a:p>
            <a:pPr algn="l"/>
            <a:r>
              <a:rPr sz="1300" b="0" i="0">
                <a:solidFill>
                  <a:srgbClr val="0B1220"/>
                </a:solidFill>
                <a:latin typeface="Calibri"/>
              </a:rPr>
              <a:t>Modules were tested individually, then together, then as a complete system.</a:t>
            </a:r>
          </a:p>
        </p:txBody>
      </p:sp>
      <p:sp>
        <p:nvSpPr>
          <p:cNvPr id="6" name="Rounded Rectangle 5"/>
          <p:cNvSpPr/>
          <p:nvPr/>
        </p:nvSpPr>
        <p:spPr>
          <a:xfrm>
            <a:off x="640080" y="1614639"/>
            <a:ext cx="2590038" cy="1097280"/>
          </a:xfrm>
          <a:prstGeom prst="roundRect">
            <a:avLst>
              <a:gd name="adj" fmla="val 6666"/>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7" name="Oval 6"/>
          <p:cNvSpPr/>
          <p:nvPr/>
        </p:nvSpPr>
        <p:spPr>
          <a:xfrm>
            <a:off x="804671" y="1779231"/>
            <a:ext cx="420624" cy="420624"/>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8" name="Picture 7" descr="image.png"/>
          <p:cNvPicPr>
            <a:picLocks noChangeAspect="1"/>
          </p:cNvPicPr>
          <p:nvPr/>
        </p:nvPicPr>
        <p:blipFill>
          <a:blip r:embed="rId2"/>
          <a:stretch>
            <a:fillRect/>
          </a:stretch>
        </p:blipFill>
        <p:spPr>
          <a:xfrm>
            <a:off x="893003" y="1867562"/>
            <a:ext cx="243961" cy="243961"/>
          </a:xfrm>
          <a:prstGeom prst="rect">
            <a:avLst/>
          </a:prstGeom>
        </p:spPr>
      </p:pic>
      <p:sp>
        <p:nvSpPr>
          <p:cNvPr id="9" name="TextBox 8"/>
          <p:cNvSpPr txBox="1"/>
          <p:nvPr/>
        </p:nvSpPr>
        <p:spPr>
          <a:xfrm>
            <a:off x="1353312" y="1779231"/>
            <a:ext cx="1767078" cy="420624"/>
          </a:xfrm>
          <a:prstGeom prst="rect">
            <a:avLst/>
          </a:prstGeom>
          <a:noFill/>
        </p:spPr>
        <p:txBody>
          <a:bodyPr wrap="square" lIns="0" tIns="0" rIns="0" bIns="0" anchor="ctr">
            <a:noAutofit/>
          </a:bodyPr>
          <a:lstStyle/>
          <a:p>
            <a:pPr algn="l"/>
            <a:r>
              <a:rPr sz="1400" b="1" i="0">
                <a:solidFill>
                  <a:srgbClr val="1B1F3B"/>
                </a:solidFill>
                <a:latin typeface="Calibri"/>
              </a:rPr>
              <a:t>Unit Testing</a:t>
            </a:r>
          </a:p>
        </p:txBody>
      </p:sp>
      <p:sp>
        <p:nvSpPr>
          <p:cNvPr id="10" name="TextBox 9"/>
          <p:cNvSpPr txBox="1"/>
          <p:nvPr/>
        </p:nvSpPr>
        <p:spPr>
          <a:xfrm>
            <a:off x="822959" y="2254719"/>
            <a:ext cx="2224278" cy="438912"/>
          </a:xfrm>
          <a:prstGeom prst="rect">
            <a:avLst/>
          </a:prstGeom>
          <a:noFill/>
        </p:spPr>
        <p:txBody>
          <a:bodyPr wrap="square" lIns="0" tIns="0" rIns="0" bIns="0" anchor="t">
            <a:noAutofit/>
          </a:bodyPr>
          <a:lstStyle/>
          <a:p>
            <a:pPr algn="l"/>
            <a:r>
              <a:rPr sz="1200" b="0" i="0">
                <a:solidFill>
                  <a:srgbClr val="0B1220"/>
                </a:solidFill>
                <a:latin typeface="Calibri"/>
              </a:rPr>
              <a:t>Individual functions, forms and views</a:t>
            </a:r>
          </a:p>
        </p:txBody>
      </p:sp>
      <p:sp>
        <p:nvSpPr>
          <p:cNvPr id="11" name="Rounded Rectangle 10"/>
          <p:cNvSpPr/>
          <p:nvPr/>
        </p:nvSpPr>
        <p:spPr>
          <a:xfrm>
            <a:off x="3412998" y="1614639"/>
            <a:ext cx="2590038" cy="1097280"/>
          </a:xfrm>
          <a:prstGeom prst="roundRect">
            <a:avLst>
              <a:gd name="adj" fmla="val 6666"/>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12" name="Oval 11"/>
          <p:cNvSpPr/>
          <p:nvPr/>
        </p:nvSpPr>
        <p:spPr>
          <a:xfrm>
            <a:off x="3577590" y="1779231"/>
            <a:ext cx="420624" cy="420624"/>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13" name="Picture 12" descr="image.png"/>
          <p:cNvPicPr>
            <a:picLocks noChangeAspect="1"/>
          </p:cNvPicPr>
          <p:nvPr/>
        </p:nvPicPr>
        <p:blipFill>
          <a:blip r:embed="rId3"/>
          <a:stretch>
            <a:fillRect/>
          </a:stretch>
        </p:blipFill>
        <p:spPr>
          <a:xfrm>
            <a:off x="3665921" y="1867562"/>
            <a:ext cx="243961" cy="243961"/>
          </a:xfrm>
          <a:prstGeom prst="rect">
            <a:avLst/>
          </a:prstGeom>
        </p:spPr>
      </p:pic>
      <p:sp>
        <p:nvSpPr>
          <p:cNvPr id="14" name="TextBox 13"/>
          <p:cNvSpPr txBox="1"/>
          <p:nvPr/>
        </p:nvSpPr>
        <p:spPr>
          <a:xfrm>
            <a:off x="4126230" y="1779231"/>
            <a:ext cx="1767078" cy="420624"/>
          </a:xfrm>
          <a:prstGeom prst="rect">
            <a:avLst/>
          </a:prstGeom>
          <a:noFill/>
        </p:spPr>
        <p:txBody>
          <a:bodyPr wrap="square" lIns="0" tIns="0" rIns="0" bIns="0" anchor="ctr">
            <a:noAutofit/>
          </a:bodyPr>
          <a:lstStyle/>
          <a:p>
            <a:pPr algn="l"/>
            <a:r>
              <a:rPr sz="1400" b="1" i="0">
                <a:solidFill>
                  <a:srgbClr val="1B1F3B"/>
                </a:solidFill>
                <a:latin typeface="Calibri"/>
              </a:rPr>
              <a:t>Integration Testing</a:t>
            </a:r>
          </a:p>
        </p:txBody>
      </p:sp>
      <p:sp>
        <p:nvSpPr>
          <p:cNvPr id="15" name="TextBox 14"/>
          <p:cNvSpPr txBox="1"/>
          <p:nvPr/>
        </p:nvSpPr>
        <p:spPr>
          <a:xfrm>
            <a:off x="3595878" y="2254719"/>
            <a:ext cx="2224278" cy="438912"/>
          </a:xfrm>
          <a:prstGeom prst="rect">
            <a:avLst/>
          </a:prstGeom>
          <a:noFill/>
        </p:spPr>
        <p:txBody>
          <a:bodyPr wrap="square" lIns="0" tIns="0" rIns="0" bIns="0" anchor="t">
            <a:noAutofit/>
          </a:bodyPr>
          <a:lstStyle/>
          <a:p>
            <a:pPr algn="l"/>
            <a:r>
              <a:rPr sz="1200" b="0" i="0">
                <a:solidFill>
                  <a:srgbClr val="0B1220"/>
                </a:solidFill>
                <a:latin typeface="Calibri"/>
              </a:rPr>
              <a:t>Interaction between modules such as tests and scoring</a:t>
            </a:r>
          </a:p>
        </p:txBody>
      </p:sp>
      <p:sp>
        <p:nvSpPr>
          <p:cNvPr id="16" name="Rounded Rectangle 15"/>
          <p:cNvSpPr/>
          <p:nvPr/>
        </p:nvSpPr>
        <p:spPr>
          <a:xfrm>
            <a:off x="6185916" y="1614639"/>
            <a:ext cx="2590038" cy="1097280"/>
          </a:xfrm>
          <a:prstGeom prst="roundRect">
            <a:avLst>
              <a:gd name="adj" fmla="val 6666"/>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17" name="Oval 16"/>
          <p:cNvSpPr/>
          <p:nvPr/>
        </p:nvSpPr>
        <p:spPr>
          <a:xfrm>
            <a:off x="6350508" y="1779231"/>
            <a:ext cx="420624" cy="420624"/>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18" name="Picture 17" descr="image.png"/>
          <p:cNvPicPr>
            <a:picLocks noChangeAspect="1"/>
          </p:cNvPicPr>
          <p:nvPr/>
        </p:nvPicPr>
        <p:blipFill>
          <a:blip r:embed="rId4"/>
          <a:stretch>
            <a:fillRect/>
          </a:stretch>
        </p:blipFill>
        <p:spPr>
          <a:xfrm>
            <a:off x="6438839" y="1867562"/>
            <a:ext cx="243961" cy="243961"/>
          </a:xfrm>
          <a:prstGeom prst="rect">
            <a:avLst/>
          </a:prstGeom>
        </p:spPr>
      </p:pic>
      <p:sp>
        <p:nvSpPr>
          <p:cNvPr id="19" name="TextBox 18"/>
          <p:cNvSpPr txBox="1"/>
          <p:nvPr/>
        </p:nvSpPr>
        <p:spPr>
          <a:xfrm>
            <a:off x="6899148" y="1779231"/>
            <a:ext cx="1767078" cy="420624"/>
          </a:xfrm>
          <a:prstGeom prst="rect">
            <a:avLst/>
          </a:prstGeom>
          <a:noFill/>
        </p:spPr>
        <p:txBody>
          <a:bodyPr wrap="square" lIns="0" tIns="0" rIns="0" bIns="0" anchor="ctr">
            <a:noAutofit/>
          </a:bodyPr>
          <a:lstStyle/>
          <a:p>
            <a:pPr algn="l"/>
            <a:r>
              <a:rPr sz="1400" b="1" i="0">
                <a:solidFill>
                  <a:srgbClr val="1B1F3B"/>
                </a:solidFill>
                <a:latin typeface="Calibri"/>
              </a:rPr>
              <a:t>System Testing</a:t>
            </a:r>
          </a:p>
        </p:txBody>
      </p:sp>
      <p:sp>
        <p:nvSpPr>
          <p:cNvPr id="20" name="TextBox 19"/>
          <p:cNvSpPr txBox="1"/>
          <p:nvPr/>
        </p:nvSpPr>
        <p:spPr>
          <a:xfrm>
            <a:off x="6368796" y="2254719"/>
            <a:ext cx="2224278" cy="438912"/>
          </a:xfrm>
          <a:prstGeom prst="rect">
            <a:avLst/>
          </a:prstGeom>
          <a:noFill/>
        </p:spPr>
        <p:txBody>
          <a:bodyPr wrap="square" lIns="0" tIns="0" rIns="0" bIns="0" anchor="t">
            <a:noAutofit/>
          </a:bodyPr>
          <a:lstStyle/>
          <a:p>
            <a:pPr algn="l"/>
            <a:r>
              <a:rPr sz="1200" b="0" i="0">
                <a:solidFill>
                  <a:srgbClr val="0B1220"/>
                </a:solidFill>
                <a:latin typeface="Calibri"/>
              </a:rPr>
              <a:t>End-to-end candidate and admin workflows</a:t>
            </a:r>
          </a:p>
        </p:txBody>
      </p:sp>
      <p:sp>
        <p:nvSpPr>
          <p:cNvPr id="21" name="Rounded Rectangle 20"/>
          <p:cNvSpPr/>
          <p:nvPr/>
        </p:nvSpPr>
        <p:spPr>
          <a:xfrm>
            <a:off x="8958834" y="1614639"/>
            <a:ext cx="2590038" cy="1097280"/>
          </a:xfrm>
          <a:prstGeom prst="roundRect">
            <a:avLst>
              <a:gd name="adj" fmla="val 6666"/>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22" name="Oval 21"/>
          <p:cNvSpPr/>
          <p:nvPr/>
        </p:nvSpPr>
        <p:spPr>
          <a:xfrm>
            <a:off x="9123426" y="1779231"/>
            <a:ext cx="420624" cy="420624"/>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23" name="Picture 22" descr="image.png"/>
          <p:cNvPicPr>
            <a:picLocks noChangeAspect="1"/>
          </p:cNvPicPr>
          <p:nvPr/>
        </p:nvPicPr>
        <p:blipFill>
          <a:blip r:embed="rId5"/>
          <a:stretch>
            <a:fillRect/>
          </a:stretch>
        </p:blipFill>
        <p:spPr>
          <a:xfrm>
            <a:off x="9211757" y="1867562"/>
            <a:ext cx="243961" cy="243961"/>
          </a:xfrm>
          <a:prstGeom prst="rect">
            <a:avLst/>
          </a:prstGeom>
        </p:spPr>
      </p:pic>
      <p:sp>
        <p:nvSpPr>
          <p:cNvPr id="24" name="TextBox 23"/>
          <p:cNvSpPr txBox="1"/>
          <p:nvPr/>
        </p:nvSpPr>
        <p:spPr>
          <a:xfrm>
            <a:off x="9672065" y="1779231"/>
            <a:ext cx="1767078" cy="420624"/>
          </a:xfrm>
          <a:prstGeom prst="rect">
            <a:avLst/>
          </a:prstGeom>
          <a:noFill/>
        </p:spPr>
        <p:txBody>
          <a:bodyPr wrap="square" lIns="0" tIns="0" rIns="0" bIns="0" anchor="ctr">
            <a:noAutofit/>
          </a:bodyPr>
          <a:lstStyle/>
          <a:p>
            <a:pPr algn="l"/>
            <a:r>
              <a:rPr sz="1400" b="1" i="0">
                <a:solidFill>
                  <a:srgbClr val="1B1F3B"/>
                </a:solidFill>
                <a:latin typeface="Calibri"/>
              </a:rPr>
              <a:t>Acceptance Testing</a:t>
            </a:r>
          </a:p>
        </p:txBody>
      </p:sp>
      <p:sp>
        <p:nvSpPr>
          <p:cNvPr id="25" name="TextBox 24"/>
          <p:cNvSpPr txBox="1"/>
          <p:nvPr/>
        </p:nvSpPr>
        <p:spPr>
          <a:xfrm>
            <a:off x="9141713" y="2254719"/>
            <a:ext cx="2224278" cy="438912"/>
          </a:xfrm>
          <a:prstGeom prst="rect">
            <a:avLst/>
          </a:prstGeom>
          <a:noFill/>
        </p:spPr>
        <p:txBody>
          <a:bodyPr wrap="square" lIns="0" tIns="0" rIns="0" bIns="0" anchor="t">
            <a:noAutofit/>
          </a:bodyPr>
          <a:lstStyle/>
          <a:p>
            <a:pPr algn="l"/>
            <a:r>
              <a:rPr sz="1200" b="0" i="0">
                <a:solidFill>
                  <a:srgbClr val="0B1220"/>
                </a:solidFill>
                <a:latin typeface="Calibri"/>
              </a:rPr>
              <a:t>User acceptance feedback on usability</a:t>
            </a:r>
          </a:p>
        </p:txBody>
      </p:sp>
      <p:graphicFrame>
        <p:nvGraphicFramePr>
          <p:cNvPr id="26" name="Table 25"/>
          <p:cNvGraphicFramePr>
            <a:graphicFrameLocks noGrp="1"/>
          </p:cNvGraphicFramePr>
          <p:nvPr>
            <p:extLst>
              <p:ext uri="{D42A27DB-BD31-4B8C-83A1-F6EECF244321}">
                <p14:modId xmlns:p14="http://schemas.microsoft.com/office/powerpoint/2010/main" val="294294509"/>
              </p:ext>
            </p:extLst>
          </p:nvPr>
        </p:nvGraphicFramePr>
        <p:xfrm>
          <a:off x="640080" y="2940519"/>
          <a:ext cx="10908792" cy="2962656"/>
        </p:xfrm>
        <a:graphic>
          <a:graphicData uri="http://schemas.openxmlformats.org/drawingml/2006/table">
            <a:tbl>
              <a:tblPr/>
              <a:tblGrid>
                <a:gridCol w="301752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1399032">
                  <a:extLst>
                    <a:ext uri="{9D8B030D-6E8A-4147-A177-3AD203B41FA5}">
                      <a16:colId xmlns:a16="http://schemas.microsoft.com/office/drawing/2014/main" val="20003"/>
                    </a:ext>
                  </a:extLst>
                </a:gridCol>
              </a:tblGrid>
              <a:tr h="384048">
                <a:tc>
                  <a:txBody>
                    <a:bodyPr/>
                    <a:lstStyle/>
                    <a:p>
                      <a:r>
                        <a:rPr sz="1300" b="1" i="0">
                          <a:solidFill>
                            <a:srgbClr val="FFFFFF"/>
                          </a:solidFill>
                          <a:latin typeface="Calibri"/>
                        </a:rPr>
                        <a:t>Test Case</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1E2761"/>
                    </a:solidFill>
                  </a:tcPr>
                </a:tc>
                <a:tc>
                  <a:txBody>
                    <a:bodyPr/>
                    <a:lstStyle/>
                    <a:p>
                      <a:r>
                        <a:rPr sz="1300" b="1" i="0">
                          <a:solidFill>
                            <a:srgbClr val="FFFFFF"/>
                          </a:solidFill>
                          <a:latin typeface="Calibri"/>
                        </a:rPr>
                        <a:t>Expected Result</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1E2761"/>
                    </a:solidFill>
                  </a:tcPr>
                </a:tc>
                <a:tc>
                  <a:txBody>
                    <a:bodyPr/>
                    <a:lstStyle/>
                    <a:p>
                      <a:r>
                        <a:rPr sz="1300" b="1" i="0">
                          <a:solidFill>
                            <a:srgbClr val="FFFFFF"/>
                          </a:solidFill>
                          <a:latin typeface="Calibri"/>
                        </a:rPr>
                        <a:t>Actual Result</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1E2761"/>
                    </a:solidFill>
                  </a:tcPr>
                </a:tc>
                <a:tc>
                  <a:txBody>
                    <a:bodyPr/>
                    <a:lstStyle/>
                    <a:p>
                      <a:r>
                        <a:rPr sz="1300" b="1" i="0">
                          <a:solidFill>
                            <a:srgbClr val="FFFFFF"/>
                          </a:solidFill>
                          <a:latin typeface="Calibri"/>
                        </a:rPr>
                        <a:t>Status</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1E2761"/>
                    </a:solidFill>
                  </a:tcPr>
                </a:tc>
                <a:extLst>
                  <a:ext uri="{0D108BD9-81ED-4DB2-BD59-A6C34878D82A}">
                    <a16:rowId xmlns:a16="http://schemas.microsoft.com/office/drawing/2014/main" val="10000"/>
                  </a:ext>
                </a:extLst>
              </a:tr>
              <a:tr h="429768">
                <a:tc>
                  <a:txBody>
                    <a:bodyPr/>
                    <a:lstStyle/>
                    <a:p>
                      <a:r>
                        <a:rPr sz="1300" b="1" i="0">
                          <a:solidFill>
                            <a:srgbClr val="1B1F3B"/>
                          </a:solidFill>
                          <a:latin typeface="Calibri"/>
                        </a:rPr>
                        <a:t>Valid Login</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FFFFF"/>
                    </a:solidFill>
                  </a:tcPr>
                </a:tc>
                <a:tc>
                  <a:txBody>
                    <a:bodyPr/>
                    <a:lstStyle/>
                    <a:p>
                      <a:r>
                        <a:rPr sz="1300" b="0" i="0">
                          <a:solidFill>
                            <a:srgbClr val="0B1220"/>
                          </a:solidFill>
                          <a:latin typeface="Calibri"/>
                        </a:rPr>
                        <a:t>Login successful</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FFFFF"/>
                    </a:solidFill>
                  </a:tcPr>
                </a:tc>
                <a:tc>
                  <a:txBody>
                    <a:bodyPr/>
                    <a:lstStyle/>
                    <a:p>
                      <a:r>
                        <a:rPr sz="1300" b="0" i="0" dirty="0">
                          <a:solidFill>
                            <a:srgbClr val="0B1220"/>
                          </a:solidFill>
                          <a:latin typeface="Calibri"/>
                        </a:rPr>
                        <a:t>Successful</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FFFFF"/>
                    </a:solidFill>
                  </a:tcPr>
                </a:tc>
                <a:tc>
                  <a:txBody>
                    <a:bodyPr/>
                    <a:lstStyle/>
                    <a:p>
                      <a:pPr algn="ctr"/>
                      <a:r>
                        <a:rPr sz="1300" b="1" i="0">
                          <a:solidFill>
                            <a:srgbClr val="1E7B4F"/>
                          </a:solidFill>
                          <a:latin typeface="Calibri"/>
                        </a:rPr>
                        <a:t>Pass</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FFFFF"/>
                    </a:solidFill>
                  </a:tcPr>
                </a:tc>
                <a:extLst>
                  <a:ext uri="{0D108BD9-81ED-4DB2-BD59-A6C34878D82A}">
                    <a16:rowId xmlns:a16="http://schemas.microsoft.com/office/drawing/2014/main" val="10001"/>
                  </a:ext>
                </a:extLst>
              </a:tr>
              <a:tr h="429768">
                <a:tc>
                  <a:txBody>
                    <a:bodyPr/>
                    <a:lstStyle/>
                    <a:p>
                      <a:r>
                        <a:rPr sz="1300" b="1" i="0">
                          <a:solidFill>
                            <a:srgbClr val="1B1F3B"/>
                          </a:solidFill>
                          <a:latin typeface="Calibri"/>
                        </a:rPr>
                        <a:t>Invalid Login</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4F7FE"/>
                    </a:solidFill>
                  </a:tcPr>
                </a:tc>
                <a:tc>
                  <a:txBody>
                    <a:bodyPr/>
                    <a:lstStyle/>
                    <a:p>
                      <a:r>
                        <a:rPr sz="1300" b="0" i="0">
                          <a:solidFill>
                            <a:srgbClr val="0B1220"/>
                          </a:solidFill>
                          <a:latin typeface="Calibri"/>
                        </a:rPr>
                        <a:t>Error message</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4F7FE"/>
                    </a:solidFill>
                  </a:tcPr>
                </a:tc>
                <a:tc>
                  <a:txBody>
                    <a:bodyPr/>
                    <a:lstStyle/>
                    <a:p>
                      <a:r>
                        <a:rPr sz="1300" b="0" i="0" dirty="0">
                          <a:solidFill>
                            <a:srgbClr val="0B1220"/>
                          </a:solidFill>
                          <a:latin typeface="Calibri"/>
                        </a:rPr>
                        <a:t>Error displayed</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4F7FE"/>
                    </a:solidFill>
                  </a:tcPr>
                </a:tc>
                <a:tc>
                  <a:txBody>
                    <a:bodyPr/>
                    <a:lstStyle/>
                    <a:p>
                      <a:pPr algn="ctr"/>
                      <a:r>
                        <a:rPr sz="1300" b="1" i="0">
                          <a:solidFill>
                            <a:srgbClr val="1E7B4F"/>
                          </a:solidFill>
                          <a:latin typeface="Calibri"/>
                        </a:rPr>
                        <a:t>Pass</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4F7FE"/>
                    </a:solidFill>
                  </a:tcPr>
                </a:tc>
                <a:extLst>
                  <a:ext uri="{0D108BD9-81ED-4DB2-BD59-A6C34878D82A}">
                    <a16:rowId xmlns:a16="http://schemas.microsoft.com/office/drawing/2014/main" val="10002"/>
                  </a:ext>
                </a:extLst>
              </a:tr>
              <a:tr h="429768">
                <a:tc>
                  <a:txBody>
                    <a:bodyPr/>
                    <a:lstStyle/>
                    <a:p>
                      <a:r>
                        <a:rPr sz="1300" b="1" i="0">
                          <a:solidFill>
                            <a:srgbClr val="1B1F3B"/>
                          </a:solidFill>
                          <a:latin typeface="Calibri"/>
                        </a:rPr>
                        <a:t>Candidate Registration</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FFFFF"/>
                    </a:solidFill>
                  </a:tcPr>
                </a:tc>
                <a:tc>
                  <a:txBody>
                    <a:bodyPr/>
                    <a:lstStyle/>
                    <a:p>
                      <a:r>
                        <a:rPr sz="1300" b="0" i="0">
                          <a:solidFill>
                            <a:srgbClr val="0B1220"/>
                          </a:solidFill>
                          <a:latin typeface="Calibri"/>
                        </a:rPr>
                        <a:t>Account created</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FFFFF"/>
                    </a:solidFill>
                  </a:tcPr>
                </a:tc>
                <a:tc>
                  <a:txBody>
                    <a:bodyPr/>
                    <a:lstStyle/>
                    <a:p>
                      <a:r>
                        <a:rPr sz="1300" b="0" i="0" dirty="0">
                          <a:solidFill>
                            <a:srgbClr val="0B1220"/>
                          </a:solidFill>
                          <a:latin typeface="Calibri"/>
                        </a:rPr>
                        <a:t>Account created</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FFFFF"/>
                    </a:solidFill>
                  </a:tcPr>
                </a:tc>
                <a:tc>
                  <a:txBody>
                    <a:bodyPr/>
                    <a:lstStyle/>
                    <a:p>
                      <a:pPr algn="ctr"/>
                      <a:r>
                        <a:rPr sz="1300" b="1" i="0">
                          <a:solidFill>
                            <a:srgbClr val="1E7B4F"/>
                          </a:solidFill>
                          <a:latin typeface="Calibri"/>
                        </a:rPr>
                        <a:t>Pass</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FFFFF"/>
                    </a:solidFill>
                  </a:tcPr>
                </a:tc>
                <a:extLst>
                  <a:ext uri="{0D108BD9-81ED-4DB2-BD59-A6C34878D82A}">
                    <a16:rowId xmlns:a16="http://schemas.microsoft.com/office/drawing/2014/main" val="10003"/>
                  </a:ext>
                </a:extLst>
              </a:tr>
              <a:tr h="429768">
                <a:tc>
                  <a:txBody>
                    <a:bodyPr/>
                    <a:lstStyle/>
                    <a:p>
                      <a:r>
                        <a:rPr sz="1300" b="1" i="0">
                          <a:solidFill>
                            <a:srgbClr val="1B1F3B"/>
                          </a:solidFill>
                          <a:latin typeface="Calibri"/>
                        </a:rPr>
                        <a:t>Resume Upload</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4F7FE"/>
                    </a:solidFill>
                  </a:tcPr>
                </a:tc>
                <a:tc>
                  <a:txBody>
                    <a:bodyPr/>
                    <a:lstStyle/>
                    <a:p>
                      <a:r>
                        <a:rPr sz="1300" b="0" i="0">
                          <a:solidFill>
                            <a:srgbClr val="0B1220"/>
                          </a:solidFill>
                          <a:latin typeface="Calibri"/>
                        </a:rPr>
                        <a:t>Resume saved and listed</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4F7FE"/>
                    </a:solidFill>
                  </a:tcPr>
                </a:tc>
                <a:tc>
                  <a:txBody>
                    <a:bodyPr/>
                    <a:lstStyle/>
                    <a:p>
                      <a:r>
                        <a:rPr sz="1300" b="0" i="0" dirty="0">
                          <a:solidFill>
                            <a:srgbClr val="0B1220"/>
                          </a:solidFill>
                          <a:latin typeface="Calibri"/>
                        </a:rPr>
                        <a:t>Uploaded successfully</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4F7FE"/>
                    </a:solidFill>
                  </a:tcPr>
                </a:tc>
                <a:tc>
                  <a:txBody>
                    <a:bodyPr/>
                    <a:lstStyle/>
                    <a:p>
                      <a:pPr algn="ctr"/>
                      <a:r>
                        <a:rPr sz="1300" b="1" i="0">
                          <a:solidFill>
                            <a:srgbClr val="1E7B4F"/>
                          </a:solidFill>
                          <a:latin typeface="Calibri"/>
                        </a:rPr>
                        <a:t>Pass</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4F7FE"/>
                    </a:solidFill>
                  </a:tcPr>
                </a:tc>
                <a:extLst>
                  <a:ext uri="{0D108BD9-81ED-4DB2-BD59-A6C34878D82A}">
                    <a16:rowId xmlns:a16="http://schemas.microsoft.com/office/drawing/2014/main" val="10004"/>
                  </a:ext>
                </a:extLst>
              </a:tr>
              <a:tr h="429768">
                <a:tc>
                  <a:txBody>
                    <a:bodyPr/>
                    <a:lstStyle/>
                    <a:p>
                      <a:r>
                        <a:rPr sz="1300" b="1" i="0">
                          <a:solidFill>
                            <a:srgbClr val="1B1F3B"/>
                          </a:solidFill>
                          <a:latin typeface="Calibri"/>
                        </a:rPr>
                        <a:t>Aptitude / Personality Test</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FFFFF"/>
                    </a:solidFill>
                  </a:tcPr>
                </a:tc>
                <a:tc>
                  <a:txBody>
                    <a:bodyPr/>
                    <a:lstStyle/>
                    <a:p>
                      <a:r>
                        <a:rPr sz="1300" b="0" i="0">
                          <a:solidFill>
                            <a:srgbClr val="0B1220"/>
                          </a:solidFill>
                          <a:latin typeface="Calibri"/>
                        </a:rPr>
                        <a:t>Answers saved and result generated</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FFFFF"/>
                    </a:solidFill>
                  </a:tcPr>
                </a:tc>
                <a:tc>
                  <a:txBody>
                    <a:bodyPr/>
                    <a:lstStyle/>
                    <a:p>
                      <a:r>
                        <a:rPr sz="1300" b="0" i="0" dirty="0">
                          <a:solidFill>
                            <a:srgbClr val="0B1220"/>
                          </a:solidFill>
                          <a:latin typeface="Calibri"/>
                        </a:rPr>
                        <a:t>Result generated</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FFFFF"/>
                    </a:solidFill>
                  </a:tcPr>
                </a:tc>
                <a:tc>
                  <a:txBody>
                    <a:bodyPr/>
                    <a:lstStyle/>
                    <a:p>
                      <a:pPr algn="ctr"/>
                      <a:r>
                        <a:rPr sz="1300" b="1" i="0" dirty="0">
                          <a:solidFill>
                            <a:srgbClr val="1E7B4F"/>
                          </a:solidFill>
                          <a:latin typeface="Calibri"/>
                        </a:rPr>
                        <a:t>Pass</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FFFFF"/>
                    </a:solidFill>
                  </a:tcPr>
                </a:tc>
                <a:extLst>
                  <a:ext uri="{0D108BD9-81ED-4DB2-BD59-A6C34878D82A}">
                    <a16:rowId xmlns:a16="http://schemas.microsoft.com/office/drawing/2014/main" val="10005"/>
                  </a:ext>
                </a:extLst>
              </a:tr>
              <a:tr h="429768">
                <a:tc>
                  <a:txBody>
                    <a:bodyPr/>
                    <a:lstStyle/>
                    <a:p>
                      <a:r>
                        <a:rPr sz="1300" b="1" i="0">
                          <a:solidFill>
                            <a:srgbClr val="1B1F3B"/>
                          </a:solidFill>
                          <a:latin typeface="Calibri"/>
                        </a:rPr>
                        <a:t>Candidate Ranking (Admin)</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4F7FE"/>
                    </a:solidFill>
                  </a:tcPr>
                </a:tc>
                <a:tc>
                  <a:txBody>
                    <a:bodyPr/>
                    <a:lstStyle/>
                    <a:p>
                      <a:r>
                        <a:rPr sz="1300" b="0" i="0">
                          <a:solidFill>
                            <a:srgbClr val="0B1220"/>
                          </a:solidFill>
                          <a:latin typeface="Calibri"/>
                        </a:rPr>
                        <a:t>Candidates listed by score</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4F7FE"/>
                    </a:solidFill>
                  </a:tcPr>
                </a:tc>
                <a:tc>
                  <a:txBody>
                    <a:bodyPr/>
                    <a:lstStyle/>
                    <a:p>
                      <a:r>
                        <a:rPr sz="1300" b="0" i="0">
                          <a:solidFill>
                            <a:srgbClr val="0B1220"/>
                          </a:solidFill>
                          <a:latin typeface="Calibri"/>
                        </a:rPr>
                        <a:t>Ranked list displayed</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4F7FE"/>
                    </a:solidFill>
                  </a:tcPr>
                </a:tc>
                <a:tc>
                  <a:txBody>
                    <a:bodyPr/>
                    <a:lstStyle/>
                    <a:p>
                      <a:pPr algn="ctr"/>
                      <a:r>
                        <a:rPr sz="1300" b="1" i="0" dirty="0">
                          <a:solidFill>
                            <a:srgbClr val="1E7B4F"/>
                          </a:solidFill>
                          <a:latin typeface="Calibri"/>
                        </a:rPr>
                        <a:t>Pass</a:t>
                      </a:r>
                    </a:p>
                  </a:txBody>
                  <a:tcPr marL="82296" marR="82296" marT="36576" marB="36576" anchor="ctr">
                    <a:lnL w="9525">
                      <a:solidFill>
                        <a:srgbClr val="D5DBEE"/>
                      </a:solidFill>
                    </a:lnL>
                    <a:lnR w="9525">
                      <a:solidFill>
                        <a:srgbClr val="D5DBEE"/>
                      </a:solidFill>
                    </a:lnR>
                    <a:lnT w="9525">
                      <a:solidFill>
                        <a:srgbClr val="D5DBEE"/>
                      </a:solidFill>
                    </a:lnT>
                    <a:lnB w="9525">
                      <a:solidFill>
                        <a:srgbClr val="D5DBEE"/>
                      </a:solidFill>
                    </a:lnB>
                    <a:solidFill>
                      <a:srgbClr val="F4F7FE"/>
                    </a:solidFill>
                  </a:tcPr>
                </a:tc>
                <a:extLst>
                  <a:ext uri="{0D108BD9-81ED-4DB2-BD59-A6C34878D82A}">
                    <a16:rowId xmlns:a16="http://schemas.microsoft.com/office/drawing/2014/main" val="10006"/>
                  </a:ext>
                </a:extLst>
              </a:tr>
            </a:tbl>
          </a:graphicData>
        </a:graphic>
      </p:graphicFrame>
      <p:sp>
        <p:nvSpPr>
          <p:cNvPr id="27" name="TextBox 26"/>
          <p:cNvSpPr txBox="1"/>
          <p:nvPr/>
        </p:nvSpPr>
        <p:spPr>
          <a:xfrm>
            <a:off x="640080" y="6537960"/>
            <a:ext cx="2926080" cy="201168"/>
          </a:xfrm>
          <a:prstGeom prst="rect">
            <a:avLst/>
          </a:prstGeom>
          <a:noFill/>
        </p:spPr>
        <p:txBody>
          <a:bodyPr wrap="square" lIns="0" tIns="0" rIns="0" bIns="0" anchor="ctr">
            <a:noAutofit/>
          </a:bodyPr>
          <a:lstStyle/>
          <a:p>
            <a:pPr algn="l"/>
            <a:r>
              <a:rPr sz="1000" b="1" i="0">
                <a:solidFill>
                  <a:srgbClr val="002060"/>
                </a:solidFill>
                <a:latin typeface="Calibri"/>
              </a:rPr>
              <a:t>INTELLIGENT HIRING SYSTEM</a:t>
            </a:r>
          </a:p>
        </p:txBody>
      </p:sp>
      <p:sp>
        <p:nvSpPr>
          <p:cNvPr id="28" name="Oval 27"/>
          <p:cNvSpPr/>
          <p:nvPr/>
        </p:nvSpPr>
        <p:spPr>
          <a:xfrm>
            <a:off x="11256264" y="6492240"/>
            <a:ext cx="292608" cy="292608"/>
          </a:xfrm>
          <a:prstGeom prst="ellipse">
            <a:avLst/>
          </a:prstGeom>
          <a:solidFill>
            <a:srgbClr val="F4F7FE"/>
          </a:solidFill>
          <a:ln>
            <a:noFill/>
          </a:ln>
        </p:spPr>
        <p:txBody>
          <a:bodyPr rtlCol="0" anchor="ctr"/>
          <a:lstStyle/>
          <a:p>
            <a:pPr algn="ctr"/>
            <a:endParaRPr/>
          </a:p>
        </p:txBody>
      </p:sp>
      <p:sp>
        <p:nvSpPr>
          <p:cNvPr id="29" name="TextBox 28"/>
          <p:cNvSpPr txBox="1"/>
          <p:nvPr/>
        </p:nvSpPr>
        <p:spPr>
          <a:xfrm>
            <a:off x="11256264" y="6492240"/>
            <a:ext cx="292608" cy="292608"/>
          </a:xfrm>
          <a:prstGeom prst="rect">
            <a:avLst/>
          </a:prstGeom>
          <a:noFill/>
        </p:spPr>
        <p:txBody>
          <a:bodyPr wrap="square" lIns="0" tIns="0" rIns="0" bIns="0" anchor="ctr">
            <a:noAutofit/>
          </a:bodyPr>
          <a:lstStyle/>
          <a:p>
            <a:pPr algn="ctr"/>
            <a:r>
              <a:rPr lang="en-US" sz="950" b="1" dirty="0">
                <a:solidFill>
                  <a:srgbClr val="1E2761"/>
                </a:solidFill>
                <a:latin typeface="Calibri"/>
              </a:rPr>
              <a:t>31</a:t>
            </a:r>
            <a:endParaRPr sz="950" b="1" i="0" dirty="0">
              <a:solidFill>
                <a:srgbClr val="1E2761"/>
              </a:solidFill>
              <a:latin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gradFill rotWithShape="1">
          <a:gsLst>
            <a:gs pos="0">
              <a:srgbClr val="FAFBFF"/>
            </a:gs>
            <a:gs pos="100000">
              <a:srgbClr val="E4ECFC"/>
            </a:gs>
          </a:gsLst>
          <a:lin ang="2700000" scaled="0"/>
        </a:gradFill>
        <a:effectLst/>
      </p:bgPr>
    </p:bg>
    <p:spTree>
      <p:nvGrpSpPr>
        <p:cNvPr id="1" name=""/>
        <p:cNvGrpSpPr/>
        <p:nvPr/>
      </p:nvGrpSpPr>
      <p:grpSpPr>
        <a:xfrm>
          <a:off x="0" y="0"/>
          <a:ext cx="0" cy="0"/>
          <a:chOff x="0" y="0"/>
          <a:chExt cx="0" cy="0"/>
        </a:xfrm>
      </p:grpSpPr>
      <p:sp>
        <p:nvSpPr>
          <p:cNvPr id="9001" name="Decor 9001"/>
          <p:cNvSpPr/>
          <p:nvPr/>
        </p:nvSpPr>
        <p:spPr>
          <a:xfrm>
            <a:off x="8300000" y="-2300000"/>
            <a:ext cx="5200000" cy="5200000"/>
          </a:xfrm>
          <a:prstGeom prst="ellipse">
            <a:avLst/>
          </a:prstGeom>
          <a:solidFill>
            <a:srgbClr val="4A5BC4">
              <a:alpha val="9000"/>
            </a:srgbClr>
          </a:solidFill>
          <a:ln>
            <a:noFill/>
          </a:ln>
        </p:spPr>
        <p:txBody>
          <a:bodyPr/>
          <a:lstStyle/>
          <a:p>
            <a:endParaRPr lang="en-US"/>
          </a:p>
        </p:txBody>
      </p:sp>
      <p:sp>
        <p:nvSpPr>
          <p:cNvPr id="9002" name="Decor 9002"/>
          <p:cNvSpPr/>
          <p:nvPr/>
        </p:nvSpPr>
        <p:spPr>
          <a:xfrm>
            <a:off x="9300000" y="-1500000"/>
            <a:ext cx="3600000" cy="3600000"/>
          </a:xfrm>
          <a:prstGeom prst="ellipse">
            <a:avLst/>
          </a:prstGeom>
          <a:noFill/>
          <a:ln w="19050">
            <a:solidFill>
              <a:srgbClr val="4A5BC4">
                <a:alpha val="22000"/>
              </a:srgbClr>
            </a:solidFill>
          </a:ln>
        </p:spPr>
        <p:txBody>
          <a:bodyPr/>
          <a:lstStyle/>
          <a:p>
            <a:endParaRPr lang="en-US"/>
          </a:p>
        </p:txBody>
      </p:sp>
      <p:sp>
        <p:nvSpPr>
          <p:cNvPr id="9003" name="Decor 9003"/>
          <p:cNvSpPr/>
          <p:nvPr/>
        </p:nvSpPr>
        <p:spPr>
          <a:xfrm>
            <a:off x="-1500000" y="5000000"/>
            <a:ext cx="3300000" cy="3300000"/>
          </a:xfrm>
          <a:prstGeom prst="ellipse">
            <a:avLst/>
          </a:prstGeom>
          <a:solidFill>
            <a:srgbClr val="22D3A6">
              <a:alpha val="9000"/>
            </a:srgbClr>
          </a:solidFill>
          <a:ln>
            <a:noFill/>
          </a:ln>
        </p:spPr>
        <p:txBody>
          <a:bodyPr/>
          <a:lstStyle/>
          <a:p>
            <a:endParaRPr lang="en-US"/>
          </a:p>
        </p:txBody>
      </p:sp>
      <p:sp>
        <p:nvSpPr>
          <p:cNvPr id="9004" name="Decor 9004"/>
          <p:cNvSpPr/>
          <p:nvPr/>
        </p:nvSpPr>
        <p:spPr>
          <a:xfrm>
            <a:off x="-900000" y="5600000"/>
            <a:ext cx="1900000" cy="1900000"/>
          </a:xfrm>
          <a:prstGeom prst="ellipse">
            <a:avLst/>
          </a:prstGeom>
          <a:noFill/>
          <a:ln w="19050">
            <a:solidFill>
              <a:srgbClr val="4A5BC4">
                <a:alpha val="14000"/>
              </a:srgbClr>
            </a:solidFill>
          </a:ln>
        </p:spPr>
        <p:txBody>
          <a:bodyPr/>
          <a:lstStyle/>
          <a:p>
            <a:endParaRPr lang="en-US"/>
          </a:p>
        </p:txBody>
      </p:sp>
      <p:sp>
        <p:nvSpPr>
          <p:cNvPr id="4" name="TextBox 3"/>
          <p:cNvSpPr txBox="1"/>
          <p:nvPr/>
        </p:nvSpPr>
        <p:spPr>
          <a:xfrm>
            <a:off x="640080" y="409397"/>
            <a:ext cx="10881360" cy="566928"/>
          </a:xfrm>
          <a:prstGeom prst="rect">
            <a:avLst/>
          </a:prstGeom>
          <a:noFill/>
        </p:spPr>
        <p:txBody>
          <a:bodyPr wrap="square" lIns="0" tIns="0" rIns="0" bIns="0" anchor="ctr">
            <a:noAutofit/>
          </a:bodyPr>
          <a:lstStyle/>
          <a:p>
            <a:pPr algn="l"/>
            <a:r>
              <a:rPr sz="3000" b="1" i="0">
                <a:solidFill>
                  <a:srgbClr val="1B1F3B"/>
                </a:solidFill>
                <a:latin typeface="Cambria"/>
              </a:rPr>
              <a:t>Advantages</a:t>
            </a:r>
          </a:p>
        </p:txBody>
      </p:sp>
      <p:sp>
        <p:nvSpPr>
          <p:cNvPr id="5" name="Rounded Rectangle 4"/>
          <p:cNvSpPr/>
          <p:nvPr/>
        </p:nvSpPr>
        <p:spPr>
          <a:xfrm>
            <a:off x="640080" y="1223213"/>
            <a:ext cx="3465575" cy="2148840"/>
          </a:xfrm>
          <a:prstGeom prst="roundRect">
            <a:avLst>
              <a:gd name="adj" fmla="val 3404"/>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6" name="Oval 5"/>
          <p:cNvSpPr/>
          <p:nvPr/>
        </p:nvSpPr>
        <p:spPr>
          <a:xfrm>
            <a:off x="868680" y="1424381"/>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7" name="Picture 6" descr="image.png"/>
          <p:cNvPicPr>
            <a:picLocks noChangeAspect="1"/>
          </p:cNvPicPr>
          <p:nvPr/>
        </p:nvPicPr>
        <p:blipFill>
          <a:blip r:embed="rId2"/>
          <a:stretch>
            <a:fillRect/>
          </a:stretch>
        </p:blipFill>
        <p:spPr>
          <a:xfrm>
            <a:off x="968532" y="1524233"/>
            <a:ext cx="275783" cy="275783"/>
          </a:xfrm>
          <a:prstGeom prst="rect">
            <a:avLst/>
          </a:prstGeom>
        </p:spPr>
      </p:pic>
      <p:sp>
        <p:nvSpPr>
          <p:cNvPr id="8" name="TextBox 7"/>
          <p:cNvSpPr txBox="1"/>
          <p:nvPr/>
        </p:nvSpPr>
        <p:spPr>
          <a:xfrm>
            <a:off x="1481328" y="1424381"/>
            <a:ext cx="2414015" cy="475488"/>
          </a:xfrm>
          <a:prstGeom prst="rect">
            <a:avLst/>
          </a:prstGeom>
          <a:noFill/>
        </p:spPr>
        <p:txBody>
          <a:bodyPr wrap="square" lIns="0" tIns="0" rIns="0" bIns="0" anchor="ctr">
            <a:noAutofit/>
          </a:bodyPr>
          <a:lstStyle/>
          <a:p>
            <a:pPr algn="l"/>
            <a:r>
              <a:rPr sz="1650" b="1" i="0">
                <a:solidFill>
                  <a:srgbClr val="1B1F3B"/>
                </a:solidFill>
                <a:latin typeface="Calibri"/>
              </a:rPr>
              <a:t>Faster Screening</a:t>
            </a:r>
          </a:p>
        </p:txBody>
      </p:sp>
      <p:sp>
        <p:nvSpPr>
          <p:cNvPr id="9" name="TextBox 8"/>
          <p:cNvSpPr txBox="1"/>
          <p:nvPr/>
        </p:nvSpPr>
        <p:spPr>
          <a:xfrm>
            <a:off x="914400" y="2064461"/>
            <a:ext cx="2916935" cy="1188720"/>
          </a:xfrm>
          <a:prstGeom prst="rect">
            <a:avLst/>
          </a:prstGeom>
          <a:noFill/>
        </p:spPr>
        <p:txBody>
          <a:bodyPr wrap="square" lIns="0" tIns="0" rIns="0" bIns="0" anchor="t">
            <a:noAutofit/>
          </a:bodyPr>
          <a:lstStyle/>
          <a:p>
            <a:pPr algn="l">
              <a:spcAft>
                <a:spcPts val="300"/>
              </a:spcAft>
            </a:pPr>
            <a:r>
              <a:rPr sz="1500" b="0" i="0">
                <a:solidFill>
                  <a:srgbClr val="0B1220"/>
                </a:solidFill>
                <a:latin typeface="Calibri"/>
              </a:rPr>
              <a:t>Automated resume analysis shortens the screening stage and reduces time-to-hire.</a:t>
            </a:r>
          </a:p>
        </p:txBody>
      </p:sp>
      <p:sp>
        <p:nvSpPr>
          <p:cNvPr id="10" name="Rounded Rectangle 9"/>
          <p:cNvSpPr/>
          <p:nvPr/>
        </p:nvSpPr>
        <p:spPr>
          <a:xfrm>
            <a:off x="4361688" y="1223213"/>
            <a:ext cx="3465575" cy="2148840"/>
          </a:xfrm>
          <a:prstGeom prst="roundRect">
            <a:avLst>
              <a:gd name="adj" fmla="val 3404"/>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11" name="Oval 10"/>
          <p:cNvSpPr/>
          <p:nvPr/>
        </p:nvSpPr>
        <p:spPr>
          <a:xfrm>
            <a:off x="4590288" y="1424381"/>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12" name="Picture 11" descr="image.png"/>
          <p:cNvPicPr>
            <a:picLocks noChangeAspect="1"/>
          </p:cNvPicPr>
          <p:nvPr/>
        </p:nvPicPr>
        <p:blipFill>
          <a:blip r:embed="rId3"/>
          <a:stretch>
            <a:fillRect/>
          </a:stretch>
        </p:blipFill>
        <p:spPr>
          <a:xfrm>
            <a:off x="4690140" y="1524233"/>
            <a:ext cx="275783" cy="275783"/>
          </a:xfrm>
          <a:prstGeom prst="rect">
            <a:avLst/>
          </a:prstGeom>
        </p:spPr>
      </p:pic>
      <p:sp>
        <p:nvSpPr>
          <p:cNvPr id="13" name="TextBox 12"/>
          <p:cNvSpPr txBox="1"/>
          <p:nvPr/>
        </p:nvSpPr>
        <p:spPr>
          <a:xfrm>
            <a:off x="5202936" y="1424381"/>
            <a:ext cx="2414015" cy="475488"/>
          </a:xfrm>
          <a:prstGeom prst="rect">
            <a:avLst/>
          </a:prstGeom>
          <a:noFill/>
        </p:spPr>
        <p:txBody>
          <a:bodyPr wrap="square" lIns="0" tIns="0" rIns="0" bIns="0" anchor="ctr">
            <a:noAutofit/>
          </a:bodyPr>
          <a:lstStyle/>
          <a:p>
            <a:pPr algn="l"/>
            <a:r>
              <a:rPr sz="1650" b="1" i="0">
                <a:solidFill>
                  <a:srgbClr val="1B1F3B"/>
                </a:solidFill>
                <a:latin typeface="Calibri"/>
              </a:rPr>
              <a:t>Objective Evaluation</a:t>
            </a:r>
          </a:p>
        </p:txBody>
      </p:sp>
      <p:sp>
        <p:nvSpPr>
          <p:cNvPr id="14" name="TextBox 13"/>
          <p:cNvSpPr txBox="1"/>
          <p:nvPr/>
        </p:nvSpPr>
        <p:spPr>
          <a:xfrm>
            <a:off x="4636007" y="2064461"/>
            <a:ext cx="2916935" cy="1188720"/>
          </a:xfrm>
          <a:prstGeom prst="rect">
            <a:avLst/>
          </a:prstGeom>
          <a:noFill/>
        </p:spPr>
        <p:txBody>
          <a:bodyPr wrap="square" lIns="0" tIns="0" rIns="0" bIns="0" anchor="t">
            <a:noAutofit/>
          </a:bodyPr>
          <a:lstStyle/>
          <a:p>
            <a:pPr algn="l">
              <a:spcAft>
                <a:spcPts val="300"/>
              </a:spcAft>
            </a:pPr>
            <a:r>
              <a:rPr sz="1500" b="0" i="0">
                <a:solidFill>
                  <a:srgbClr val="0B1220"/>
                </a:solidFill>
                <a:latin typeface="Calibri"/>
              </a:rPr>
              <a:t>The same measurable criteria are applied to every candidate, reducing bias.</a:t>
            </a:r>
          </a:p>
        </p:txBody>
      </p:sp>
      <p:sp>
        <p:nvSpPr>
          <p:cNvPr id="15" name="Rounded Rectangle 14"/>
          <p:cNvSpPr/>
          <p:nvPr/>
        </p:nvSpPr>
        <p:spPr>
          <a:xfrm>
            <a:off x="8083295" y="1223213"/>
            <a:ext cx="3465575" cy="2148840"/>
          </a:xfrm>
          <a:prstGeom prst="roundRect">
            <a:avLst>
              <a:gd name="adj" fmla="val 3404"/>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16" name="Oval 15"/>
          <p:cNvSpPr/>
          <p:nvPr/>
        </p:nvSpPr>
        <p:spPr>
          <a:xfrm>
            <a:off x="8311895" y="1424381"/>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17" name="Picture 16" descr="image.png"/>
          <p:cNvPicPr>
            <a:picLocks noChangeAspect="1"/>
          </p:cNvPicPr>
          <p:nvPr/>
        </p:nvPicPr>
        <p:blipFill>
          <a:blip r:embed="rId4"/>
          <a:stretch>
            <a:fillRect/>
          </a:stretch>
        </p:blipFill>
        <p:spPr>
          <a:xfrm>
            <a:off x="8411748" y="1524233"/>
            <a:ext cx="275783" cy="275783"/>
          </a:xfrm>
          <a:prstGeom prst="rect">
            <a:avLst/>
          </a:prstGeom>
        </p:spPr>
      </p:pic>
      <p:sp>
        <p:nvSpPr>
          <p:cNvPr id="18" name="TextBox 17"/>
          <p:cNvSpPr txBox="1"/>
          <p:nvPr/>
        </p:nvSpPr>
        <p:spPr>
          <a:xfrm>
            <a:off x="8924543" y="1424381"/>
            <a:ext cx="2414015" cy="475488"/>
          </a:xfrm>
          <a:prstGeom prst="rect">
            <a:avLst/>
          </a:prstGeom>
          <a:noFill/>
        </p:spPr>
        <p:txBody>
          <a:bodyPr wrap="square" lIns="0" tIns="0" rIns="0" bIns="0" anchor="ctr">
            <a:noAutofit/>
          </a:bodyPr>
          <a:lstStyle/>
          <a:p>
            <a:pPr algn="l"/>
            <a:r>
              <a:rPr sz="1650" b="1" i="0">
                <a:solidFill>
                  <a:srgbClr val="1B1F3B"/>
                </a:solidFill>
                <a:latin typeface="Calibri"/>
              </a:rPr>
              <a:t>Reduced HR Workload</a:t>
            </a:r>
          </a:p>
        </p:txBody>
      </p:sp>
      <p:sp>
        <p:nvSpPr>
          <p:cNvPr id="19" name="TextBox 18"/>
          <p:cNvSpPr txBox="1"/>
          <p:nvPr/>
        </p:nvSpPr>
        <p:spPr>
          <a:xfrm>
            <a:off x="8357615" y="2064461"/>
            <a:ext cx="2916935" cy="1188720"/>
          </a:xfrm>
          <a:prstGeom prst="rect">
            <a:avLst/>
          </a:prstGeom>
          <a:noFill/>
        </p:spPr>
        <p:txBody>
          <a:bodyPr wrap="square" lIns="0" tIns="0" rIns="0" bIns="0" anchor="t">
            <a:noAutofit/>
          </a:bodyPr>
          <a:lstStyle/>
          <a:p>
            <a:pPr algn="l">
              <a:spcAft>
                <a:spcPts val="300"/>
              </a:spcAft>
            </a:pPr>
            <a:r>
              <a:rPr sz="1500" b="0" i="0">
                <a:solidFill>
                  <a:srgbClr val="0B1220"/>
                </a:solidFill>
                <a:latin typeface="Calibri"/>
              </a:rPr>
              <a:t>Repetitive screening is automated, so HR can focus on final decisions.</a:t>
            </a:r>
          </a:p>
        </p:txBody>
      </p:sp>
      <p:sp>
        <p:nvSpPr>
          <p:cNvPr id="20" name="Rounded Rectangle 19"/>
          <p:cNvSpPr/>
          <p:nvPr/>
        </p:nvSpPr>
        <p:spPr>
          <a:xfrm>
            <a:off x="640080" y="3646373"/>
            <a:ext cx="3465575" cy="2148840"/>
          </a:xfrm>
          <a:prstGeom prst="roundRect">
            <a:avLst>
              <a:gd name="adj" fmla="val 3404"/>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21" name="Oval 20"/>
          <p:cNvSpPr/>
          <p:nvPr/>
        </p:nvSpPr>
        <p:spPr>
          <a:xfrm>
            <a:off x="868680" y="3847541"/>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22" name="Picture 21" descr="image.png"/>
          <p:cNvPicPr>
            <a:picLocks noChangeAspect="1"/>
          </p:cNvPicPr>
          <p:nvPr/>
        </p:nvPicPr>
        <p:blipFill>
          <a:blip r:embed="rId5"/>
          <a:stretch>
            <a:fillRect/>
          </a:stretch>
        </p:blipFill>
        <p:spPr>
          <a:xfrm>
            <a:off x="968532" y="3947393"/>
            <a:ext cx="275783" cy="275783"/>
          </a:xfrm>
          <a:prstGeom prst="rect">
            <a:avLst/>
          </a:prstGeom>
        </p:spPr>
      </p:pic>
      <p:sp>
        <p:nvSpPr>
          <p:cNvPr id="23" name="TextBox 22"/>
          <p:cNvSpPr txBox="1"/>
          <p:nvPr/>
        </p:nvSpPr>
        <p:spPr>
          <a:xfrm>
            <a:off x="1481328" y="3847541"/>
            <a:ext cx="2414015" cy="475488"/>
          </a:xfrm>
          <a:prstGeom prst="rect">
            <a:avLst/>
          </a:prstGeom>
          <a:noFill/>
        </p:spPr>
        <p:txBody>
          <a:bodyPr wrap="square" lIns="0" tIns="0" rIns="0" bIns="0" anchor="ctr">
            <a:noAutofit/>
          </a:bodyPr>
          <a:lstStyle/>
          <a:p>
            <a:pPr algn="l"/>
            <a:r>
              <a:rPr sz="1650" b="1" i="0">
                <a:solidFill>
                  <a:srgbClr val="1B1F3B"/>
                </a:solidFill>
                <a:latin typeface="Calibri"/>
              </a:rPr>
              <a:t>Consistent Ranking</a:t>
            </a:r>
          </a:p>
        </p:txBody>
      </p:sp>
      <p:sp>
        <p:nvSpPr>
          <p:cNvPr id="24" name="TextBox 23"/>
          <p:cNvSpPr txBox="1"/>
          <p:nvPr/>
        </p:nvSpPr>
        <p:spPr>
          <a:xfrm>
            <a:off x="914400" y="4487621"/>
            <a:ext cx="2916935" cy="1188720"/>
          </a:xfrm>
          <a:prstGeom prst="rect">
            <a:avLst/>
          </a:prstGeom>
          <a:noFill/>
        </p:spPr>
        <p:txBody>
          <a:bodyPr wrap="square" lIns="0" tIns="0" rIns="0" bIns="0" anchor="t">
            <a:noAutofit/>
          </a:bodyPr>
          <a:lstStyle/>
          <a:p>
            <a:pPr algn="l">
              <a:spcAft>
                <a:spcPts val="300"/>
              </a:spcAft>
            </a:pPr>
            <a:r>
              <a:rPr sz="1500" b="0" i="0">
                <a:solidFill>
                  <a:srgbClr val="0B1220"/>
                </a:solidFill>
                <a:latin typeface="Calibri"/>
              </a:rPr>
              <a:t>Ranked shortlists are generated automatically from combined scores.</a:t>
            </a:r>
          </a:p>
        </p:txBody>
      </p:sp>
      <p:sp>
        <p:nvSpPr>
          <p:cNvPr id="25" name="Rounded Rectangle 24"/>
          <p:cNvSpPr/>
          <p:nvPr/>
        </p:nvSpPr>
        <p:spPr>
          <a:xfrm>
            <a:off x="4361688" y="3646373"/>
            <a:ext cx="3465575" cy="2148840"/>
          </a:xfrm>
          <a:prstGeom prst="roundRect">
            <a:avLst>
              <a:gd name="adj" fmla="val 3404"/>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26" name="Oval 25"/>
          <p:cNvSpPr/>
          <p:nvPr/>
        </p:nvSpPr>
        <p:spPr>
          <a:xfrm>
            <a:off x="4590288" y="3847541"/>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27" name="Picture 26" descr="image.png"/>
          <p:cNvPicPr>
            <a:picLocks noChangeAspect="1"/>
          </p:cNvPicPr>
          <p:nvPr/>
        </p:nvPicPr>
        <p:blipFill>
          <a:blip r:embed="rId6"/>
          <a:stretch>
            <a:fillRect/>
          </a:stretch>
        </p:blipFill>
        <p:spPr>
          <a:xfrm>
            <a:off x="4690140" y="3947393"/>
            <a:ext cx="275783" cy="275783"/>
          </a:xfrm>
          <a:prstGeom prst="rect">
            <a:avLst/>
          </a:prstGeom>
        </p:spPr>
      </p:pic>
      <p:sp>
        <p:nvSpPr>
          <p:cNvPr id="28" name="TextBox 27"/>
          <p:cNvSpPr txBox="1"/>
          <p:nvPr/>
        </p:nvSpPr>
        <p:spPr>
          <a:xfrm>
            <a:off x="5202936" y="3847541"/>
            <a:ext cx="2414015" cy="475488"/>
          </a:xfrm>
          <a:prstGeom prst="rect">
            <a:avLst/>
          </a:prstGeom>
          <a:noFill/>
        </p:spPr>
        <p:txBody>
          <a:bodyPr wrap="square" lIns="0" tIns="0" rIns="0" bIns="0" anchor="ctr">
            <a:noAutofit/>
          </a:bodyPr>
          <a:lstStyle/>
          <a:p>
            <a:pPr algn="l"/>
            <a:r>
              <a:rPr sz="1650" b="1" i="0">
                <a:solidFill>
                  <a:srgbClr val="1B1F3B"/>
                </a:solidFill>
                <a:latin typeface="Calibri"/>
              </a:rPr>
              <a:t>Centralized Dashboard</a:t>
            </a:r>
          </a:p>
        </p:txBody>
      </p:sp>
      <p:sp>
        <p:nvSpPr>
          <p:cNvPr id="29" name="TextBox 28"/>
          <p:cNvSpPr txBox="1"/>
          <p:nvPr/>
        </p:nvSpPr>
        <p:spPr>
          <a:xfrm>
            <a:off x="4636007" y="4487621"/>
            <a:ext cx="2916935" cy="1188720"/>
          </a:xfrm>
          <a:prstGeom prst="rect">
            <a:avLst/>
          </a:prstGeom>
          <a:noFill/>
        </p:spPr>
        <p:txBody>
          <a:bodyPr wrap="square" lIns="0" tIns="0" rIns="0" bIns="0" anchor="t">
            <a:noAutofit/>
          </a:bodyPr>
          <a:lstStyle/>
          <a:p>
            <a:pPr algn="l">
              <a:spcAft>
                <a:spcPts val="300"/>
              </a:spcAft>
            </a:pPr>
            <a:r>
              <a:rPr sz="1500" b="0" i="0">
                <a:solidFill>
                  <a:srgbClr val="0B1220"/>
                </a:solidFill>
                <a:latin typeface="Calibri"/>
              </a:rPr>
              <a:t>HR sees candidates, scores and status in one place.</a:t>
            </a:r>
          </a:p>
        </p:txBody>
      </p:sp>
      <p:sp>
        <p:nvSpPr>
          <p:cNvPr id="30" name="Rounded Rectangle 29"/>
          <p:cNvSpPr/>
          <p:nvPr/>
        </p:nvSpPr>
        <p:spPr>
          <a:xfrm>
            <a:off x="8083295" y="3646373"/>
            <a:ext cx="3465575" cy="2148840"/>
          </a:xfrm>
          <a:prstGeom prst="roundRect">
            <a:avLst>
              <a:gd name="adj" fmla="val 3404"/>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31" name="Oval 30"/>
          <p:cNvSpPr/>
          <p:nvPr/>
        </p:nvSpPr>
        <p:spPr>
          <a:xfrm>
            <a:off x="8311895" y="3847541"/>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32" name="Picture 31" descr="image.png"/>
          <p:cNvPicPr>
            <a:picLocks noChangeAspect="1"/>
          </p:cNvPicPr>
          <p:nvPr/>
        </p:nvPicPr>
        <p:blipFill>
          <a:blip r:embed="rId7"/>
          <a:stretch>
            <a:fillRect/>
          </a:stretch>
        </p:blipFill>
        <p:spPr>
          <a:xfrm>
            <a:off x="8411748" y="3947393"/>
            <a:ext cx="275783" cy="275783"/>
          </a:xfrm>
          <a:prstGeom prst="rect">
            <a:avLst/>
          </a:prstGeom>
        </p:spPr>
      </p:pic>
      <p:sp>
        <p:nvSpPr>
          <p:cNvPr id="33" name="TextBox 32"/>
          <p:cNvSpPr txBox="1"/>
          <p:nvPr/>
        </p:nvSpPr>
        <p:spPr>
          <a:xfrm>
            <a:off x="8924543" y="3847541"/>
            <a:ext cx="2414015" cy="475488"/>
          </a:xfrm>
          <a:prstGeom prst="rect">
            <a:avLst/>
          </a:prstGeom>
          <a:noFill/>
        </p:spPr>
        <p:txBody>
          <a:bodyPr wrap="square" lIns="0" tIns="0" rIns="0" bIns="0" anchor="ctr">
            <a:noAutofit/>
          </a:bodyPr>
          <a:lstStyle/>
          <a:p>
            <a:pPr algn="l"/>
            <a:r>
              <a:rPr sz="1650" b="1" i="0">
                <a:solidFill>
                  <a:srgbClr val="1B1F3B"/>
                </a:solidFill>
                <a:latin typeface="Calibri"/>
              </a:rPr>
              <a:t>Scalable and Low Cost</a:t>
            </a:r>
          </a:p>
        </p:txBody>
      </p:sp>
      <p:sp>
        <p:nvSpPr>
          <p:cNvPr id="34" name="TextBox 33"/>
          <p:cNvSpPr txBox="1"/>
          <p:nvPr/>
        </p:nvSpPr>
        <p:spPr>
          <a:xfrm>
            <a:off x="8357615" y="4487621"/>
            <a:ext cx="2916935" cy="1188720"/>
          </a:xfrm>
          <a:prstGeom prst="rect">
            <a:avLst/>
          </a:prstGeom>
          <a:noFill/>
        </p:spPr>
        <p:txBody>
          <a:bodyPr wrap="square" lIns="0" tIns="0" rIns="0" bIns="0" anchor="t">
            <a:noAutofit/>
          </a:bodyPr>
          <a:lstStyle/>
          <a:p>
            <a:pPr algn="l">
              <a:spcAft>
                <a:spcPts val="300"/>
              </a:spcAft>
            </a:pPr>
            <a:r>
              <a:rPr sz="1500" b="0" i="0">
                <a:solidFill>
                  <a:srgbClr val="0B1220"/>
                </a:solidFill>
                <a:latin typeface="Calibri"/>
              </a:rPr>
              <a:t>Built on open-source tools and designed to extend to new roles and higher volume.</a:t>
            </a:r>
          </a:p>
        </p:txBody>
      </p:sp>
      <p:sp>
        <p:nvSpPr>
          <p:cNvPr id="35" name="TextBox 34"/>
          <p:cNvSpPr txBox="1"/>
          <p:nvPr/>
        </p:nvSpPr>
        <p:spPr>
          <a:xfrm>
            <a:off x="640080" y="6537960"/>
            <a:ext cx="2926080" cy="201168"/>
          </a:xfrm>
          <a:prstGeom prst="rect">
            <a:avLst/>
          </a:prstGeom>
          <a:noFill/>
        </p:spPr>
        <p:txBody>
          <a:bodyPr wrap="square" lIns="0" tIns="0" rIns="0" bIns="0" anchor="ctr">
            <a:noAutofit/>
          </a:bodyPr>
          <a:lstStyle/>
          <a:p>
            <a:pPr algn="l"/>
            <a:r>
              <a:rPr sz="1000" b="1" i="0">
                <a:solidFill>
                  <a:srgbClr val="002060"/>
                </a:solidFill>
                <a:latin typeface="Calibri"/>
              </a:rPr>
              <a:t>INTELLIGENT HIRING SYSTEM</a:t>
            </a:r>
          </a:p>
        </p:txBody>
      </p:sp>
      <p:sp>
        <p:nvSpPr>
          <p:cNvPr id="36" name="Oval 35"/>
          <p:cNvSpPr/>
          <p:nvPr/>
        </p:nvSpPr>
        <p:spPr>
          <a:xfrm>
            <a:off x="11256264" y="6492240"/>
            <a:ext cx="292608" cy="292608"/>
          </a:xfrm>
          <a:prstGeom prst="ellipse">
            <a:avLst/>
          </a:prstGeom>
          <a:solidFill>
            <a:srgbClr val="F4F7FE"/>
          </a:solidFill>
          <a:ln>
            <a:noFill/>
          </a:ln>
        </p:spPr>
        <p:txBody>
          <a:bodyPr rtlCol="0" anchor="ctr"/>
          <a:lstStyle/>
          <a:p>
            <a:pPr algn="ctr"/>
            <a:endParaRPr/>
          </a:p>
        </p:txBody>
      </p:sp>
      <p:sp>
        <p:nvSpPr>
          <p:cNvPr id="37" name="TextBox 36"/>
          <p:cNvSpPr txBox="1"/>
          <p:nvPr/>
        </p:nvSpPr>
        <p:spPr>
          <a:xfrm>
            <a:off x="11256264" y="6492240"/>
            <a:ext cx="292608" cy="292608"/>
          </a:xfrm>
          <a:prstGeom prst="rect">
            <a:avLst/>
          </a:prstGeom>
          <a:noFill/>
        </p:spPr>
        <p:txBody>
          <a:bodyPr wrap="square" lIns="0" tIns="0" rIns="0" bIns="0" anchor="ctr">
            <a:noAutofit/>
          </a:bodyPr>
          <a:lstStyle/>
          <a:p>
            <a:pPr algn="ctr"/>
            <a:r>
              <a:rPr sz="950" b="1" i="0" dirty="0">
                <a:solidFill>
                  <a:srgbClr val="1E2761"/>
                </a:solidFill>
                <a:latin typeface="Calibri"/>
              </a:rPr>
              <a:t>3</a:t>
            </a:r>
            <a:r>
              <a:rPr lang="en-US" sz="950" b="1" i="0" dirty="0">
                <a:solidFill>
                  <a:srgbClr val="1E2761"/>
                </a:solidFill>
                <a:latin typeface="Calibri"/>
              </a:rPr>
              <a:t>3</a:t>
            </a:r>
            <a:endParaRPr sz="950" b="1" i="0" dirty="0">
              <a:solidFill>
                <a:srgbClr val="1E2761"/>
              </a:solidFill>
              <a:latin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gradFill rotWithShape="1">
          <a:gsLst>
            <a:gs pos="0">
              <a:srgbClr val="FAFBFF"/>
            </a:gs>
            <a:gs pos="100000">
              <a:srgbClr val="E4ECFC"/>
            </a:gs>
          </a:gsLst>
          <a:lin ang="2700000" scaled="0"/>
        </a:gradFill>
        <a:effectLst/>
      </p:bgPr>
    </p:bg>
    <p:spTree>
      <p:nvGrpSpPr>
        <p:cNvPr id="1" name=""/>
        <p:cNvGrpSpPr/>
        <p:nvPr/>
      </p:nvGrpSpPr>
      <p:grpSpPr>
        <a:xfrm>
          <a:off x="0" y="0"/>
          <a:ext cx="0" cy="0"/>
          <a:chOff x="0" y="0"/>
          <a:chExt cx="0" cy="0"/>
        </a:xfrm>
      </p:grpSpPr>
      <p:sp>
        <p:nvSpPr>
          <p:cNvPr id="9001" name="Decor 9001"/>
          <p:cNvSpPr/>
          <p:nvPr/>
        </p:nvSpPr>
        <p:spPr>
          <a:xfrm>
            <a:off x="8300000" y="-2300000"/>
            <a:ext cx="5200000" cy="5200000"/>
          </a:xfrm>
          <a:prstGeom prst="ellipse">
            <a:avLst/>
          </a:prstGeom>
          <a:solidFill>
            <a:srgbClr val="4A5BC4">
              <a:alpha val="9000"/>
            </a:srgbClr>
          </a:solidFill>
          <a:ln>
            <a:noFill/>
          </a:ln>
        </p:spPr>
        <p:txBody>
          <a:bodyPr/>
          <a:lstStyle/>
          <a:p>
            <a:endParaRPr lang="en-US"/>
          </a:p>
        </p:txBody>
      </p:sp>
      <p:sp>
        <p:nvSpPr>
          <p:cNvPr id="9002" name="Decor 9002"/>
          <p:cNvSpPr/>
          <p:nvPr/>
        </p:nvSpPr>
        <p:spPr>
          <a:xfrm>
            <a:off x="9300000" y="-1500000"/>
            <a:ext cx="3600000" cy="3600000"/>
          </a:xfrm>
          <a:prstGeom prst="ellipse">
            <a:avLst/>
          </a:prstGeom>
          <a:noFill/>
          <a:ln w="19050">
            <a:solidFill>
              <a:srgbClr val="4A5BC4">
                <a:alpha val="22000"/>
              </a:srgbClr>
            </a:solidFill>
          </a:ln>
        </p:spPr>
        <p:txBody>
          <a:bodyPr/>
          <a:lstStyle/>
          <a:p>
            <a:endParaRPr lang="en-US"/>
          </a:p>
        </p:txBody>
      </p:sp>
      <p:sp>
        <p:nvSpPr>
          <p:cNvPr id="9003" name="Decor 9003"/>
          <p:cNvSpPr/>
          <p:nvPr/>
        </p:nvSpPr>
        <p:spPr>
          <a:xfrm>
            <a:off x="-1500000" y="5000000"/>
            <a:ext cx="3300000" cy="3300000"/>
          </a:xfrm>
          <a:prstGeom prst="ellipse">
            <a:avLst/>
          </a:prstGeom>
          <a:solidFill>
            <a:srgbClr val="22D3A6">
              <a:alpha val="9000"/>
            </a:srgbClr>
          </a:solidFill>
          <a:ln>
            <a:noFill/>
          </a:ln>
        </p:spPr>
        <p:txBody>
          <a:bodyPr/>
          <a:lstStyle/>
          <a:p>
            <a:endParaRPr lang="en-US"/>
          </a:p>
        </p:txBody>
      </p:sp>
      <p:sp>
        <p:nvSpPr>
          <p:cNvPr id="9004" name="Decor 9004"/>
          <p:cNvSpPr/>
          <p:nvPr/>
        </p:nvSpPr>
        <p:spPr>
          <a:xfrm>
            <a:off x="-900000" y="5600000"/>
            <a:ext cx="1900000" cy="1900000"/>
          </a:xfrm>
          <a:prstGeom prst="ellipse">
            <a:avLst/>
          </a:prstGeom>
          <a:noFill/>
          <a:ln w="19050">
            <a:solidFill>
              <a:srgbClr val="4A5BC4">
                <a:alpha val="14000"/>
              </a:srgbClr>
            </a:solidFill>
          </a:ln>
        </p:spPr>
        <p:txBody>
          <a:bodyPr/>
          <a:lstStyle/>
          <a:p>
            <a:endParaRPr lang="en-US"/>
          </a:p>
        </p:txBody>
      </p:sp>
      <p:sp>
        <p:nvSpPr>
          <p:cNvPr id="4" name="TextBox 3"/>
          <p:cNvSpPr txBox="1"/>
          <p:nvPr/>
        </p:nvSpPr>
        <p:spPr>
          <a:xfrm>
            <a:off x="640080" y="601901"/>
            <a:ext cx="10881360" cy="566928"/>
          </a:xfrm>
          <a:prstGeom prst="rect">
            <a:avLst/>
          </a:prstGeom>
          <a:noFill/>
        </p:spPr>
        <p:txBody>
          <a:bodyPr wrap="square" lIns="0" tIns="0" rIns="0" bIns="0" anchor="ctr">
            <a:noAutofit/>
          </a:bodyPr>
          <a:lstStyle/>
          <a:p>
            <a:pPr algn="l"/>
            <a:r>
              <a:rPr sz="3000" b="1" i="0">
                <a:solidFill>
                  <a:srgbClr val="1B1F3B"/>
                </a:solidFill>
                <a:latin typeface="Cambria"/>
              </a:rPr>
              <a:t>Limitations</a:t>
            </a:r>
          </a:p>
        </p:txBody>
      </p:sp>
      <p:sp>
        <p:nvSpPr>
          <p:cNvPr id="5" name="Rounded Rectangle 4"/>
          <p:cNvSpPr/>
          <p:nvPr/>
        </p:nvSpPr>
        <p:spPr>
          <a:xfrm>
            <a:off x="640080" y="1415717"/>
            <a:ext cx="10908792" cy="786384"/>
          </a:xfrm>
          <a:prstGeom prst="roundRect">
            <a:avLst>
              <a:gd name="adj" fmla="val 9302"/>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6" name="Oval 5"/>
          <p:cNvSpPr/>
          <p:nvPr/>
        </p:nvSpPr>
        <p:spPr>
          <a:xfrm>
            <a:off x="868680" y="1571165"/>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7" name="Picture 6" descr="image.png"/>
          <p:cNvPicPr>
            <a:picLocks noChangeAspect="1"/>
          </p:cNvPicPr>
          <p:nvPr/>
        </p:nvPicPr>
        <p:blipFill>
          <a:blip r:embed="rId2"/>
          <a:stretch>
            <a:fillRect/>
          </a:stretch>
        </p:blipFill>
        <p:spPr>
          <a:xfrm>
            <a:off x="968532" y="1671017"/>
            <a:ext cx="275783" cy="275783"/>
          </a:xfrm>
          <a:prstGeom prst="rect">
            <a:avLst/>
          </a:prstGeom>
        </p:spPr>
      </p:pic>
      <p:sp>
        <p:nvSpPr>
          <p:cNvPr id="8" name="TextBox 7"/>
          <p:cNvSpPr txBox="1"/>
          <p:nvPr/>
        </p:nvSpPr>
        <p:spPr>
          <a:xfrm>
            <a:off x="1508760" y="1415717"/>
            <a:ext cx="2834640" cy="786384"/>
          </a:xfrm>
          <a:prstGeom prst="rect">
            <a:avLst/>
          </a:prstGeom>
          <a:noFill/>
        </p:spPr>
        <p:txBody>
          <a:bodyPr wrap="square" lIns="0" tIns="0" rIns="0" bIns="0" anchor="ctr">
            <a:noAutofit/>
          </a:bodyPr>
          <a:lstStyle/>
          <a:p>
            <a:pPr algn="l"/>
            <a:r>
              <a:rPr sz="1550" b="1" i="0">
                <a:solidFill>
                  <a:srgbClr val="1B1F3B"/>
                </a:solidFill>
                <a:latin typeface="Calibri"/>
              </a:rPr>
              <a:t>Resume Format Dependence</a:t>
            </a:r>
          </a:p>
        </p:txBody>
      </p:sp>
      <p:sp>
        <p:nvSpPr>
          <p:cNvPr id="9" name="TextBox 8"/>
          <p:cNvSpPr txBox="1"/>
          <p:nvPr/>
        </p:nvSpPr>
        <p:spPr>
          <a:xfrm>
            <a:off x="4526280" y="1415717"/>
            <a:ext cx="6748272" cy="786384"/>
          </a:xfrm>
          <a:prstGeom prst="rect">
            <a:avLst/>
          </a:prstGeom>
          <a:noFill/>
        </p:spPr>
        <p:txBody>
          <a:bodyPr wrap="square" lIns="0" tIns="0" rIns="0" bIns="0" anchor="ctr">
            <a:noAutofit/>
          </a:bodyPr>
          <a:lstStyle/>
          <a:p>
            <a:pPr algn="l"/>
            <a:r>
              <a:rPr sz="1450" b="0" i="0">
                <a:solidFill>
                  <a:srgbClr val="0B1220"/>
                </a:solidFill>
                <a:latin typeface="Calibri"/>
              </a:rPr>
              <a:t>Analysis quality depends on the format and clarity of the uploaded resumes.</a:t>
            </a:r>
          </a:p>
        </p:txBody>
      </p:sp>
      <p:sp>
        <p:nvSpPr>
          <p:cNvPr id="10" name="Rounded Rectangle 9"/>
          <p:cNvSpPr/>
          <p:nvPr/>
        </p:nvSpPr>
        <p:spPr>
          <a:xfrm>
            <a:off x="640080" y="2311829"/>
            <a:ext cx="10908792" cy="786384"/>
          </a:xfrm>
          <a:prstGeom prst="roundRect">
            <a:avLst>
              <a:gd name="adj" fmla="val 9302"/>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11" name="Oval 10"/>
          <p:cNvSpPr/>
          <p:nvPr/>
        </p:nvSpPr>
        <p:spPr>
          <a:xfrm>
            <a:off x="868680" y="2467277"/>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12" name="Picture 11" descr="image.png"/>
          <p:cNvPicPr>
            <a:picLocks noChangeAspect="1"/>
          </p:cNvPicPr>
          <p:nvPr/>
        </p:nvPicPr>
        <p:blipFill>
          <a:blip r:embed="rId3"/>
          <a:stretch>
            <a:fillRect/>
          </a:stretch>
        </p:blipFill>
        <p:spPr>
          <a:xfrm>
            <a:off x="968532" y="2567129"/>
            <a:ext cx="275783" cy="275783"/>
          </a:xfrm>
          <a:prstGeom prst="rect">
            <a:avLst/>
          </a:prstGeom>
        </p:spPr>
      </p:pic>
      <p:sp>
        <p:nvSpPr>
          <p:cNvPr id="13" name="TextBox 12"/>
          <p:cNvSpPr txBox="1"/>
          <p:nvPr/>
        </p:nvSpPr>
        <p:spPr>
          <a:xfrm>
            <a:off x="1508760" y="2311829"/>
            <a:ext cx="2834640" cy="786384"/>
          </a:xfrm>
          <a:prstGeom prst="rect">
            <a:avLst/>
          </a:prstGeom>
          <a:noFill/>
        </p:spPr>
        <p:txBody>
          <a:bodyPr wrap="square" lIns="0" tIns="0" rIns="0" bIns="0" anchor="ctr">
            <a:noAutofit/>
          </a:bodyPr>
          <a:lstStyle/>
          <a:p>
            <a:pPr algn="l"/>
            <a:r>
              <a:rPr sz="1550" b="1" i="0">
                <a:solidFill>
                  <a:srgbClr val="1B1F3B"/>
                </a:solidFill>
                <a:latin typeface="Calibri"/>
              </a:rPr>
              <a:t>Fixed Question Sets</a:t>
            </a:r>
          </a:p>
        </p:txBody>
      </p:sp>
      <p:sp>
        <p:nvSpPr>
          <p:cNvPr id="14" name="TextBox 13"/>
          <p:cNvSpPr txBox="1"/>
          <p:nvPr/>
        </p:nvSpPr>
        <p:spPr>
          <a:xfrm>
            <a:off x="4526280" y="2311829"/>
            <a:ext cx="6748272" cy="786384"/>
          </a:xfrm>
          <a:prstGeom prst="rect">
            <a:avLst/>
          </a:prstGeom>
          <a:noFill/>
        </p:spPr>
        <p:txBody>
          <a:bodyPr wrap="square" lIns="0" tIns="0" rIns="0" bIns="0" anchor="ctr">
            <a:noAutofit/>
          </a:bodyPr>
          <a:lstStyle/>
          <a:p>
            <a:pPr algn="l"/>
            <a:r>
              <a:rPr sz="1450" b="0" i="0">
                <a:solidFill>
                  <a:srgbClr val="0B1220"/>
                </a:solidFill>
                <a:latin typeface="Calibri"/>
              </a:rPr>
              <a:t>Aptitude and personality tests use predefined question sets.</a:t>
            </a:r>
          </a:p>
        </p:txBody>
      </p:sp>
      <p:sp>
        <p:nvSpPr>
          <p:cNvPr id="15" name="Rounded Rectangle 14"/>
          <p:cNvSpPr/>
          <p:nvPr/>
        </p:nvSpPr>
        <p:spPr>
          <a:xfrm>
            <a:off x="640080" y="3207941"/>
            <a:ext cx="10908792" cy="786384"/>
          </a:xfrm>
          <a:prstGeom prst="roundRect">
            <a:avLst>
              <a:gd name="adj" fmla="val 9302"/>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16" name="Oval 15"/>
          <p:cNvSpPr/>
          <p:nvPr/>
        </p:nvSpPr>
        <p:spPr>
          <a:xfrm>
            <a:off x="868680" y="3363389"/>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17" name="Picture 16" descr="image.png"/>
          <p:cNvPicPr>
            <a:picLocks noChangeAspect="1"/>
          </p:cNvPicPr>
          <p:nvPr/>
        </p:nvPicPr>
        <p:blipFill>
          <a:blip r:embed="rId4"/>
          <a:stretch>
            <a:fillRect/>
          </a:stretch>
        </p:blipFill>
        <p:spPr>
          <a:xfrm>
            <a:off x="968532" y="3463241"/>
            <a:ext cx="275783" cy="275783"/>
          </a:xfrm>
          <a:prstGeom prst="rect">
            <a:avLst/>
          </a:prstGeom>
        </p:spPr>
      </p:pic>
      <p:sp>
        <p:nvSpPr>
          <p:cNvPr id="18" name="TextBox 17"/>
          <p:cNvSpPr txBox="1"/>
          <p:nvPr/>
        </p:nvSpPr>
        <p:spPr>
          <a:xfrm>
            <a:off x="1508760" y="3207941"/>
            <a:ext cx="2834640" cy="786384"/>
          </a:xfrm>
          <a:prstGeom prst="rect">
            <a:avLst/>
          </a:prstGeom>
          <a:noFill/>
        </p:spPr>
        <p:txBody>
          <a:bodyPr wrap="square" lIns="0" tIns="0" rIns="0" bIns="0" anchor="ctr">
            <a:noAutofit/>
          </a:bodyPr>
          <a:lstStyle/>
          <a:p>
            <a:pPr algn="l"/>
            <a:r>
              <a:rPr sz="1550" b="1" i="0">
                <a:solidFill>
                  <a:srgbClr val="1B1F3B"/>
                </a:solidFill>
                <a:latin typeface="Calibri"/>
              </a:rPr>
              <a:t>Indicative Personality Results</a:t>
            </a:r>
          </a:p>
        </p:txBody>
      </p:sp>
      <p:sp>
        <p:nvSpPr>
          <p:cNvPr id="19" name="TextBox 18"/>
          <p:cNvSpPr txBox="1"/>
          <p:nvPr/>
        </p:nvSpPr>
        <p:spPr>
          <a:xfrm>
            <a:off x="4526280" y="3207941"/>
            <a:ext cx="6748272" cy="786384"/>
          </a:xfrm>
          <a:prstGeom prst="rect">
            <a:avLst/>
          </a:prstGeom>
          <a:noFill/>
        </p:spPr>
        <p:txBody>
          <a:bodyPr wrap="square" lIns="0" tIns="0" rIns="0" bIns="0" anchor="ctr">
            <a:noAutofit/>
          </a:bodyPr>
          <a:lstStyle/>
          <a:p>
            <a:pPr algn="l"/>
            <a:r>
              <a:rPr sz="1450" b="0" i="0">
                <a:solidFill>
                  <a:srgbClr val="0B1220"/>
                </a:solidFill>
                <a:latin typeface="Calibri"/>
              </a:rPr>
              <a:t>Personality assessment is indicative and cannot replace an interview.</a:t>
            </a:r>
          </a:p>
        </p:txBody>
      </p:sp>
      <p:sp>
        <p:nvSpPr>
          <p:cNvPr id="20" name="Rounded Rectangle 19"/>
          <p:cNvSpPr/>
          <p:nvPr/>
        </p:nvSpPr>
        <p:spPr>
          <a:xfrm>
            <a:off x="640080" y="4104053"/>
            <a:ext cx="10908792" cy="786384"/>
          </a:xfrm>
          <a:prstGeom prst="roundRect">
            <a:avLst>
              <a:gd name="adj" fmla="val 9302"/>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21" name="Oval 20"/>
          <p:cNvSpPr/>
          <p:nvPr/>
        </p:nvSpPr>
        <p:spPr>
          <a:xfrm>
            <a:off x="868680" y="4259500"/>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22" name="Picture 21" descr="image.png"/>
          <p:cNvPicPr>
            <a:picLocks noChangeAspect="1"/>
          </p:cNvPicPr>
          <p:nvPr/>
        </p:nvPicPr>
        <p:blipFill>
          <a:blip r:embed="rId5"/>
          <a:stretch>
            <a:fillRect/>
          </a:stretch>
        </p:blipFill>
        <p:spPr>
          <a:xfrm>
            <a:off x="968532" y="4359353"/>
            <a:ext cx="275783" cy="275783"/>
          </a:xfrm>
          <a:prstGeom prst="rect">
            <a:avLst/>
          </a:prstGeom>
        </p:spPr>
      </p:pic>
      <p:sp>
        <p:nvSpPr>
          <p:cNvPr id="23" name="TextBox 22"/>
          <p:cNvSpPr txBox="1"/>
          <p:nvPr/>
        </p:nvSpPr>
        <p:spPr>
          <a:xfrm>
            <a:off x="1508760" y="4104053"/>
            <a:ext cx="2834640" cy="786384"/>
          </a:xfrm>
          <a:prstGeom prst="rect">
            <a:avLst/>
          </a:prstGeom>
          <a:noFill/>
        </p:spPr>
        <p:txBody>
          <a:bodyPr wrap="square" lIns="0" tIns="0" rIns="0" bIns="0" anchor="ctr">
            <a:noAutofit/>
          </a:bodyPr>
          <a:lstStyle/>
          <a:p>
            <a:pPr algn="l"/>
            <a:r>
              <a:rPr sz="1550" b="1" i="0">
                <a:solidFill>
                  <a:srgbClr val="1B1F3B"/>
                </a:solidFill>
                <a:latin typeface="Calibri"/>
              </a:rPr>
              <a:t>HR Judgement Still Needed</a:t>
            </a:r>
          </a:p>
        </p:txBody>
      </p:sp>
      <p:sp>
        <p:nvSpPr>
          <p:cNvPr id="24" name="TextBox 23"/>
          <p:cNvSpPr txBox="1"/>
          <p:nvPr/>
        </p:nvSpPr>
        <p:spPr>
          <a:xfrm>
            <a:off x="4526280" y="4104053"/>
            <a:ext cx="6748272" cy="786384"/>
          </a:xfrm>
          <a:prstGeom prst="rect">
            <a:avLst/>
          </a:prstGeom>
          <a:noFill/>
        </p:spPr>
        <p:txBody>
          <a:bodyPr wrap="square" lIns="0" tIns="0" rIns="0" bIns="0" anchor="ctr">
            <a:noAutofit/>
          </a:bodyPr>
          <a:lstStyle/>
          <a:p>
            <a:pPr algn="l"/>
            <a:r>
              <a:rPr sz="1450" b="0" i="0">
                <a:solidFill>
                  <a:srgbClr val="0B1220"/>
                </a:solidFill>
                <a:latin typeface="Calibri"/>
              </a:rPr>
              <a:t>The system supports, but does not replace, the final hiring decision made by HR.</a:t>
            </a:r>
          </a:p>
        </p:txBody>
      </p:sp>
      <p:sp>
        <p:nvSpPr>
          <p:cNvPr id="25" name="Rounded Rectangle 24"/>
          <p:cNvSpPr/>
          <p:nvPr/>
        </p:nvSpPr>
        <p:spPr>
          <a:xfrm>
            <a:off x="640080" y="5000165"/>
            <a:ext cx="10908792" cy="786384"/>
          </a:xfrm>
          <a:prstGeom prst="roundRect">
            <a:avLst>
              <a:gd name="adj" fmla="val 9302"/>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26" name="Oval 25"/>
          <p:cNvSpPr/>
          <p:nvPr/>
        </p:nvSpPr>
        <p:spPr>
          <a:xfrm>
            <a:off x="868680" y="5155613"/>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27" name="Picture 26" descr="image.png"/>
          <p:cNvPicPr>
            <a:picLocks noChangeAspect="1"/>
          </p:cNvPicPr>
          <p:nvPr/>
        </p:nvPicPr>
        <p:blipFill>
          <a:blip r:embed="rId6"/>
          <a:stretch>
            <a:fillRect/>
          </a:stretch>
        </p:blipFill>
        <p:spPr>
          <a:xfrm>
            <a:off x="968532" y="5255465"/>
            <a:ext cx="275783" cy="275783"/>
          </a:xfrm>
          <a:prstGeom prst="rect">
            <a:avLst/>
          </a:prstGeom>
        </p:spPr>
      </p:pic>
      <p:sp>
        <p:nvSpPr>
          <p:cNvPr id="28" name="TextBox 27"/>
          <p:cNvSpPr txBox="1"/>
          <p:nvPr/>
        </p:nvSpPr>
        <p:spPr>
          <a:xfrm>
            <a:off x="1508760" y="5000165"/>
            <a:ext cx="2834640" cy="786384"/>
          </a:xfrm>
          <a:prstGeom prst="rect">
            <a:avLst/>
          </a:prstGeom>
          <a:noFill/>
        </p:spPr>
        <p:txBody>
          <a:bodyPr wrap="square" lIns="0" tIns="0" rIns="0" bIns="0" anchor="ctr">
            <a:noAutofit/>
          </a:bodyPr>
          <a:lstStyle/>
          <a:p>
            <a:pPr algn="l"/>
            <a:r>
              <a:rPr sz="1550" b="1" i="0">
                <a:solidFill>
                  <a:srgbClr val="1B1F3B"/>
                </a:solidFill>
                <a:latin typeface="Calibri"/>
              </a:rPr>
              <a:t>Standalone System</a:t>
            </a:r>
          </a:p>
        </p:txBody>
      </p:sp>
      <p:sp>
        <p:nvSpPr>
          <p:cNvPr id="29" name="TextBox 28"/>
          <p:cNvSpPr txBox="1"/>
          <p:nvPr/>
        </p:nvSpPr>
        <p:spPr>
          <a:xfrm>
            <a:off x="4526280" y="5000165"/>
            <a:ext cx="6748272" cy="786384"/>
          </a:xfrm>
          <a:prstGeom prst="rect">
            <a:avLst/>
          </a:prstGeom>
          <a:noFill/>
        </p:spPr>
        <p:txBody>
          <a:bodyPr wrap="square" lIns="0" tIns="0" rIns="0" bIns="0" anchor="ctr">
            <a:noAutofit/>
          </a:bodyPr>
          <a:lstStyle/>
          <a:p>
            <a:pPr algn="l"/>
            <a:r>
              <a:rPr sz="1450" b="0" i="0">
                <a:solidFill>
                  <a:srgbClr val="0B1220"/>
                </a:solidFill>
                <a:latin typeface="Calibri"/>
              </a:rPr>
              <a:t>No integration with external job portals or HR tools in the current version.</a:t>
            </a:r>
          </a:p>
        </p:txBody>
      </p:sp>
      <p:sp>
        <p:nvSpPr>
          <p:cNvPr id="30" name="TextBox 29"/>
          <p:cNvSpPr txBox="1"/>
          <p:nvPr/>
        </p:nvSpPr>
        <p:spPr>
          <a:xfrm>
            <a:off x="640080" y="6537960"/>
            <a:ext cx="2926080" cy="201168"/>
          </a:xfrm>
          <a:prstGeom prst="rect">
            <a:avLst/>
          </a:prstGeom>
          <a:noFill/>
        </p:spPr>
        <p:txBody>
          <a:bodyPr wrap="square" lIns="0" tIns="0" rIns="0" bIns="0" anchor="ctr">
            <a:noAutofit/>
          </a:bodyPr>
          <a:lstStyle/>
          <a:p>
            <a:pPr algn="l"/>
            <a:r>
              <a:rPr sz="1000" b="1" i="0">
                <a:solidFill>
                  <a:srgbClr val="002060"/>
                </a:solidFill>
                <a:latin typeface="Calibri"/>
              </a:rPr>
              <a:t>INTELLIGENT HIRING SYSTEM</a:t>
            </a:r>
          </a:p>
        </p:txBody>
      </p:sp>
      <p:sp>
        <p:nvSpPr>
          <p:cNvPr id="31" name="Oval 30"/>
          <p:cNvSpPr/>
          <p:nvPr/>
        </p:nvSpPr>
        <p:spPr>
          <a:xfrm>
            <a:off x="11256264" y="6492240"/>
            <a:ext cx="292608" cy="292608"/>
          </a:xfrm>
          <a:prstGeom prst="ellipse">
            <a:avLst/>
          </a:prstGeom>
          <a:solidFill>
            <a:srgbClr val="F4F7FE"/>
          </a:solidFill>
          <a:ln>
            <a:noFill/>
          </a:ln>
        </p:spPr>
        <p:txBody>
          <a:bodyPr rtlCol="0" anchor="ctr"/>
          <a:lstStyle/>
          <a:p>
            <a:pPr algn="ctr"/>
            <a:endParaRPr/>
          </a:p>
        </p:txBody>
      </p:sp>
      <p:sp>
        <p:nvSpPr>
          <p:cNvPr id="32" name="TextBox 31"/>
          <p:cNvSpPr txBox="1"/>
          <p:nvPr/>
        </p:nvSpPr>
        <p:spPr>
          <a:xfrm>
            <a:off x="11256264" y="6492240"/>
            <a:ext cx="292608" cy="292608"/>
          </a:xfrm>
          <a:prstGeom prst="rect">
            <a:avLst/>
          </a:prstGeom>
          <a:noFill/>
        </p:spPr>
        <p:txBody>
          <a:bodyPr wrap="square" lIns="0" tIns="0" rIns="0" bIns="0" anchor="ctr">
            <a:noAutofit/>
          </a:bodyPr>
          <a:lstStyle/>
          <a:p>
            <a:pPr algn="ctr"/>
            <a:r>
              <a:rPr sz="950" b="1" i="0" dirty="0">
                <a:solidFill>
                  <a:srgbClr val="1E2761"/>
                </a:solidFill>
                <a:latin typeface="Calibri"/>
              </a:rPr>
              <a:t>3</a:t>
            </a:r>
            <a:r>
              <a:rPr lang="en-US" sz="950" b="1" i="0" dirty="0">
                <a:solidFill>
                  <a:srgbClr val="1E2761"/>
                </a:solidFill>
                <a:latin typeface="Calibri"/>
              </a:rPr>
              <a:t>4</a:t>
            </a:r>
            <a:endParaRPr sz="950" b="1" i="0" dirty="0">
              <a:solidFill>
                <a:srgbClr val="1E2761"/>
              </a:solidFill>
              <a:latin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gradFill rotWithShape="1">
          <a:gsLst>
            <a:gs pos="0">
              <a:srgbClr val="FAFBFF"/>
            </a:gs>
            <a:gs pos="100000">
              <a:srgbClr val="E4ECFC"/>
            </a:gs>
          </a:gsLst>
          <a:lin ang="2700000" scaled="0"/>
        </a:gradFill>
        <a:effectLst/>
      </p:bgPr>
    </p:bg>
    <p:spTree>
      <p:nvGrpSpPr>
        <p:cNvPr id="1" name=""/>
        <p:cNvGrpSpPr/>
        <p:nvPr/>
      </p:nvGrpSpPr>
      <p:grpSpPr>
        <a:xfrm>
          <a:off x="0" y="0"/>
          <a:ext cx="0" cy="0"/>
          <a:chOff x="0" y="0"/>
          <a:chExt cx="0" cy="0"/>
        </a:xfrm>
      </p:grpSpPr>
      <p:sp>
        <p:nvSpPr>
          <p:cNvPr id="9001" name="Decor 9001"/>
          <p:cNvSpPr/>
          <p:nvPr/>
        </p:nvSpPr>
        <p:spPr>
          <a:xfrm>
            <a:off x="8300000" y="-2300000"/>
            <a:ext cx="5200000" cy="5200000"/>
          </a:xfrm>
          <a:prstGeom prst="ellipse">
            <a:avLst/>
          </a:prstGeom>
          <a:solidFill>
            <a:srgbClr val="4A5BC4">
              <a:alpha val="9000"/>
            </a:srgbClr>
          </a:solidFill>
          <a:ln>
            <a:noFill/>
          </a:ln>
        </p:spPr>
        <p:txBody>
          <a:bodyPr/>
          <a:lstStyle/>
          <a:p>
            <a:endParaRPr lang="en-US"/>
          </a:p>
        </p:txBody>
      </p:sp>
      <p:sp>
        <p:nvSpPr>
          <p:cNvPr id="9002" name="Decor 9002"/>
          <p:cNvSpPr/>
          <p:nvPr/>
        </p:nvSpPr>
        <p:spPr>
          <a:xfrm>
            <a:off x="9300000" y="-1500000"/>
            <a:ext cx="3600000" cy="3600000"/>
          </a:xfrm>
          <a:prstGeom prst="ellipse">
            <a:avLst/>
          </a:prstGeom>
          <a:noFill/>
          <a:ln w="19050">
            <a:solidFill>
              <a:srgbClr val="4A5BC4">
                <a:alpha val="22000"/>
              </a:srgbClr>
            </a:solidFill>
          </a:ln>
        </p:spPr>
        <p:txBody>
          <a:bodyPr/>
          <a:lstStyle/>
          <a:p>
            <a:endParaRPr lang="en-US"/>
          </a:p>
        </p:txBody>
      </p:sp>
      <p:sp>
        <p:nvSpPr>
          <p:cNvPr id="9003" name="Decor 9003"/>
          <p:cNvSpPr/>
          <p:nvPr/>
        </p:nvSpPr>
        <p:spPr>
          <a:xfrm>
            <a:off x="-1500000" y="5000000"/>
            <a:ext cx="3300000" cy="3300000"/>
          </a:xfrm>
          <a:prstGeom prst="ellipse">
            <a:avLst/>
          </a:prstGeom>
          <a:solidFill>
            <a:srgbClr val="22D3A6">
              <a:alpha val="9000"/>
            </a:srgbClr>
          </a:solidFill>
          <a:ln>
            <a:noFill/>
          </a:ln>
        </p:spPr>
        <p:txBody>
          <a:bodyPr/>
          <a:lstStyle/>
          <a:p>
            <a:endParaRPr lang="en-US"/>
          </a:p>
        </p:txBody>
      </p:sp>
      <p:sp>
        <p:nvSpPr>
          <p:cNvPr id="9004" name="Decor 9004"/>
          <p:cNvSpPr/>
          <p:nvPr/>
        </p:nvSpPr>
        <p:spPr>
          <a:xfrm>
            <a:off x="-900000" y="5600000"/>
            <a:ext cx="1900000" cy="1900000"/>
          </a:xfrm>
          <a:prstGeom prst="ellipse">
            <a:avLst/>
          </a:prstGeom>
          <a:noFill/>
          <a:ln w="19050">
            <a:solidFill>
              <a:srgbClr val="4A5BC4">
                <a:alpha val="14000"/>
              </a:srgbClr>
            </a:solidFill>
          </a:ln>
        </p:spPr>
        <p:txBody>
          <a:bodyPr/>
          <a:lstStyle/>
          <a:p>
            <a:endParaRPr lang="en-US"/>
          </a:p>
        </p:txBody>
      </p:sp>
      <p:sp>
        <p:nvSpPr>
          <p:cNvPr id="4" name="TextBox 3"/>
          <p:cNvSpPr txBox="1"/>
          <p:nvPr/>
        </p:nvSpPr>
        <p:spPr>
          <a:xfrm>
            <a:off x="640080" y="529712"/>
            <a:ext cx="10881360" cy="566928"/>
          </a:xfrm>
          <a:prstGeom prst="rect">
            <a:avLst/>
          </a:prstGeom>
          <a:noFill/>
        </p:spPr>
        <p:txBody>
          <a:bodyPr wrap="square" lIns="0" tIns="0" rIns="0" bIns="0" anchor="ctr">
            <a:noAutofit/>
          </a:bodyPr>
          <a:lstStyle/>
          <a:p>
            <a:pPr algn="l"/>
            <a:r>
              <a:rPr sz="3000" b="1" i="0">
                <a:solidFill>
                  <a:srgbClr val="1B1F3B"/>
                </a:solidFill>
                <a:latin typeface="Cambria"/>
              </a:rPr>
              <a:t>Conclusion</a:t>
            </a:r>
          </a:p>
        </p:txBody>
      </p:sp>
      <p:sp>
        <p:nvSpPr>
          <p:cNvPr id="5" name="Rounded Rectangle 4"/>
          <p:cNvSpPr/>
          <p:nvPr/>
        </p:nvSpPr>
        <p:spPr>
          <a:xfrm>
            <a:off x="640080" y="1389248"/>
            <a:ext cx="10908792" cy="2240280"/>
          </a:xfrm>
          <a:prstGeom prst="roundRect">
            <a:avLst>
              <a:gd name="adj" fmla="val 4897"/>
            </a:avLst>
          </a:prstGeom>
          <a:gradFill rotWithShape="1">
            <a:gsLst>
              <a:gs pos="0">
                <a:srgbClr val="1E2761"/>
              </a:gs>
              <a:gs pos="100000">
                <a:srgbClr val="2F3A9A"/>
              </a:gs>
            </a:gsLst>
            <a:lin ang="2700000" scaled="0"/>
          </a:gradFill>
          <a:ln>
            <a:noFill/>
          </a:ln>
          <a:effectLst>
            <a:outerShdw blurRad="203200" dist="63500" dir="5400000" algn="t" rotWithShape="0">
              <a:srgbClr val="1E2761">
                <a:alpha val="22000"/>
              </a:srgbClr>
            </a:outerShdw>
          </a:effectLst>
        </p:spPr>
        <p:txBody>
          <a:bodyPr rtlCol="0" anchor="ctr"/>
          <a:lstStyle/>
          <a:p>
            <a:pPr algn="ctr"/>
            <a:endParaRPr/>
          </a:p>
        </p:txBody>
      </p:sp>
      <p:sp>
        <p:nvSpPr>
          <p:cNvPr id="6" name="TextBox 5"/>
          <p:cNvSpPr txBox="1"/>
          <p:nvPr/>
        </p:nvSpPr>
        <p:spPr>
          <a:xfrm>
            <a:off x="1097280" y="1389248"/>
            <a:ext cx="9966960" cy="2240280"/>
          </a:xfrm>
          <a:prstGeom prst="rect">
            <a:avLst/>
          </a:prstGeom>
          <a:noFill/>
        </p:spPr>
        <p:txBody>
          <a:bodyPr wrap="square" lIns="0" tIns="0" rIns="0" bIns="0" anchor="ctr">
            <a:noAutofit/>
          </a:bodyPr>
          <a:lstStyle/>
          <a:p>
            <a:pPr algn="l"/>
            <a:r>
              <a:rPr sz="2100" b="1" i="0">
                <a:solidFill>
                  <a:srgbClr val="FFFFFF"/>
                </a:solidFill>
                <a:latin typeface="Cambria"/>
              </a:rPr>
              <a:t>The Intelligent Hiring System brings resume analysis, aptitude and personality assessment, and candidate ranking onto one platform, making recruitment faster, more consistent and more objective while keeping HR in control of the final decision.</a:t>
            </a:r>
          </a:p>
        </p:txBody>
      </p:sp>
      <p:sp>
        <p:nvSpPr>
          <p:cNvPr id="7" name="Rounded Rectangle 6"/>
          <p:cNvSpPr/>
          <p:nvPr/>
        </p:nvSpPr>
        <p:spPr>
          <a:xfrm>
            <a:off x="640080" y="3903848"/>
            <a:ext cx="3465575" cy="1920240"/>
          </a:xfrm>
          <a:prstGeom prst="roundRect">
            <a:avLst>
              <a:gd name="adj" fmla="val 3809"/>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8" name="Oval 7"/>
          <p:cNvSpPr/>
          <p:nvPr/>
        </p:nvSpPr>
        <p:spPr>
          <a:xfrm>
            <a:off x="868680" y="4105016"/>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9" name="Picture 8" descr="image.png"/>
          <p:cNvPicPr>
            <a:picLocks noChangeAspect="1"/>
          </p:cNvPicPr>
          <p:nvPr/>
        </p:nvPicPr>
        <p:blipFill>
          <a:blip r:embed="rId2"/>
          <a:stretch>
            <a:fillRect/>
          </a:stretch>
        </p:blipFill>
        <p:spPr>
          <a:xfrm>
            <a:off x="968532" y="4204868"/>
            <a:ext cx="275783" cy="275783"/>
          </a:xfrm>
          <a:prstGeom prst="rect">
            <a:avLst/>
          </a:prstGeom>
        </p:spPr>
      </p:pic>
      <p:sp>
        <p:nvSpPr>
          <p:cNvPr id="10" name="TextBox 9"/>
          <p:cNvSpPr txBox="1"/>
          <p:nvPr/>
        </p:nvSpPr>
        <p:spPr>
          <a:xfrm>
            <a:off x="1481328" y="4105016"/>
            <a:ext cx="2414015" cy="475488"/>
          </a:xfrm>
          <a:prstGeom prst="rect">
            <a:avLst/>
          </a:prstGeom>
          <a:noFill/>
        </p:spPr>
        <p:txBody>
          <a:bodyPr wrap="square" lIns="0" tIns="0" rIns="0" bIns="0" anchor="ctr">
            <a:noAutofit/>
          </a:bodyPr>
          <a:lstStyle/>
          <a:p>
            <a:pPr algn="l"/>
            <a:r>
              <a:rPr sz="1650" b="1" i="0">
                <a:solidFill>
                  <a:srgbClr val="1B1F3B"/>
                </a:solidFill>
                <a:latin typeface="Calibri"/>
              </a:rPr>
              <a:t>Automated Screening</a:t>
            </a:r>
          </a:p>
        </p:txBody>
      </p:sp>
      <p:sp>
        <p:nvSpPr>
          <p:cNvPr id="11" name="TextBox 10"/>
          <p:cNvSpPr txBox="1"/>
          <p:nvPr/>
        </p:nvSpPr>
        <p:spPr>
          <a:xfrm>
            <a:off x="914400" y="4745096"/>
            <a:ext cx="2916935" cy="960120"/>
          </a:xfrm>
          <a:prstGeom prst="rect">
            <a:avLst/>
          </a:prstGeom>
          <a:noFill/>
        </p:spPr>
        <p:txBody>
          <a:bodyPr wrap="square" lIns="0" tIns="0" rIns="0" bIns="0" anchor="t">
            <a:noAutofit/>
          </a:bodyPr>
          <a:lstStyle/>
          <a:p>
            <a:pPr algn="l">
              <a:spcAft>
                <a:spcPts val="300"/>
              </a:spcAft>
            </a:pPr>
            <a:r>
              <a:rPr sz="1500" b="0" i="0">
                <a:solidFill>
                  <a:srgbClr val="0B1220"/>
                </a:solidFill>
                <a:latin typeface="Calibri"/>
              </a:rPr>
              <a:t>Less manual effort for HR teams.</a:t>
            </a:r>
          </a:p>
        </p:txBody>
      </p:sp>
      <p:sp>
        <p:nvSpPr>
          <p:cNvPr id="12" name="Rounded Rectangle 11"/>
          <p:cNvSpPr/>
          <p:nvPr/>
        </p:nvSpPr>
        <p:spPr>
          <a:xfrm>
            <a:off x="4361688" y="3903848"/>
            <a:ext cx="3465575" cy="1920240"/>
          </a:xfrm>
          <a:prstGeom prst="roundRect">
            <a:avLst>
              <a:gd name="adj" fmla="val 3809"/>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13" name="Oval 12"/>
          <p:cNvSpPr/>
          <p:nvPr/>
        </p:nvSpPr>
        <p:spPr>
          <a:xfrm>
            <a:off x="4590288" y="4105016"/>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14" name="Picture 13" descr="image.png"/>
          <p:cNvPicPr>
            <a:picLocks noChangeAspect="1"/>
          </p:cNvPicPr>
          <p:nvPr/>
        </p:nvPicPr>
        <p:blipFill>
          <a:blip r:embed="rId3"/>
          <a:stretch>
            <a:fillRect/>
          </a:stretch>
        </p:blipFill>
        <p:spPr>
          <a:xfrm>
            <a:off x="4690140" y="4204868"/>
            <a:ext cx="275783" cy="275783"/>
          </a:xfrm>
          <a:prstGeom prst="rect">
            <a:avLst/>
          </a:prstGeom>
        </p:spPr>
      </p:pic>
      <p:sp>
        <p:nvSpPr>
          <p:cNvPr id="15" name="TextBox 14"/>
          <p:cNvSpPr txBox="1"/>
          <p:nvPr/>
        </p:nvSpPr>
        <p:spPr>
          <a:xfrm>
            <a:off x="5202936" y="4105016"/>
            <a:ext cx="2414015" cy="475488"/>
          </a:xfrm>
          <a:prstGeom prst="rect">
            <a:avLst/>
          </a:prstGeom>
          <a:noFill/>
        </p:spPr>
        <p:txBody>
          <a:bodyPr wrap="square" lIns="0" tIns="0" rIns="0" bIns="0" anchor="ctr">
            <a:noAutofit/>
          </a:bodyPr>
          <a:lstStyle/>
          <a:p>
            <a:pPr algn="l"/>
            <a:r>
              <a:rPr sz="1650" b="1" i="0">
                <a:solidFill>
                  <a:srgbClr val="1B1F3B"/>
                </a:solidFill>
                <a:latin typeface="Calibri"/>
              </a:rPr>
              <a:t>Objective Scoring</a:t>
            </a:r>
          </a:p>
        </p:txBody>
      </p:sp>
      <p:sp>
        <p:nvSpPr>
          <p:cNvPr id="16" name="TextBox 15"/>
          <p:cNvSpPr txBox="1"/>
          <p:nvPr/>
        </p:nvSpPr>
        <p:spPr>
          <a:xfrm>
            <a:off x="4636007" y="4745096"/>
            <a:ext cx="2916935" cy="960120"/>
          </a:xfrm>
          <a:prstGeom prst="rect">
            <a:avLst/>
          </a:prstGeom>
          <a:noFill/>
        </p:spPr>
        <p:txBody>
          <a:bodyPr wrap="square" lIns="0" tIns="0" rIns="0" bIns="0" anchor="t">
            <a:noAutofit/>
          </a:bodyPr>
          <a:lstStyle/>
          <a:p>
            <a:pPr algn="l">
              <a:spcAft>
                <a:spcPts val="300"/>
              </a:spcAft>
            </a:pPr>
            <a:r>
              <a:rPr sz="1500" b="0" i="0">
                <a:solidFill>
                  <a:srgbClr val="0B1220"/>
                </a:solidFill>
                <a:latin typeface="Calibri"/>
              </a:rPr>
              <a:t>Measurable criteria for every candidate.</a:t>
            </a:r>
          </a:p>
        </p:txBody>
      </p:sp>
      <p:sp>
        <p:nvSpPr>
          <p:cNvPr id="17" name="Rounded Rectangle 16"/>
          <p:cNvSpPr/>
          <p:nvPr/>
        </p:nvSpPr>
        <p:spPr>
          <a:xfrm>
            <a:off x="8083295" y="3903848"/>
            <a:ext cx="3465575" cy="1920240"/>
          </a:xfrm>
          <a:prstGeom prst="roundRect">
            <a:avLst>
              <a:gd name="adj" fmla="val 3809"/>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18" name="Oval 17"/>
          <p:cNvSpPr/>
          <p:nvPr/>
        </p:nvSpPr>
        <p:spPr>
          <a:xfrm>
            <a:off x="8311895" y="4105016"/>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19" name="Picture 18" descr="image.png"/>
          <p:cNvPicPr>
            <a:picLocks noChangeAspect="1"/>
          </p:cNvPicPr>
          <p:nvPr/>
        </p:nvPicPr>
        <p:blipFill>
          <a:blip r:embed="rId4"/>
          <a:stretch>
            <a:fillRect/>
          </a:stretch>
        </p:blipFill>
        <p:spPr>
          <a:xfrm>
            <a:off x="8411748" y="4204868"/>
            <a:ext cx="275783" cy="275783"/>
          </a:xfrm>
          <a:prstGeom prst="rect">
            <a:avLst/>
          </a:prstGeom>
        </p:spPr>
      </p:pic>
      <p:sp>
        <p:nvSpPr>
          <p:cNvPr id="20" name="TextBox 19"/>
          <p:cNvSpPr txBox="1"/>
          <p:nvPr/>
        </p:nvSpPr>
        <p:spPr>
          <a:xfrm>
            <a:off x="8924543" y="4105016"/>
            <a:ext cx="2414015" cy="475488"/>
          </a:xfrm>
          <a:prstGeom prst="rect">
            <a:avLst/>
          </a:prstGeom>
          <a:noFill/>
        </p:spPr>
        <p:txBody>
          <a:bodyPr wrap="square" lIns="0" tIns="0" rIns="0" bIns="0" anchor="ctr">
            <a:noAutofit/>
          </a:bodyPr>
          <a:lstStyle/>
          <a:p>
            <a:pPr algn="l"/>
            <a:r>
              <a:rPr sz="1650" b="1" i="0">
                <a:solidFill>
                  <a:srgbClr val="1B1F3B"/>
                </a:solidFill>
                <a:latin typeface="Calibri"/>
              </a:rPr>
              <a:t>HR Decision Support</a:t>
            </a:r>
          </a:p>
        </p:txBody>
      </p:sp>
      <p:sp>
        <p:nvSpPr>
          <p:cNvPr id="21" name="TextBox 20"/>
          <p:cNvSpPr txBox="1"/>
          <p:nvPr/>
        </p:nvSpPr>
        <p:spPr>
          <a:xfrm>
            <a:off x="8357615" y="4745096"/>
            <a:ext cx="2916935" cy="960120"/>
          </a:xfrm>
          <a:prstGeom prst="rect">
            <a:avLst/>
          </a:prstGeom>
          <a:noFill/>
        </p:spPr>
        <p:txBody>
          <a:bodyPr wrap="square" lIns="0" tIns="0" rIns="0" bIns="0" anchor="t">
            <a:noAutofit/>
          </a:bodyPr>
          <a:lstStyle/>
          <a:p>
            <a:pPr algn="l">
              <a:spcAft>
                <a:spcPts val="300"/>
              </a:spcAft>
            </a:pPr>
            <a:r>
              <a:rPr sz="1500" b="0" i="0">
                <a:solidFill>
                  <a:srgbClr val="0B1220"/>
                </a:solidFill>
                <a:latin typeface="Calibri"/>
              </a:rPr>
              <a:t>Ranked, data-backed shortlists.</a:t>
            </a:r>
          </a:p>
        </p:txBody>
      </p:sp>
      <p:sp>
        <p:nvSpPr>
          <p:cNvPr id="22" name="TextBox 21"/>
          <p:cNvSpPr txBox="1"/>
          <p:nvPr/>
        </p:nvSpPr>
        <p:spPr>
          <a:xfrm>
            <a:off x="640080" y="6537960"/>
            <a:ext cx="2926080" cy="201168"/>
          </a:xfrm>
          <a:prstGeom prst="rect">
            <a:avLst/>
          </a:prstGeom>
          <a:noFill/>
        </p:spPr>
        <p:txBody>
          <a:bodyPr wrap="square" lIns="0" tIns="0" rIns="0" bIns="0" anchor="ctr">
            <a:noAutofit/>
          </a:bodyPr>
          <a:lstStyle/>
          <a:p>
            <a:pPr algn="l"/>
            <a:r>
              <a:rPr sz="1000" b="1" i="0">
                <a:solidFill>
                  <a:srgbClr val="002060"/>
                </a:solidFill>
                <a:latin typeface="Calibri"/>
              </a:rPr>
              <a:t>INTELLIGENT HIRING SYSTEM</a:t>
            </a:r>
          </a:p>
        </p:txBody>
      </p:sp>
      <p:sp>
        <p:nvSpPr>
          <p:cNvPr id="23" name="Oval 22"/>
          <p:cNvSpPr/>
          <p:nvPr/>
        </p:nvSpPr>
        <p:spPr>
          <a:xfrm>
            <a:off x="11256264" y="6492240"/>
            <a:ext cx="292608" cy="292608"/>
          </a:xfrm>
          <a:prstGeom prst="ellipse">
            <a:avLst/>
          </a:prstGeom>
          <a:solidFill>
            <a:srgbClr val="F4F7FE"/>
          </a:solidFill>
          <a:ln>
            <a:noFill/>
          </a:ln>
        </p:spPr>
        <p:txBody>
          <a:bodyPr rtlCol="0" anchor="ctr"/>
          <a:lstStyle/>
          <a:p>
            <a:pPr algn="ctr"/>
            <a:endParaRPr/>
          </a:p>
        </p:txBody>
      </p:sp>
      <p:sp>
        <p:nvSpPr>
          <p:cNvPr id="24" name="TextBox 23"/>
          <p:cNvSpPr txBox="1"/>
          <p:nvPr/>
        </p:nvSpPr>
        <p:spPr>
          <a:xfrm>
            <a:off x="11256264" y="6492240"/>
            <a:ext cx="292608" cy="292608"/>
          </a:xfrm>
          <a:prstGeom prst="rect">
            <a:avLst/>
          </a:prstGeom>
          <a:noFill/>
        </p:spPr>
        <p:txBody>
          <a:bodyPr wrap="square" lIns="0" tIns="0" rIns="0" bIns="0" anchor="ctr">
            <a:noAutofit/>
          </a:bodyPr>
          <a:lstStyle/>
          <a:p>
            <a:pPr algn="ctr"/>
            <a:r>
              <a:rPr sz="950" b="1" i="0" dirty="0">
                <a:solidFill>
                  <a:srgbClr val="1E2761"/>
                </a:solidFill>
                <a:latin typeface="Calibri"/>
              </a:rPr>
              <a:t>3</a:t>
            </a:r>
            <a:r>
              <a:rPr lang="en-US" sz="950" b="1" i="0" dirty="0">
                <a:solidFill>
                  <a:srgbClr val="1E2761"/>
                </a:solidFill>
                <a:latin typeface="Calibri"/>
              </a:rPr>
              <a:t>5</a:t>
            </a:r>
            <a:endParaRPr sz="950" b="1" i="0" dirty="0">
              <a:solidFill>
                <a:srgbClr val="1E2761"/>
              </a:solidFill>
              <a:latin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gradFill rotWithShape="1">
          <a:gsLst>
            <a:gs pos="0">
              <a:srgbClr val="FAFBFF"/>
            </a:gs>
            <a:gs pos="100000">
              <a:srgbClr val="E4ECFC"/>
            </a:gs>
          </a:gsLst>
          <a:lin ang="2700000" scaled="0"/>
        </a:gradFill>
        <a:effectLst/>
      </p:bgPr>
    </p:bg>
    <p:spTree>
      <p:nvGrpSpPr>
        <p:cNvPr id="1" name=""/>
        <p:cNvGrpSpPr/>
        <p:nvPr/>
      </p:nvGrpSpPr>
      <p:grpSpPr>
        <a:xfrm>
          <a:off x="0" y="0"/>
          <a:ext cx="0" cy="0"/>
          <a:chOff x="0" y="0"/>
          <a:chExt cx="0" cy="0"/>
        </a:xfrm>
      </p:grpSpPr>
      <p:sp>
        <p:nvSpPr>
          <p:cNvPr id="9001" name="Decor 9001"/>
          <p:cNvSpPr/>
          <p:nvPr/>
        </p:nvSpPr>
        <p:spPr>
          <a:xfrm>
            <a:off x="8300000" y="-2300000"/>
            <a:ext cx="5200000" cy="5200000"/>
          </a:xfrm>
          <a:prstGeom prst="ellipse">
            <a:avLst/>
          </a:prstGeom>
          <a:solidFill>
            <a:srgbClr val="4A5BC4">
              <a:alpha val="9000"/>
            </a:srgbClr>
          </a:solidFill>
          <a:ln>
            <a:noFill/>
          </a:ln>
        </p:spPr>
        <p:txBody>
          <a:bodyPr/>
          <a:lstStyle/>
          <a:p>
            <a:endParaRPr lang="en-US"/>
          </a:p>
        </p:txBody>
      </p:sp>
      <p:sp>
        <p:nvSpPr>
          <p:cNvPr id="9002" name="Decor 9002"/>
          <p:cNvSpPr/>
          <p:nvPr/>
        </p:nvSpPr>
        <p:spPr>
          <a:xfrm>
            <a:off x="9300000" y="-1500000"/>
            <a:ext cx="3600000" cy="3600000"/>
          </a:xfrm>
          <a:prstGeom prst="ellipse">
            <a:avLst/>
          </a:prstGeom>
          <a:noFill/>
          <a:ln w="19050">
            <a:solidFill>
              <a:srgbClr val="4A5BC4">
                <a:alpha val="22000"/>
              </a:srgbClr>
            </a:solidFill>
          </a:ln>
        </p:spPr>
        <p:txBody>
          <a:bodyPr/>
          <a:lstStyle/>
          <a:p>
            <a:endParaRPr lang="en-US"/>
          </a:p>
        </p:txBody>
      </p:sp>
      <p:sp>
        <p:nvSpPr>
          <p:cNvPr id="9003" name="Decor 9003"/>
          <p:cNvSpPr/>
          <p:nvPr/>
        </p:nvSpPr>
        <p:spPr>
          <a:xfrm>
            <a:off x="-1500000" y="5000000"/>
            <a:ext cx="3300000" cy="3300000"/>
          </a:xfrm>
          <a:prstGeom prst="ellipse">
            <a:avLst/>
          </a:prstGeom>
          <a:solidFill>
            <a:srgbClr val="22D3A6">
              <a:alpha val="9000"/>
            </a:srgbClr>
          </a:solidFill>
          <a:ln>
            <a:noFill/>
          </a:ln>
        </p:spPr>
        <p:txBody>
          <a:bodyPr/>
          <a:lstStyle/>
          <a:p>
            <a:endParaRPr lang="en-US"/>
          </a:p>
        </p:txBody>
      </p:sp>
      <p:sp>
        <p:nvSpPr>
          <p:cNvPr id="9004" name="Decor 9004"/>
          <p:cNvSpPr/>
          <p:nvPr/>
        </p:nvSpPr>
        <p:spPr>
          <a:xfrm>
            <a:off x="-900000" y="5600000"/>
            <a:ext cx="1900000" cy="1900000"/>
          </a:xfrm>
          <a:prstGeom prst="ellipse">
            <a:avLst/>
          </a:prstGeom>
          <a:noFill/>
          <a:ln w="19050">
            <a:solidFill>
              <a:srgbClr val="4A5BC4">
                <a:alpha val="14000"/>
              </a:srgbClr>
            </a:solidFill>
          </a:ln>
        </p:spPr>
        <p:txBody>
          <a:bodyPr/>
          <a:lstStyle/>
          <a:p>
            <a:endParaRPr lang="en-US"/>
          </a:p>
        </p:txBody>
      </p:sp>
      <p:sp>
        <p:nvSpPr>
          <p:cNvPr id="4" name="TextBox 3"/>
          <p:cNvSpPr txBox="1"/>
          <p:nvPr/>
        </p:nvSpPr>
        <p:spPr>
          <a:xfrm>
            <a:off x="640080" y="601901"/>
            <a:ext cx="10881360" cy="566928"/>
          </a:xfrm>
          <a:prstGeom prst="rect">
            <a:avLst/>
          </a:prstGeom>
          <a:noFill/>
        </p:spPr>
        <p:txBody>
          <a:bodyPr wrap="square" lIns="0" tIns="0" rIns="0" bIns="0" anchor="ctr">
            <a:noAutofit/>
          </a:bodyPr>
          <a:lstStyle/>
          <a:p>
            <a:pPr algn="l"/>
            <a:r>
              <a:rPr sz="3000" b="1" i="0">
                <a:solidFill>
                  <a:srgbClr val="1B1F3B"/>
                </a:solidFill>
                <a:latin typeface="Cambria"/>
              </a:rPr>
              <a:t>Future Scope</a:t>
            </a:r>
          </a:p>
        </p:txBody>
      </p:sp>
      <p:sp>
        <p:nvSpPr>
          <p:cNvPr id="5" name="Rounded Rectangle 4"/>
          <p:cNvSpPr/>
          <p:nvPr/>
        </p:nvSpPr>
        <p:spPr>
          <a:xfrm>
            <a:off x="640080" y="1415717"/>
            <a:ext cx="3465575" cy="2148840"/>
          </a:xfrm>
          <a:prstGeom prst="roundRect">
            <a:avLst>
              <a:gd name="adj" fmla="val 3404"/>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6" name="Oval 5"/>
          <p:cNvSpPr/>
          <p:nvPr/>
        </p:nvSpPr>
        <p:spPr>
          <a:xfrm>
            <a:off x="868680" y="1616885"/>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7" name="Picture 6" descr="image.png"/>
          <p:cNvPicPr>
            <a:picLocks noChangeAspect="1"/>
          </p:cNvPicPr>
          <p:nvPr/>
        </p:nvPicPr>
        <p:blipFill>
          <a:blip r:embed="rId2"/>
          <a:stretch>
            <a:fillRect/>
          </a:stretch>
        </p:blipFill>
        <p:spPr>
          <a:xfrm>
            <a:off x="968532" y="1716737"/>
            <a:ext cx="275783" cy="275783"/>
          </a:xfrm>
          <a:prstGeom prst="rect">
            <a:avLst/>
          </a:prstGeom>
        </p:spPr>
      </p:pic>
      <p:sp>
        <p:nvSpPr>
          <p:cNvPr id="8" name="TextBox 7"/>
          <p:cNvSpPr txBox="1"/>
          <p:nvPr/>
        </p:nvSpPr>
        <p:spPr>
          <a:xfrm>
            <a:off x="1481328" y="1616885"/>
            <a:ext cx="2414015" cy="475488"/>
          </a:xfrm>
          <a:prstGeom prst="rect">
            <a:avLst/>
          </a:prstGeom>
          <a:noFill/>
        </p:spPr>
        <p:txBody>
          <a:bodyPr wrap="square" lIns="0" tIns="0" rIns="0" bIns="0" anchor="ctr">
            <a:noAutofit/>
          </a:bodyPr>
          <a:lstStyle/>
          <a:p>
            <a:pPr algn="l"/>
            <a:r>
              <a:rPr sz="1650" b="1" i="0">
                <a:solidFill>
                  <a:srgbClr val="1B1F3B"/>
                </a:solidFill>
                <a:latin typeface="Calibri"/>
              </a:rPr>
              <a:t>Wider Job Roles</a:t>
            </a:r>
          </a:p>
        </p:txBody>
      </p:sp>
      <p:sp>
        <p:nvSpPr>
          <p:cNvPr id="9" name="TextBox 8"/>
          <p:cNvSpPr txBox="1"/>
          <p:nvPr/>
        </p:nvSpPr>
        <p:spPr>
          <a:xfrm>
            <a:off x="914400" y="2256965"/>
            <a:ext cx="2916935" cy="1188720"/>
          </a:xfrm>
          <a:prstGeom prst="rect">
            <a:avLst/>
          </a:prstGeom>
          <a:noFill/>
        </p:spPr>
        <p:txBody>
          <a:bodyPr wrap="square" lIns="0" tIns="0" rIns="0" bIns="0" anchor="t">
            <a:noAutofit/>
          </a:bodyPr>
          <a:lstStyle/>
          <a:p>
            <a:pPr algn="l">
              <a:spcAft>
                <a:spcPts val="300"/>
              </a:spcAft>
            </a:pPr>
            <a:r>
              <a:rPr sz="1500" b="0" i="0">
                <a:solidFill>
                  <a:srgbClr val="0B1220"/>
                </a:solidFill>
                <a:latin typeface="Calibri"/>
              </a:rPr>
              <a:t>Extend question banks and criteria to more job roles and larger applicant volumes.</a:t>
            </a:r>
          </a:p>
        </p:txBody>
      </p:sp>
      <p:sp>
        <p:nvSpPr>
          <p:cNvPr id="10" name="Rounded Rectangle 9"/>
          <p:cNvSpPr/>
          <p:nvPr/>
        </p:nvSpPr>
        <p:spPr>
          <a:xfrm>
            <a:off x="4361688" y="1415717"/>
            <a:ext cx="3465575" cy="2148840"/>
          </a:xfrm>
          <a:prstGeom prst="roundRect">
            <a:avLst>
              <a:gd name="adj" fmla="val 3404"/>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11" name="Oval 10"/>
          <p:cNvSpPr/>
          <p:nvPr/>
        </p:nvSpPr>
        <p:spPr>
          <a:xfrm>
            <a:off x="4590288" y="1616885"/>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12" name="Picture 11" descr="image.png"/>
          <p:cNvPicPr>
            <a:picLocks noChangeAspect="1"/>
          </p:cNvPicPr>
          <p:nvPr/>
        </p:nvPicPr>
        <p:blipFill>
          <a:blip r:embed="rId3"/>
          <a:stretch>
            <a:fillRect/>
          </a:stretch>
        </p:blipFill>
        <p:spPr>
          <a:xfrm>
            <a:off x="4690140" y="1716737"/>
            <a:ext cx="275783" cy="275783"/>
          </a:xfrm>
          <a:prstGeom prst="rect">
            <a:avLst/>
          </a:prstGeom>
        </p:spPr>
      </p:pic>
      <p:sp>
        <p:nvSpPr>
          <p:cNvPr id="13" name="TextBox 12"/>
          <p:cNvSpPr txBox="1"/>
          <p:nvPr/>
        </p:nvSpPr>
        <p:spPr>
          <a:xfrm>
            <a:off x="5202936" y="1616885"/>
            <a:ext cx="2414015" cy="475488"/>
          </a:xfrm>
          <a:prstGeom prst="rect">
            <a:avLst/>
          </a:prstGeom>
          <a:noFill/>
        </p:spPr>
        <p:txBody>
          <a:bodyPr wrap="square" lIns="0" tIns="0" rIns="0" bIns="0" anchor="ctr">
            <a:noAutofit/>
          </a:bodyPr>
          <a:lstStyle/>
          <a:p>
            <a:pPr algn="l"/>
            <a:r>
              <a:rPr sz="1650" b="1" i="0">
                <a:solidFill>
                  <a:srgbClr val="1B1F3B"/>
                </a:solidFill>
                <a:latin typeface="Calibri"/>
              </a:rPr>
              <a:t>Advanced Resume Analysis</a:t>
            </a:r>
          </a:p>
        </p:txBody>
      </p:sp>
      <p:sp>
        <p:nvSpPr>
          <p:cNvPr id="14" name="TextBox 13"/>
          <p:cNvSpPr txBox="1"/>
          <p:nvPr/>
        </p:nvSpPr>
        <p:spPr>
          <a:xfrm>
            <a:off x="4636007" y="2256965"/>
            <a:ext cx="2916935" cy="1188720"/>
          </a:xfrm>
          <a:prstGeom prst="rect">
            <a:avLst/>
          </a:prstGeom>
          <a:noFill/>
        </p:spPr>
        <p:txBody>
          <a:bodyPr wrap="square" lIns="0" tIns="0" rIns="0" bIns="0" anchor="t">
            <a:noAutofit/>
          </a:bodyPr>
          <a:lstStyle/>
          <a:p>
            <a:pPr algn="l">
              <a:spcAft>
                <a:spcPts val="300"/>
              </a:spcAft>
            </a:pPr>
            <a:r>
              <a:rPr sz="1500" b="0" i="0">
                <a:solidFill>
                  <a:srgbClr val="0B1220"/>
                </a:solidFill>
                <a:latin typeface="Calibri"/>
              </a:rPr>
              <a:t>Use NLP and LLM-based techniques for deeper understanding of resumes.</a:t>
            </a:r>
          </a:p>
        </p:txBody>
      </p:sp>
      <p:sp>
        <p:nvSpPr>
          <p:cNvPr id="15" name="Rounded Rectangle 14"/>
          <p:cNvSpPr/>
          <p:nvPr/>
        </p:nvSpPr>
        <p:spPr>
          <a:xfrm>
            <a:off x="8083295" y="1415717"/>
            <a:ext cx="3465575" cy="2148840"/>
          </a:xfrm>
          <a:prstGeom prst="roundRect">
            <a:avLst>
              <a:gd name="adj" fmla="val 3404"/>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16" name="Oval 15"/>
          <p:cNvSpPr/>
          <p:nvPr/>
        </p:nvSpPr>
        <p:spPr>
          <a:xfrm>
            <a:off x="8311895" y="1616885"/>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17" name="Picture 16" descr="image.png"/>
          <p:cNvPicPr>
            <a:picLocks noChangeAspect="1"/>
          </p:cNvPicPr>
          <p:nvPr/>
        </p:nvPicPr>
        <p:blipFill>
          <a:blip r:embed="rId4"/>
          <a:stretch>
            <a:fillRect/>
          </a:stretch>
        </p:blipFill>
        <p:spPr>
          <a:xfrm>
            <a:off x="8411748" y="1716737"/>
            <a:ext cx="275783" cy="275783"/>
          </a:xfrm>
          <a:prstGeom prst="rect">
            <a:avLst/>
          </a:prstGeom>
        </p:spPr>
      </p:pic>
      <p:sp>
        <p:nvSpPr>
          <p:cNvPr id="18" name="TextBox 17"/>
          <p:cNvSpPr txBox="1"/>
          <p:nvPr/>
        </p:nvSpPr>
        <p:spPr>
          <a:xfrm>
            <a:off x="8924543" y="1616885"/>
            <a:ext cx="2414015" cy="475488"/>
          </a:xfrm>
          <a:prstGeom prst="rect">
            <a:avLst/>
          </a:prstGeom>
          <a:noFill/>
        </p:spPr>
        <p:txBody>
          <a:bodyPr wrap="square" lIns="0" tIns="0" rIns="0" bIns="0" anchor="ctr">
            <a:noAutofit/>
          </a:bodyPr>
          <a:lstStyle/>
          <a:p>
            <a:pPr algn="l"/>
            <a:r>
              <a:rPr sz="1650" b="1" i="0">
                <a:solidFill>
                  <a:srgbClr val="1B1F3B"/>
                </a:solidFill>
                <a:latin typeface="Calibri"/>
              </a:rPr>
              <a:t>Explainable Scoring</a:t>
            </a:r>
          </a:p>
        </p:txBody>
      </p:sp>
      <p:sp>
        <p:nvSpPr>
          <p:cNvPr id="19" name="TextBox 18"/>
          <p:cNvSpPr txBox="1"/>
          <p:nvPr/>
        </p:nvSpPr>
        <p:spPr>
          <a:xfrm>
            <a:off x="8357615" y="2256965"/>
            <a:ext cx="2916935" cy="1188720"/>
          </a:xfrm>
          <a:prstGeom prst="rect">
            <a:avLst/>
          </a:prstGeom>
          <a:noFill/>
        </p:spPr>
        <p:txBody>
          <a:bodyPr wrap="square" lIns="0" tIns="0" rIns="0" bIns="0" anchor="t">
            <a:noAutofit/>
          </a:bodyPr>
          <a:lstStyle/>
          <a:p>
            <a:pPr algn="l">
              <a:spcAft>
                <a:spcPts val="300"/>
              </a:spcAft>
            </a:pPr>
            <a:r>
              <a:rPr sz="1500" b="0" i="0">
                <a:solidFill>
                  <a:srgbClr val="0B1220"/>
                </a:solidFill>
                <a:latin typeface="Calibri"/>
              </a:rPr>
              <a:t>Show why a candidate received a score to improve transparency and fairness.</a:t>
            </a:r>
          </a:p>
        </p:txBody>
      </p:sp>
      <p:sp>
        <p:nvSpPr>
          <p:cNvPr id="20" name="Rounded Rectangle 19"/>
          <p:cNvSpPr/>
          <p:nvPr/>
        </p:nvSpPr>
        <p:spPr>
          <a:xfrm>
            <a:off x="640080" y="3838877"/>
            <a:ext cx="3465575" cy="2148840"/>
          </a:xfrm>
          <a:prstGeom prst="roundRect">
            <a:avLst>
              <a:gd name="adj" fmla="val 3404"/>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21" name="Oval 20"/>
          <p:cNvSpPr/>
          <p:nvPr/>
        </p:nvSpPr>
        <p:spPr>
          <a:xfrm>
            <a:off x="868680" y="4040045"/>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22" name="Picture 21" descr="image.png"/>
          <p:cNvPicPr>
            <a:picLocks noChangeAspect="1"/>
          </p:cNvPicPr>
          <p:nvPr/>
        </p:nvPicPr>
        <p:blipFill>
          <a:blip r:embed="rId5"/>
          <a:stretch>
            <a:fillRect/>
          </a:stretch>
        </p:blipFill>
        <p:spPr>
          <a:xfrm>
            <a:off x="968532" y="4139897"/>
            <a:ext cx="275783" cy="275783"/>
          </a:xfrm>
          <a:prstGeom prst="rect">
            <a:avLst/>
          </a:prstGeom>
        </p:spPr>
      </p:pic>
      <p:sp>
        <p:nvSpPr>
          <p:cNvPr id="23" name="TextBox 22"/>
          <p:cNvSpPr txBox="1"/>
          <p:nvPr/>
        </p:nvSpPr>
        <p:spPr>
          <a:xfrm>
            <a:off x="1481328" y="4040045"/>
            <a:ext cx="2414015" cy="475488"/>
          </a:xfrm>
          <a:prstGeom prst="rect">
            <a:avLst/>
          </a:prstGeom>
          <a:noFill/>
        </p:spPr>
        <p:txBody>
          <a:bodyPr wrap="square" lIns="0" tIns="0" rIns="0" bIns="0" anchor="ctr">
            <a:noAutofit/>
          </a:bodyPr>
          <a:lstStyle/>
          <a:p>
            <a:pPr algn="l"/>
            <a:r>
              <a:rPr sz="1650" b="1" i="0">
                <a:solidFill>
                  <a:srgbClr val="1B1F3B"/>
                </a:solidFill>
                <a:latin typeface="Calibri"/>
              </a:rPr>
              <a:t>Portal Integration</a:t>
            </a:r>
          </a:p>
        </p:txBody>
      </p:sp>
      <p:sp>
        <p:nvSpPr>
          <p:cNvPr id="24" name="TextBox 23"/>
          <p:cNvSpPr txBox="1"/>
          <p:nvPr/>
        </p:nvSpPr>
        <p:spPr>
          <a:xfrm>
            <a:off x="914400" y="4680125"/>
            <a:ext cx="2916935" cy="1188720"/>
          </a:xfrm>
          <a:prstGeom prst="rect">
            <a:avLst/>
          </a:prstGeom>
          <a:noFill/>
        </p:spPr>
        <p:txBody>
          <a:bodyPr wrap="square" lIns="0" tIns="0" rIns="0" bIns="0" anchor="t">
            <a:noAutofit/>
          </a:bodyPr>
          <a:lstStyle/>
          <a:p>
            <a:pPr algn="l">
              <a:spcAft>
                <a:spcPts val="300"/>
              </a:spcAft>
            </a:pPr>
            <a:r>
              <a:rPr sz="1500" b="0" i="0">
                <a:solidFill>
                  <a:srgbClr val="0B1220"/>
                </a:solidFill>
                <a:latin typeface="Calibri"/>
              </a:rPr>
              <a:t>Connect with job portals and HR tools for end-to-end hiring.</a:t>
            </a:r>
          </a:p>
        </p:txBody>
      </p:sp>
      <p:sp>
        <p:nvSpPr>
          <p:cNvPr id="25" name="Rounded Rectangle 24"/>
          <p:cNvSpPr/>
          <p:nvPr/>
        </p:nvSpPr>
        <p:spPr>
          <a:xfrm>
            <a:off x="4361688" y="3838877"/>
            <a:ext cx="3465575" cy="2148840"/>
          </a:xfrm>
          <a:prstGeom prst="roundRect">
            <a:avLst>
              <a:gd name="adj" fmla="val 3404"/>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26" name="Oval 25"/>
          <p:cNvSpPr/>
          <p:nvPr/>
        </p:nvSpPr>
        <p:spPr>
          <a:xfrm>
            <a:off x="4590288" y="4040045"/>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27" name="Picture 26" descr="image.png"/>
          <p:cNvPicPr>
            <a:picLocks noChangeAspect="1"/>
          </p:cNvPicPr>
          <p:nvPr/>
        </p:nvPicPr>
        <p:blipFill>
          <a:blip r:embed="rId6"/>
          <a:stretch>
            <a:fillRect/>
          </a:stretch>
        </p:blipFill>
        <p:spPr>
          <a:xfrm>
            <a:off x="4690140" y="4139897"/>
            <a:ext cx="275783" cy="275783"/>
          </a:xfrm>
          <a:prstGeom prst="rect">
            <a:avLst/>
          </a:prstGeom>
        </p:spPr>
      </p:pic>
      <p:sp>
        <p:nvSpPr>
          <p:cNvPr id="28" name="TextBox 27"/>
          <p:cNvSpPr txBox="1"/>
          <p:nvPr/>
        </p:nvSpPr>
        <p:spPr>
          <a:xfrm>
            <a:off x="5202936" y="4040045"/>
            <a:ext cx="2414015" cy="475488"/>
          </a:xfrm>
          <a:prstGeom prst="rect">
            <a:avLst/>
          </a:prstGeom>
          <a:noFill/>
        </p:spPr>
        <p:txBody>
          <a:bodyPr wrap="square" lIns="0" tIns="0" rIns="0" bIns="0" anchor="ctr">
            <a:noAutofit/>
          </a:bodyPr>
          <a:lstStyle/>
          <a:p>
            <a:pPr algn="l"/>
            <a:r>
              <a:rPr sz="1650" b="1" i="0">
                <a:solidFill>
                  <a:srgbClr val="1B1F3B"/>
                </a:solidFill>
                <a:latin typeface="Calibri"/>
              </a:rPr>
              <a:t>Interview Support</a:t>
            </a:r>
          </a:p>
        </p:txBody>
      </p:sp>
      <p:sp>
        <p:nvSpPr>
          <p:cNvPr id="29" name="TextBox 28"/>
          <p:cNvSpPr txBox="1"/>
          <p:nvPr/>
        </p:nvSpPr>
        <p:spPr>
          <a:xfrm>
            <a:off x="4636007" y="4680125"/>
            <a:ext cx="2916935" cy="1188720"/>
          </a:xfrm>
          <a:prstGeom prst="rect">
            <a:avLst/>
          </a:prstGeom>
          <a:noFill/>
        </p:spPr>
        <p:txBody>
          <a:bodyPr wrap="square" lIns="0" tIns="0" rIns="0" bIns="0" anchor="t">
            <a:noAutofit/>
          </a:bodyPr>
          <a:lstStyle/>
          <a:p>
            <a:pPr algn="l">
              <a:spcAft>
                <a:spcPts val="300"/>
              </a:spcAft>
            </a:pPr>
            <a:r>
              <a:rPr sz="1500" b="0" i="0">
                <a:solidFill>
                  <a:srgbClr val="0B1220"/>
                </a:solidFill>
                <a:latin typeface="Calibri"/>
              </a:rPr>
              <a:t>Add interview scheduling and proctored online assessments.</a:t>
            </a:r>
          </a:p>
        </p:txBody>
      </p:sp>
      <p:sp>
        <p:nvSpPr>
          <p:cNvPr id="30" name="Rounded Rectangle 29"/>
          <p:cNvSpPr/>
          <p:nvPr/>
        </p:nvSpPr>
        <p:spPr>
          <a:xfrm>
            <a:off x="8083295" y="3838877"/>
            <a:ext cx="3465575" cy="2148840"/>
          </a:xfrm>
          <a:prstGeom prst="roundRect">
            <a:avLst>
              <a:gd name="adj" fmla="val 3404"/>
            </a:avLst>
          </a:prstGeom>
          <a:solidFill>
            <a:srgbClr val="FFFFFF"/>
          </a:solidFill>
          <a:ln w="9525">
            <a:solidFill>
              <a:srgbClr val="C9D3EE"/>
            </a:solidFill>
          </a:ln>
          <a:effectLst>
            <a:outerShdw blurRad="203200" dist="63500" dir="5400000" algn="t" rotWithShape="0">
              <a:srgbClr val="1E2761">
                <a:alpha val="16000"/>
              </a:srgbClr>
            </a:outerShdw>
          </a:effectLst>
        </p:spPr>
        <p:txBody>
          <a:bodyPr rtlCol="0" anchor="ctr"/>
          <a:lstStyle/>
          <a:p>
            <a:pPr algn="ctr"/>
            <a:endParaRPr/>
          </a:p>
        </p:txBody>
      </p:sp>
      <p:sp>
        <p:nvSpPr>
          <p:cNvPr id="31" name="Oval 30"/>
          <p:cNvSpPr/>
          <p:nvPr/>
        </p:nvSpPr>
        <p:spPr>
          <a:xfrm>
            <a:off x="8311895" y="4040045"/>
            <a:ext cx="475488" cy="475488"/>
          </a:xfrm>
          <a:prstGeom prst="ellipse">
            <a:avLst/>
          </a:prstGeom>
          <a:gradFill rotWithShape="1">
            <a:gsLst>
              <a:gs pos="0">
                <a:srgbClr val="1E2761"/>
              </a:gs>
              <a:gs pos="100000">
                <a:srgbClr val="4A5BC4"/>
              </a:gs>
            </a:gsLst>
            <a:lin ang="2700000" scaled="0"/>
          </a:gradFill>
          <a:ln>
            <a:noFill/>
          </a:ln>
        </p:spPr>
        <p:txBody>
          <a:bodyPr rtlCol="0" anchor="ctr"/>
          <a:lstStyle/>
          <a:p>
            <a:pPr algn="ctr"/>
            <a:endParaRPr/>
          </a:p>
        </p:txBody>
      </p:sp>
      <p:pic>
        <p:nvPicPr>
          <p:cNvPr id="32" name="Picture 31" descr="image.png"/>
          <p:cNvPicPr>
            <a:picLocks noChangeAspect="1"/>
          </p:cNvPicPr>
          <p:nvPr/>
        </p:nvPicPr>
        <p:blipFill>
          <a:blip r:embed="rId7"/>
          <a:stretch>
            <a:fillRect/>
          </a:stretch>
        </p:blipFill>
        <p:spPr>
          <a:xfrm>
            <a:off x="8411748" y="4139897"/>
            <a:ext cx="275783" cy="275783"/>
          </a:xfrm>
          <a:prstGeom prst="rect">
            <a:avLst/>
          </a:prstGeom>
        </p:spPr>
      </p:pic>
      <p:sp>
        <p:nvSpPr>
          <p:cNvPr id="33" name="TextBox 32"/>
          <p:cNvSpPr txBox="1"/>
          <p:nvPr/>
        </p:nvSpPr>
        <p:spPr>
          <a:xfrm>
            <a:off x="8924543" y="4040045"/>
            <a:ext cx="2414015" cy="475488"/>
          </a:xfrm>
          <a:prstGeom prst="rect">
            <a:avLst/>
          </a:prstGeom>
          <a:noFill/>
        </p:spPr>
        <p:txBody>
          <a:bodyPr wrap="square" lIns="0" tIns="0" rIns="0" bIns="0" anchor="ctr">
            <a:noAutofit/>
          </a:bodyPr>
          <a:lstStyle/>
          <a:p>
            <a:pPr algn="l"/>
            <a:r>
              <a:rPr sz="1650" b="1" i="0">
                <a:solidFill>
                  <a:srgbClr val="1B1F3B"/>
                </a:solidFill>
                <a:latin typeface="Calibri"/>
              </a:rPr>
              <a:t>Hiring Analytics</a:t>
            </a:r>
          </a:p>
        </p:txBody>
      </p:sp>
      <p:sp>
        <p:nvSpPr>
          <p:cNvPr id="34" name="TextBox 33"/>
          <p:cNvSpPr txBox="1"/>
          <p:nvPr/>
        </p:nvSpPr>
        <p:spPr>
          <a:xfrm>
            <a:off x="8357615" y="4680125"/>
            <a:ext cx="2916935" cy="1188720"/>
          </a:xfrm>
          <a:prstGeom prst="rect">
            <a:avLst/>
          </a:prstGeom>
          <a:noFill/>
        </p:spPr>
        <p:txBody>
          <a:bodyPr wrap="square" lIns="0" tIns="0" rIns="0" bIns="0" anchor="t">
            <a:noAutofit/>
          </a:bodyPr>
          <a:lstStyle/>
          <a:p>
            <a:pPr algn="l">
              <a:spcAft>
                <a:spcPts val="300"/>
              </a:spcAft>
            </a:pPr>
            <a:r>
              <a:rPr sz="1500" b="0" i="0">
                <a:solidFill>
                  <a:srgbClr val="0B1220"/>
                </a:solidFill>
                <a:latin typeface="Calibri"/>
              </a:rPr>
              <a:t>Reports and trends from hiring data to improve the process over time.</a:t>
            </a:r>
          </a:p>
        </p:txBody>
      </p:sp>
      <p:sp>
        <p:nvSpPr>
          <p:cNvPr id="35" name="TextBox 34"/>
          <p:cNvSpPr txBox="1"/>
          <p:nvPr/>
        </p:nvSpPr>
        <p:spPr>
          <a:xfrm>
            <a:off x="640080" y="6537960"/>
            <a:ext cx="2926080" cy="201168"/>
          </a:xfrm>
          <a:prstGeom prst="rect">
            <a:avLst/>
          </a:prstGeom>
          <a:noFill/>
        </p:spPr>
        <p:txBody>
          <a:bodyPr wrap="square" lIns="0" tIns="0" rIns="0" bIns="0" anchor="ctr">
            <a:noAutofit/>
          </a:bodyPr>
          <a:lstStyle/>
          <a:p>
            <a:pPr algn="l"/>
            <a:r>
              <a:rPr sz="1000" b="1" i="0">
                <a:solidFill>
                  <a:srgbClr val="002060"/>
                </a:solidFill>
                <a:latin typeface="Calibri"/>
              </a:rPr>
              <a:t>INTELLIGENT HIRING SYSTEM</a:t>
            </a:r>
          </a:p>
        </p:txBody>
      </p:sp>
      <p:sp>
        <p:nvSpPr>
          <p:cNvPr id="36" name="Oval 35"/>
          <p:cNvSpPr/>
          <p:nvPr/>
        </p:nvSpPr>
        <p:spPr>
          <a:xfrm>
            <a:off x="11256264" y="6492240"/>
            <a:ext cx="292608" cy="292608"/>
          </a:xfrm>
          <a:prstGeom prst="ellipse">
            <a:avLst/>
          </a:prstGeom>
          <a:solidFill>
            <a:srgbClr val="F4F7FE"/>
          </a:solidFill>
          <a:ln>
            <a:noFill/>
          </a:ln>
        </p:spPr>
        <p:txBody>
          <a:bodyPr rtlCol="0" anchor="ctr"/>
          <a:lstStyle/>
          <a:p>
            <a:pPr algn="ctr"/>
            <a:endParaRPr/>
          </a:p>
        </p:txBody>
      </p:sp>
      <p:sp>
        <p:nvSpPr>
          <p:cNvPr id="37" name="TextBox 36"/>
          <p:cNvSpPr txBox="1"/>
          <p:nvPr/>
        </p:nvSpPr>
        <p:spPr>
          <a:xfrm>
            <a:off x="11256264" y="6492240"/>
            <a:ext cx="292608" cy="292608"/>
          </a:xfrm>
          <a:prstGeom prst="rect">
            <a:avLst/>
          </a:prstGeom>
          <a:noFill/>
        </p:spPr>
        <p:txBody>
          <a:bodyPr wrap="square" lIns="0" tIns="0" rIns="0" bIns="0" anchor="ctr">
            <a:noAutofit/>
          </a:bodyPr>
          <a:lstStyle/>
          <a:p>
            <a:pPr algn="ctr"/>
            <a:r>
              <a:rPr sz="950" b="1" i="0" dirty="0">
                <a:solidFill>
                  <a:srgbClr val="1E2761"/>
                </a:solidFill>
                <a:latin typeface="Calibri"/>
              </a:rPr>
              <a:t>3</a:t>
            </a:r>
            <a:r>
              <a:rPr lang="en-US" sz="950" b="1" i="0" dirty="0">
                <a:solidFill>
                  <a:srgbClr val="1E2761"/>
                </a:solidFill>
                <a:latin typeface="Calibri"/>
              </a:rPr>
              <a:t>6</a:t>
            </a:r>
            <a:endParaRPr sz="950" b="1" i="0" dirty="0">
              <a:solidFill>
                <a:srgbClr val="1E2761"/>
              </a:solidFill>
              <a:latin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gradFill rotWithShape="1">
          <a:gsLst>
            <a:gs pos="0">
              <a:srgbClr val="FAFBFF"/>
            </a:gs>
            <a:gs pos="100000">
              <a:srgbClr val="E4ECFC"/>
            </a:gs>
          </a:gsLst>
          <a:lin ang="2700000" scaled="0"/>
        </a:gradFill>
        <a:effectLst/>
      </p:bgPr>
    </p:bg>
    <p:spTree>
      <p:nvGrpSpPr>
        <p:cNvPr id="1" name=""/>
        <p:cNvGrpSpPr/>
        <p:nvPr/>
      </p:nvGrpSpPr>
      <p:grpSpPr>
        <a:xfrm>
          <a:off x="0" y="0"/>
          <a:ext cx="0" cy="0"/>
          <a:chOff x="0" y="0"/>
          <a:chExt cx="0" cy="0"/>
        </a:xfrm>
      </p:grpSpPr>
      <p:sp>
        <p:nvSpPr>
          <p:cNvPr id="9001" name="Decor 9001"/>
          <p:cNvSpPr/>
          <p:nvPr/>
        </p:nvSpPr>
        <p:spPr>
          <a:xfrm>
            <a:off x="8300000" y="-2300000"/>
            <a:ext cx="5200000" cy="5200000"/>
          </a:xfrm>
          <a:prstGeom prst="ellipse">
            <a:avLst/>
          </a:prstGeom>
          <a:solidFill>
            <a:srgbClr val="4A5BC4">
              <a:alpha val="9000"/>
            </a:srgbClr>
          </a:solidFill>
          <a:ln>
            <a:noFill/>
          </a:ln>
        </p:spPr>
        <p:txBody>
          <a:bodyPr/>
          <a:lstStyle/>
          <a:p>
            <a:endParaRPr lang="en-US"/>
          </a:p>
        </p:txBody>
      </p:sp>
      <p:sp>
        <p:nvSpPr>
          <p:cNvPr id="9002" name="Decor 9002"/>
          <p:cNvSpPr/>
          <p:nvPr/>
        </p:nvSpPr>
        <p:spPr>
          <a:xfrm>
            <a:off x="9300000" y="-1500000"/>
            <a:ext cx="3600000" cy="3600000"/>
          </a:xfrm>
          <a:prstGeom prst="ellipse">
            <a:avLst/>
          </a:prstGeom>
          <a:noFill/>
          <a:ln w="19050">
            <a:solidFill>
              <a:srgbClr val="4A5BC4">
                <a:alpha val="22000"/>
              </a:srgbClr>
            </a:solidFill>
          </a:ln>
        </p:spPr>
        <p:txBody>
          <a:bodyPr/>
          <a:lstStyle/>
          <a:p>
            <a:endParaRPr lang="en-US"/>
          </a:p>
        </p:txBody>
      </p:sp>
      <p:sp>
        <p:nvSpPr>
          <p:cNvPr id="9003" name="Decor 9003"/>
          <p:cNvSpPr/>
          <p:nvPr/>
        </p:nvSpPr>
        <p:spPr>
          <a:xfrm>
            <a:off x="-1500000" y="5000000"/>
            <a:ext cx="3300000" cy="3300000"/>
          </a:xfrm>
          <a:prstGeom prst="ellipse">
            <a:avLst/>
          </a:prstGeom>
          <a:solidFill>
            <a:srgbClr val="22D3A6">
              <a:alpha val="9000"/>
            </a:srgbClr>
          </a:solidFill>
          <a:ln>
            <a:noFill/>
          </a:ln>
        </p:spPr>
        <p:txBody>
          <a:bodyPr/>
          <a:lstStyle/>
          <a:p>
            <a:endParaRPr lang="en-US"/>
          </a:p>
        </p:txBody>
      </p:sp>
      <p:sp>
        <p:nvSpPr>
          <p:cNvPr id="9004" name="Decor 9004"/>
          <p:cNvSpPr/>
          <p:nvPr/>
        </p:nvSpPr>
        <p:spPr>
          <a:xfrm>
            <a:off x="-900000" y="5600000"/>
            <a:ext cx="1900000" cy="1900000"/>
          </a:xfrm>
          <a:prstGeom prst="ellipse">
            <a:avLst/>
          </a:prstGeom>
          <a:noFill/>
          <a:ln w="19050">
            <a:solidFill>
              <a:srgbClr val="4A5BC4">
                <a:alpha val="14000"/>
              </a:srgbClr>
            </a:solidFill>
          </a:ln>
        </p:spPr>
        <p:txBody>
          <a:bodyPr/>
          <a:lstStyle/>
          <a:p>
            <a:endParaRPr lang="en-US"/>
          </a:p>
        </p:txBody>
      </p:sp>
      <p:sp>
        <p:nvSpPr>
          <p:cNvPr id="2" name="Rounded Rectangle 1"/>
          <p:cNvSpPr/>
          <p:nvPr/>
        </p:nvSpPr>
        <p:spPr>
          <a:xfrm>
            <a:off x="640080" y="384048"/>
            <a:ext cx="1508760" cy="310896"/>
          </a:xfrm>
          <a:prstGeom prst="roundRect">
            <a:avLst>
              <a:gd name="adj" fmla="val 50000"/>
            </a:avLst>
          </a:prstGeom>
          <a:gradFill rotWithShape="1">
            <a:gsLst>
              <a:gs pos="0">
                <a:srgbClr val="CADCFC"/>
              </a:gs>
              <a:gs pos="100000">
                <a:srgbClr val="E1EAFF"/>
              </a:gs>
            </a:gsLst>
            <a:lin ang="0" scaled="0"/>
          </a:gradFill>
          <a:ln>
            <a:noFill/>
          </a:ln>
        </p:spPr>
        <p:txBody>
          <a:bodyPr rtlCol="0" anchor="ctr"/>
          <a:lstStyle/>
          <a:p>
            <a:pPr algn="ctr"/>
            <a:endParaRPr/>
          </a:p>
        </p:txBody>
      </p:sp>
      <p:sp>
        <p:nvSpPr>
          <p:cNvPr id="3" name="TextBox 2"/>
          <p:cNvSpPr txBox="1"/>
          <p:nvPr/>
        </p:nvSpPr>
        <p:spPr>
          <a:xfrm>
            <a:off x="640080" y="384048"/>
            <a:ext cx="1508760" cy="310896"/>
          </a:xfrm>
          <a:prstGeom prst="rect">
            <a:avLst/>
          </a:prstGeom>
          <a:noFill/>
        </p:spPr>
        <p:txBody>
          <a:bodyPr wrap="square" lIns="0" tIns="0" rIns="0" bIns="0" anchor="ctr">
            <a:noAutofit/>
          </a:bodyPr>
          <a:lstStyle/>
          <a:p>
            <a:pPr algn="ctr"/>
            <a:r>
              <a:rPr sz="1050" b="1" i="0" spc="180">
                <a:solidFill>
                  <a:srgbClr val="1E2761"/>
                </a:solidFill>
                <a:latin typeface="Calibri"/>
              </a:rPr>
              <a:t>BIBLIOGRAPHY</a:t>
            </a:r>
          </a:p>
        </p:txBody>
      </p:sp>
      <p:sp>
        <p:nvSpPr>
          <p:cNvPr id="4" name="TextBox 3"/>
          <p:cNvSpPr txBox="1"/>
          <p:nvPr/>
        </p:nvSpPr>
        <p:spPr>
          <a:xfrm>
            <a:off x="640080" y="786384"/>
            <a:ext cx="10881360" cy="566928"/>
          </a:xfrm>
          <a:prstGeom prst="rect">
            <a:avLst/>
          </a:prstGeom>
          <a:noFill/>
        </p:spPr>
        <p:txBody>
          <a:bodyPr wrap="square" lIns="0" tIns="0" rIns="0" bIns="0" anchor="ctr">
            <a:noAutofit/>
          </a:bodyPr>
          <a:lstStyle/>
          <a:p>
            <a:pPr algn="l"/>
            <a:r>
              <a:rPr sz="3000" b="1" i="0">
                <a:solidFill>
                  <a:srgbClr val="1B1F3B"/>
                </a:solidFill>
                <a:latin typeface="Cambria"/>
              </a:rPr>
              <a:t>References</a:t>
            </a:r>
          </a:p>
        </p:txBody>
      </p:sp>
      <p:cxnSp>
        <p:nvCxnSpPr>
          <p:cNvPr id="6" name="Connector 5"/>
          <p:cNvCxnSpPr/>
          <p:nvPr/>
        </p:nvCxnSpPr>
        <p:spPr>
          <a:xfrm>
            <a:off x="640080" y="1564107"/>
            <a:ext cx="10908792" cy="0"/>
          </a:xfrm>
          <a:prstGeom prst="line">
            <a:avLst/>
          </a:prstGeom>
          <a:ln w="9525">
            <a:solidFill>
              <a:srgbClr val="D5DBEE"/>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40080" y="1564107"/>
            <a:ext cx="548640" cy="713232"/>
          </a:xfrm>
          <a:prstGeom prst="rect">
            <a:avLst/>
          </a:prstGeom>
          <a:noFill/>
        </p:spPr>
        <p:txBody>
          <a:bodyPr wrap="square" lIns="0" tIns="0" rIns="0" bIns="0" anchor="ctr">
            <a:noAutofit/>
          </a:bodyPr>
          <a:lstStyle/>
          <a:p>
            <a:pPr algn="l"/>
            <a:r>
              <a:rPr sz="1300" b="1" i="0">
                <a:solidFill>
                  <a:srgbClr val="1E2761"/>
                </a:solidFill>
                <a:latin typeface="Calibri"/>
              </a:rPr>
              <a:t>[1]</a:t>
            </a:r>
          </a:p>
        </p:txBody>
      </p:sp>
      <p:sp>
        <p:nvSpPr>
          <p:cNvPr id="8" name="TextBox 7"/>
          <p:cNvSpPr txBox="1"/>
          <p:nvPr/>
        </p:nvSpPr>
        <p:spPr>
          <a:xfrm>
            <a:off x="1234440" y="1564107"/>
            <a:ext cx="10241280" cy="713232"/>
          </a:xfrm>
          <a:prstGeom prst="rect">
            <a:avLst/>
          </a:prstGeom>
          <a:noFill/>
        </p:spPr>
        <p:txBody>
          <a:bodyPr wrap="square" lIns="0" tIns="0" rIns="0" bIns="0" anchor="ctr">
            <a:noAutofit/>
          </a:bodyPr>
          <a:lstStyle/>
          <a:p>
            <a:pPr algn="l"/>
            <a:r>
              <a:rPr sz="1350" b="0" i="0">
                <a:solidFill>
                  <a:srgbClr val="0B1220"/>
                </a:solidFill>
                <a:latin typeface="Calibri"/>
              </a:rPr>
              <a:t>C. Gan, Q. Zhang, and T. Mori, “Application of LLM agents in recruitment: A novel framework for automated resume screening,” J. Inf. Process., vol. 32, pp. 881–893, 2024.</a:t>
            </a:r>
          </a:p>
        </p:txBody>
      </p:sp>
      <p:cxnSp>
        <p:nvCxnSpPr>
          <p:cNvPr id="9" name="Connector 8"/>
          <p:cNvCxnSpPr/>
          <p:nvPr/>
        </p:nvCxnSpPr>
        <p:spPr>
          <a:xfrm>
            <a:off x="640080" y="2277339"/>
            <a:ext cx="10908792" cy="0"/>
          </a:xfrm>
          <a:prstGeom prst="line">
            <a:avLst/>
          </a:prstGeom>
          <a:ln w="9525">
            <a:solidFill>
              <a:srgbClr val="D5DBE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40080" y="2277339"/>
            <a:ext cx="548640" cy="713232"/>
          </a:xfrm>
          <a:prstGeom prst="rect">
            <a:avLst/>
          </a:prstGeom>
          <a:noFill/>
        </p:spPr>
        <p:txBody>
          <a:bodyPr wrap="square" lIns="0" tIns="0" rIns="0" bIns="0" anchor="ctr">
            <a:noAutofit/>
          </a:bodyPr>
          <a:lstStyle/>
          <a:p>
            <a:pPr algn="l"/>
            <a:r>
              <a:rPr sz="1300" b="1" i="0">
                <a:solidFill>
                  <a:srgbClr val="1E2761"/>
                </a:solidFill>
                <a:latin typeface="Calibri"/>
              </a:rPr>
              <a:t>[2]</a:t>
            </a:r>
          </a:p>
        </p:txBody>
      </p:sp>
      <p:sp>
        <p:nvSpPr>
          <p:cNvPr id="11" name="TextBox 10"/>
          <p:cNvSpPr txBox="1"/>
          <p:nvPr/>
        </p:nvSpPr>
        <p:spPr>
          <a:xfrm>
            <a:off x="1234440" y="2277339"/>
            <a:ext cx="10241280" cy="713232"/>
          </a:xfrm>
          <a:prstGeom prst="rect">
            <a:avLst/>
          </a:prstGeom>
          <a:noFill/>
        </p:spPr>
        <p:txBody>
          <a:bodyPr wrap="square" lIns="0" tIns="0" rIns="0" bIns="0" anchor="ctr">
            <a:noAutofit/>
          </a:bodyPr>
          <a:lstStyle/>
          <a:p>
            <a:pPr algn="l"/>
            <a:r>
              <a:rPr sz="1350" b="0" i="0">
                <a:solidFill>
                  <a:srgbClr val="0B1220"/>
                </a:solidFill>
                <a:latin typeface="Calibri"/>
              </a:rPr>
              <a:t>M. R. Dontha, S. Thaslim, and M. Tripura, “Resume screening using ensemble models,” IEEE, 2025.</a:t>
            </a:r>
          </a:p>
        </p:txBody>
      </p:sp>
      <p:cxnSp>
        <p:nvCxnSpPr>
          <p:cNvPr id="12" name="Connector 11"/>
          <p:cNvCxnSpPr/>
          <p:nvPr/>
        </p:nvCxnSpPr>
        <p:spPr>
          <a:xfrm>
            <a:off x="640080" y="2990571"/>
            <a:ext cx="10908792" cy="0"/>
          </a:xfrm>
          <a:prstGeom prst="line">
            <a:avLst/>
          </a:prstGeom>
          <a:ln w="9525">
            <a:solidFill>
              <a:srgbClr val="D5DBE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40080" y="2990571"/>
            <a:ext cx="548640" cy="713232"/>
          </a:xfrm>
          <a:prstGeom prst="rect">
            <a:avLst/>
          </a:prstGeom>
          <a:noFill/>
        </p:spPr>
        <p:txBody>
          <a:bodyPr wrap="square" lIns="0" tIns="0" rIns="0" bIns="0" anchor="ctr">
            <a:noAutofit/>
          </a:bodyPr>
          <a:lstStyle/>
          <a:p>
            <a:pPr algn="l"/>
            <a:r>
              <a:rPr sz="1300" b="1" i="0">
                <a:solidFill>
                  <a:srgbClr val="1E2761"/>
                </a:solidFill>
                <a:latin typeface="Calibri"/>
              </a:rPr>
              <a:t>[3]</a:t>
            </a:r>
          </a:p>
        </p:txBody>
      </p:sp>
      <p:sp>
        <p:nvSpPr>
          <p:cNvPr id="14" name="TextBox 13"/>
          <p:cNvSpPr txBox="1"/>
          <p:nvPr/>
        </p:nvSpPr>
        <p:spPr>
          <a:xfrm>
            <a:off x="1234440" y="2990571"/>
            <a:ext cx="10241280" cy="713232"/>
          </a:xfrm>
          <a:prstGeom prst="rect">
            <a:avLst/>
          </a:prstGeom>
          <a:noFill/>
        </p:spPr>
        <p:txBody>
          <a:bodyPr wrap="square" lIns="0" tIns="0" rIns="0" bIns="0" anchor="ctr">
            <a:noAutofit/>
          </a:bodyPr>
          <a:lstStyle/>
          <a:p>
            <a:pPr algn="l"/>
            <a:r>
              <a:rPr sz="1350" b="0" i="0">
                <a:solidFill>
                  <a:srgbClr val="0B1220"/>
                </a:solidFill>
                <a:latin typeface="Calibri"/>
              </a:rPr>
              <a:t>A. Chen, F. Han, X. Zhang, and Y. Lu, “Cracking the AI recruitment code: Striving for transparency in finding the right person–job fit,” Elsevier, 2024.</a:t>
            </a:r>
          </a:p>
        </p:txBody>
      </p:sp>
      <p:cxnSp>
        <p:nvCxnSpPr>
          <p:cNvPr id="15" name="Connector 14"/>
          <p:cNvCxnSpPr/>
          <p:nvPr/>
        </p:nvCxnSpPr>
        <p:spPr>
          <a:xfrm>
            <a:off x="640080" y="3703803"/>
            <a:ext cx="10908792" cy="0"/>
          </a:xfrm>
          <a:prstGeom prst="line">
            <a:avLst/>
          </a:prstGeom>
          <a:ln w="9525">
            <a:solidFill>
              <a:srgbClr val="D5DBEE"/>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40080" y="3703803"/>
            <a:ext cx="548640" cy="713232"/>
          </a:xfrm>
          <a:prstGeom prst="rect">
            <a:avLst/>
          </a:prstGeom>
          <a:noFill/>
        </p:spPr>
        <p:txBody>
          <a:bodyPr wrap="square" lIns="0" tIns="0" rIns="0" bIns="0" anchor="ctr">
            <a:noAutofit/>
          </a:bodyPr>
          <a:lstStyle/>
          <a:p>
            <a:pPr algn="l"/>
            <a:r>
              <a:rPr sz="1300" b="1" i="0">
                <a:solidFill>
                  <a:srgbClr val="1E2761"/>
                </a:solidFill>
                <a:latin typeface="Calibri"/>
              </a:rPr>
              <a:t>[4]</a:t>
            </a:r>
          </a:p>
        </p:txBody>
      </p:sp>
      <p:sp>
        <p:nvSpPr>
          <p:cNvPr id="17" name="TextBox 16"/>
          <p:cNvSpPr txBox="1"/>
          <p:nvPr/>
        </p:nvSpPr>
        <p:spPr>
          <a:xfrm>
            <a:off x="1234440" y="3703803"/>
            <a:ext cx="10241280" cy="713232"/>
          </a:xfrm>
          <a:prstGeom prst="rect">
            <a:avLst/>
          </a:prstGeom>
          <a:noFill/>
        </p:spPr>
        <p:txBody>
          <a:bodyPr wrap="square" lIns="0" tIns="0" rIns="0" bIns="0" anchor="ctr">
            <a:noAutofit/>
          </a:bodyPr>
          <a:lstStyle/>
          <a:p>
            <a:pPr algn="l"/>
            <a:r>
              <a:rPr sz="1350" b="0" i="0">
                <a:solidFill>
                  <a:srgbClr val="0B1220"/>
                </a:solidFill>
                <a:latin typeface="Calibri"/>
              </a:rPr>
              <a:t>E. Grunenberg, H. Peters, M. J. Francis, M. D. Back, and S. C. Matz, “Machine learning in recruiting: Predicting personality from CVs and short text responses,” Front. Soc. Psychol., 2024.</a:t>
            </a:r>
          </a:p>
        </p:txBody>
      </p:sp>
      <p:cxnSp>
        <p:nvCxnSpPr>
          <p:cNvPr id="18" name="Connector 17"/>
          <p:cNvCxnSpPr/>
          <p:nvPr/>
        </p:nvCxnSpPr>
        <p:spPr>
          <a:xfrm>
            <a:off x="640080" y="4417035"/>
            <a:ext cx="10908792" cy="0"/>
          </a:xfrm>
          <a:prstGeom prst="line">
            <a:avLst/>
          </a:prstGeom>
          <a:ln w="9525">
            <a:solidFill>
              <a:srgbClr val="D5DBEE"/>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40080" y="4417035"/>
            <a:ext cx="548640" cy="713232"/>
          </a:xfrm>
          <a:prstGeom prst="rect">
            <a:avLst/>
          </a:prstGeom>
          <a:noFill/>
        </p:spPr>
        <p:txBody>
          <a:bodyPr wrap="square" lIns="0" tIns="0" rIns="0" bIns="0" anchor="ctr">
            <a:noAutofit/>
          </a:bodyPr>
          <a:lstStyle/>
          <a:p>
            <a:pPr algn="l"/>
            <a:r>
              <a:rPr sz="1300" b="1" i="0">
                <a:solidFill>
                  <a:srgbClr val="1E2761"/>
                </a:solidFill>
                <a:latin typeface="Calibri"/>
              </a:rPr>
              <a:t>[5]</a:t>
            </a:r>
          </a:p>
        </p:txBody>
      </p:sp>
      <p:sp>
        <p:nvSpPr>
          <p:cNvPr id="20" name="TextBox 19"/>
          <p:cNvSpPr txBox="1"/>
          <p:nvPr/>
        </p:nvSpPr>
        <p:spPr>
          <a:xfrm>
            <a:off x="1234440" y="4417035"/>
            <a:ext cx="10241280" cy="713232"/>
          </a:xfrm>
          <a:prstGeom prst="rect">
            <a:avLst/>
          </a:prstGeom>
          <a:noFill/>
        </p:spPr>
        <p:txBody>
          <a:bodyPr wrap="square" lIns="0" tIns="0" rIns="0" bIns="0" anchor="ctr">
            <a:noAutofit/>
          </a:bodyPr>
          <a:lstStyle/>
          <a:p>
            <a:pPr algn="l"/>
            <a:r>
              <a:rPr sz="1350" b="0" i="0">
                <a:solidFill>
                  <a:srgbClr val="0B1220"/>
                </a:solidFill>
                <a:latin typeface="Calibri"/>
              </a:rPr>
              <a:t>Python Software Foundation, “Python documentation.” [Online]. Available: https://docs.python.org</a:t>
            </a:r>
          </a:p>
        </p:txBody>
      </p:sp>
      <p:cxnSp>
        <p:nvCxnSpPr>
          <p:cNvPr id="21" name="Connector 20"/>
          <p:cNvCxnSpPr/>
          <p:nvPr/>
        </p:nvCxnSpPr>
        <p:spPr>
          <a:xfrm>
            <a:off x="640080" y="5130267"/>
            <a:ext cx="10908792" cy="0"/>
          </a:xfrm>
          <a:prstGeom prst="line">
            <a:avLst/>
          </a:prstGeom>
          <a:ln w="9525">
            <a:solidFill>
              <a:srgbClr val="D5DBEE"/>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40080" y="5130267"/>
            <a:ext cx="548640" cy="713232"/>
          </a:xfrm>
          <a:prstGeom prst="rect">
            <a:avLst/>
          </a:prstGeom>
          <a:noFill/>
        </p:spPr>
        <p:txBody>
          <a:bodyPr wrap="square" lIns="0" tIns="0" rIns="0" bIns="0" anchor="ctr">
            <a:noAutofit/>
          </a:bodyPr>
          <a:lstStyle/>
          <a:p>
            <a:pPr algn="l"/>
            <a:r>
              <a:rPr sz="1300" b="1" i="0">
                <a:solidFill>
                  <a:srgbClr val="1E2761"/>
                </a:solidFill>
                <a:latin typeface="Calibri"/>
              </a:rPr>
              <a:t>[6]</a:t>
            </a:r>
          </a:p>
        </p:txBody>
      </p:sp>
      <p:sp>
        <p:nvSpPr>
          <p:cNvPr id="23" name="TextBox 22"/>
          <p:cNvSpPr txBox="1"/>
          <p:nvPr/>
        </p:nvSpPr>
        <p:spPr>
          <a:xfrm>
            <a:off x="1234440" y="5130267"/>
            <a:ext cx="10241280" cy="713232"/>
          </a:xfrm>
          <a:prstGeom prst="rect">
            <a:avLst/>
          </a:prstGeom>
          <a:noFill/>
        </p:spPr>
        <p:txBody>
          <a:bodyPr wrap="square" lIns="0" tIns="0" rIns="0" bIns="0" anchor="ctr">
            <a:noAutofit/>
          </a:bodyPr>
          <a:lstStyle/>
          <a:p>
            <a:pPr algn="l"/>
            <a:r>
              <a:rPr sz="1350" b="0" i="0">
                <a:solidFill>
                  <a:srgbClr val="0B1220"/>
                </a:solidFill>
                <a:latin typeface="Calibri"/>
              </a:rPr>
              <a:t>SQLite Consortium, “SQLite documentation.” [Online]. Available: https://www.sqlite.org/docs.html</a:t>
            </a:r>
          </a:p>
        </p:txBody>
      </p:sp>
      <p:sp>
        <p:nvSpPr>
          <p:cNvPr id="24" name="TextBox 23"/>
          <p:cNvSpPr txBox="1"/>
          <p:nvPr/>
        </p:nvSpPr>
        <p:spPr>
          <a:xfrm>
            <a:off x="640080" y="6537960"/>
            <a:ext cx="2926080" cy="201168"/>
          </a:xfrm>
          <a:prstGeom prst="rect">
            <a:avLst/>
          </a:prstGeom>
          <a:noFill/>
        </p:spPr>
        <p:txBody>
          <a:bodyPr wrap="square" lIns="0" tIns="0" rIns="0" bIns="0" anchor="ctr">
            <a:noAutofit/>
          </a:bodyPr>
          <a:lstStyle/>
          <a:p>
            <a:pPr algn="l"/>
            <a:r>
              <a:rPr sz="1000" b="1" i="0">
                <a:solidFill>
                  <a:srgbClr val="002060"/>
                </a:solidFill>
                <a:latin typeface="Calibri"/>
              </a:rPr>
              <a:t>INTELLIGENT HIRING SYSTEM</a:t>
            </a:r>
          </a:p>
        </p:txBody>
      </p:sp>
      <p:sp>
        <p:nvSpPr>
          <p:cNvPr id="25" name="Oval 24"/>
          <p:cNvSpPr/>
          <p:nvPr/>
        </p:nvSpPr>
        <p:spPr>
          <a:xfrm>
            <a:off x="11256264" y="6492240"/>
            <a:ext cx="292608" cy="292608"/>
          </a:xfrm>
          <a:prstGeom prst="ellipse">
            <a:avLst/>
          </a:prstGeom>
          <a:solidFill>
            <a:srgbClr val="F4F7FE"/>
          </a:solidFill>
          <a:ln>
            <a:noFill/>
          </a:ln>
        </p:spPr>
        <p:txBody>
          <a:bodyPr rtlCol="0" anchor="ctr"/>
          <a:lstStyle/>
          <a:p>
            <a:pPr algn="ctr"/>
            <a:endParaRPr/>
          </a:p>
        </p:txBody>
      </p:sp>
      <p:sp>
        <p:nvSpPr>
          <p:cNvPr id="26" name="TextBox 25"/>
          <p:cNvSpPr txBox="1"/>
          <p:nvPr/>
        </p:nvSpPr>
        <p:spPr>
          <a:xfrm>
            <a:off x="11256264" y="6492240"/>
            <a:ext cx="292608" cy="292608"/>
          </a:xfrm>
          <a:prstGeom prst="rect">
            <a:avLst/>
          </a:prstGeom>
          <a:noFill/>
        </p:spPr>
        <p:txBody>
          <a:bodyPr wrap="square" lIns="0" tIns="0" rIns="0" bIns="0" anchor="ctr">
            <a:noAutofit/>
          </a:bodyPr>
          <a:lstStyle/>
          <a:p>
            <a:pPr algn="ctr"/>
            <a:r>
              <a:rPr sz="950" b="1" i="0" dirty="0">
                <a:solidFill>
                  <a:srgbClr val="1E2761"/>
                </a:solidFill>
                <a:latin typeface="Calibri"/>
              </a:rPr>
              <a:t>3</a:t>
            </a:r>
            <a:r>
              <a:rPr lang="en-US" sz="950" b="1" i="0" dirty="0">
                <a:solidFill>
                  <a:srgbClr val="1E2761"/>
                </a:solidFill>
                <a:latin typeface="Calibri"/>
              </a:rPr>
              <a:t>7</a:t>
            </a:r>
            <a:endParaRPr sz="950" b="1" i="0" dirty="0">
              <a:solidFill>
                <a:srgbClr val="1E2761"/>
              </a:solidFill>
              <a:latin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50814"/>
            </a:gs>
            <a:gs pos="50000">
              <a:srgbClr val="111B4F"/>
            </a:gs>
            <a:gs pos="100000">
              <a:srgbClr val="2B2F8F"/>
            </a:gs>
          </a:gsLst>
          <a:lin ang="2700000" scaled="0"/>
        </a:gradFill>
        <a:effectLst/>
      </p:bgPr>
    </p:bg>
    <p:spTree>
      <p:nvGrpSpPr>
        <p:cNvPr id="1" name=""/>
        <p:cNvGrpSpPr/>
        <p:nvPr/>
      </p:nvGrpSpPr>
      <p:grpSpPr>
        <a:xfrm>
          <a:off x="0" y="0"/>
          <a:ext cx="0" cy="0"/>
          <a:chOff x="0" y="0"/>
          <a:chExt cx="0" cy="0"/>
        </a:xfrm>
      </p:grpSpPr>
      <p:sp>
        <p:nvSpPr>
          <p:cNvPr id="20" name="Glow 1"/>
          <p:cNvSpPr/>
          <p:nvPr/>
        </p:nvSpPr>
        <p:spPr>
          <a:xfrm>
            <a:off x="3657600" y="-2286000"/>
            <a:ext cx="6400800" cy="6400800"/>
          </a:xfrm>
          <a:prstGeom prst="ellipse">
            <a:avLst/>
          </a:prstGeom>
          <a:gradFill>
            <a:gsLst>
              <a:gs pos="0">
                <a:srgbClr val="4A5BC4">
                  <a:alpha val="38000"/>
                </a:srgbClr>
              </a:gs>
              <a:gs pos="100000">
                <a:srgbClr val="4A5BC4">
                  <a:alpha val="0"/>
                </a:srgbClr>
              </a:gs>
            </a:gsLst>
            <a:path path="circle">
              <a:fillToRect l="50000" t="50000" r="50000" b="50000"/>
            </a:path>
          </a:gradFill>
          <a:ln>
            <a:noFill/>
          </a:ln>
          <a:effectLst>
            <a:softEdge rad="508000"/>
          </a:effectLst>
        </p:spPr>
        <p:txBody>
          <a:bodyPr/>
          <a:lstStyle/>
          <a:p>
            <a:endParaRPr/>
          </a:p>
        </p:txBody>
      </p:sp>
      <p:sp>
        <p:nvSpPr>
          <p:cNvPr id="21" name="Glow 2"/>
          <p:cNvSpPr/>
          <p:nvPr/>
        </p:nvSpPr>
        <p:spPr>
          <a:xfrm>
            <a:off x="-1828800" y="3200400"/>
            <a:ext cx="5029200" cy="5029200"/>
          </a:xfrm>
          <a:prstGeom prst="ellipse">
            <a:avLst/>
          </a:prstGeom>
          <a:gradFill>
            <a:gsLst>
              <a:gs pos="0">
                <a:srgbClr val="22D3A6">
                  <a:alpha val="22000"/>
                </a:srgbClr>
              </a:gs>
              <a:gs pos="100000">
                <a:srgbClr val="22D3A6">
                  <a:alpha val="0"/>
                </a:srgbClr>
              </a:gs>
            </a:gsLst>
            <a:path path="circle">
              <a:fillToRect l="50000" t="50000" r="50000" b="50000"/>
            </a:path>
          </a:gradFill>
          <a:ln>
            <a:noFill/>
          </a:ln>
          <a:effectLst>
            <a:softEdge rad="508000"/>
          </a:effectLst>
        </p:spPr>
        <p:txBody>
          <a:bodyPr/>
          <a:lstStyle/>
          <a:p>
            <a:endParaRPr/>
          </a:p>
        </p:txBody>
      </p:sp>
      <p:sp>
        <p:nvSpPr>
          <p:cNvPr id="22" name="Ring"/>
          <p:cNvSpPr/>
          <p:nvPr/>
        </p:nvSpPr>
        <p:spPr>
          <a:xfrm>
            <a:off x="9906000" y="4800600"/>
            <a:ext cx="2971800" cy="2971800"/>
          </a:xfrm>
          <a:prstGeom prst="ellipse">
            <a:avLst/>
          </a:prstGeom>
          <a:noFill/>
          <a:ln w="9525">
            <a:solidFill>
              <a:srgbClr val="CADCFC">
                <a:alpha val="20000"/>
              </a:srgbClr>
            </a:solidFill>
          </a:ln>
        </p:spPr>
        <p:txBody>
          <a:bodyPr/>
          <a:lstStyle/>
          <a:p>
            <a:endParaRPr/>
          </a:p>
        </p:txBody>
      </p:sp>
      <p:sp>
        <p:nvSpPr>
          <p:cNvPr id="23" name="Ring2"/>
          <p:cNvSpPr/>
          <p:nvPr/>
        </p:nvSpPr>
        <p:spPr>
          <a:xfrm>
            <a:off x="10515600" y="5410200"/>
            <a:ext cx="1752600" cy="1752600"/>
          </a:xfrm>
          <a:prstGeom prst="ellipse">
            <a:avLst/>
          </a:prstGeom>
          <a:noFill/>
          <a:ln w="9525">
            <a:solidFill>
              <a:srgbClr val="22D3A6">
                <a:alpha val="26000"/>
              </a:srgbClr>
            </a:solidFill>
          </a:ln>
        </p:spPr>
        <p:txBody>
          <a:bodyPr/>
          <a:lstStyle/>
          <a:p>
            <a:endParaRPr/>
          </a:p>
        </p:txBody>
      </p:sp>
      <p:sp>
        <p:nvSpPr>
          <p:cNvPr id="24" name="Node A"/>
          <p:cNvSpPr/>
          <p:nvPr/>
        </p:nvSpPr>
        <p:spPr>
          <a:xfrm>
            <a:off x="822960" y="5943600"/>
            <a:ext cx="91440" cy="91440"/>
          </a:xfrm>
          <a:prstGeom prst="ellipse">
            <a:avLst/>
          </a:prstGeom>
          <a:solidFill>
            <a:srgbClr val="22D3A6">
              <a:alpha val="85000"/>
            </a:srgbClr>
          </a:solidFill>
          <a:ln/>
        </p:spPr>
        <p:txBody>
          <a:bodyPr/>
          <a:lstStyle/>
          <a:p>
            <a:endParaRPr/>
          </a:p>
        </p:txBody>
      </p:sp>
      <p:sp>
        <p:nvSpPr>
          <p:cNvPr id="25" name="Node B"/>
          <p:cNvSpPr/>
          <p:nvPr/>
        </p:nvSpPr>
        <p:spPr>
          <a:xfrm>
            <a:off x="1417320" y="6172200"/>
            <a:ext cx="91440" cy="91440"/>
          </a:xfrm>
          <a:prstGeom prst="ellipse">
            <a:avLst/>
          </a:prstGeom>
          <a:solidFill>
            <a:srgbClr val="F2B84B">
              <a:alpha val="85000"/>
            </a:srgbClr>
          </a:solidFill>
          <a:ln/>
        </p:spPr>
        <p:txBody>
          <a:bodyPr/>
          <a:lstStyle/>
          <a:p>
            <a:endParaRPr/>
          </a:p>
        </p:txBody>
      </p:sp>
      <p:sp>
        <p:nvSpPr>
          <p:cNvPr id="26" name="Node C"/>
          <p:cNvSpPr/>
          <p:nvPr/>
        </p:nvSpPr>
        <p:spPr>
          <a:xfrm>
            <a:off x="640080" y="6400800"/>
            <a:ext cx="91440" cy="91440"/>
          </a:xfrm>
          <a:prstGeom prst="ellipse">
            <a:avLst/>
          </a:prstGeom>
          <a:solidFill>
            <a:srgbClr val="22D3A6">
              <a:alpha val="85000"/>
            </a:srgbClr>
          </a:solidFill>
          <a:ln/>
        </p:spPr>
        <p:txBody>
          <a:bodyPr/>
          <a:lstStyle/>
          <a:p>
            <a:endParaRPr/>
          </a:p>
        </p:txBody>
      </p:sp>
      <p:sp>
        <p:nvSpPr>
          <p:cNvPr id="27" name="Link A"/>
          <p:cNvSpPr/>
          <p:nvPr/>
        </p:nvSpPr>
        <p:spPr>
          <a:xfrm>
            <a:off x="868680" y="5989320"/>
            <a:ext cx="548640" cy="182880"/>
          </a:xfrm>
          <a:prstGeom prst="line">
            <a:avLst/>
          </a:prstGeom>
          <a:noFill/>
          <a:ln w="12700">
            <a:solidFill>
              <a:srgbClr val="22D3A6">
                <a:alpha val="40000"/>
              </a:srgbClr>
            </a:solidFill>
            <a:prstDash val="solid"/>
          </a:ln>
        </p:spPr>
        <p:txBody>
          <a:bodyPr/>
          <a:lstStyle/>
          <a:p>
            <a:endParaRPr/>
          </a:p>
        </p:txBody>
      </p:sp>
      <p:sp>
        <p:nvSpPr>
          <p:cNvPr id="28" name="Link B"/>
          <p:cNvSpPr/>
          <p:nvPr/>
        </p:nvSpPr>
        <p:spPr>
          <a:xfrm flipV="1">
            <a:off x="685800" y="6218400"/>
            <a:ext cx="731520" cy="182880"/>
          </a:xfrm>
          <a:prstGeom prst="line">
            <a:avLst/>
          </a:prstGeom>
          <a:noFill/>
          <a:ln w="12700">
            <a:solidFill>
              <a:srgbClr val="22D3A6">
                <a:alpha val="40000"/>
              </a:srgbClr>
            </a:solidFill>
            <a:prstDash val="solid"/>
          </a:ln>
        </p:spPr>
        <p:txBody>
          <a:bodyPr/>
          <a:lstStyle/>
          <a:p>
            <a:endParaRPr/>
          </a:p>
        </p:txBody>
      </p:sp>
      <p:sp>
        <p:nvSpPr>
          <p:cNvPr id="30" name="Title"/>
          <p:cNvSpPr/>
          <p:nvPr/>
        </p:nvSpPr>
        <p:spPr>
          <a:xfrm>
            <a:off x="914400" y="2743200"/>
            <a:ext cx="10363200" cy="914400"/>
          </a:xfrm>
          <a:prstGeom prst="rect">
            <a:avLst/>
          </a:prstGeom>
          <a:noFill/>
          <a:ln/>
        </p:spPr>
        <p:txBody>
          <a:bodyPr wrap="square" lIns="0" tIns="0" rIns="0" bIns="0" rtlCol="0" anchor="ctr"/>
          <a:lstStyle/>
          <a:p>
            <a:pPr marL="0" indent="0" algn="ctr">
              <a:buNone/>
            </a:pPr>
            <a:r>
              <a:rPr lang="en-US" sz="6000" b="1" spc="140" dirty="0">
                <a:solidFill>
                  <a:srgbClr val="F8FAFC"/>
                </a:solidFill>
                <a:latin typeface="Cambria" pitchFamily="34" charset="0"/>
                <a:ea typeface="Cambria" pitchFamily="34" charset="-122"/>
                <a:cs typeface="Cambria" pitchFamily="34" charset="-120"/>
              </a:rPr>
              <a:t>THANK YOU</a:t>
            </a:r>
            <a:endParaRPr lang="en-US" sz="6000" dirty="0"/>
          </a:p>
        </p:txBody>
      </p:sp>
    </p:spTree>
    <p:extLst>
      <p:ext uri="{BB962C8B-B14F-4D97-AF65-F5344CB8AC3E}">
        <p14:creationId xmlns:p14="http://schemas.microsoft.com/office/powerpoint/2010/main" val="844509655"/>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clickEffect">
                            <p:stCondLst>
                              <p:cond delay="0"/>
                            </p:stCondLst>
                            <p:childTnLst>
                              <p:set>
                                <p:cBhvr>
                                  <p:cTn id="5" dur="1" fill="hold">
                                    <p:stCondLst>
                                      <p:cond delay="0"/>
                                    </p:stCondLst>
                                  </p:cTn>
                                  <p:tgtEl>
                                    <p:spTgt spid="30"/>
                                  </p:tgtEl>
                                  <p:attrNameLst>
                                    <p:attrName>style.visibility</p:attrName>
                                  </p:attrNameLst>
                                </p:cBhvr>
                                <p:to>
                                  <p:strVal val="visible"/>
                                </p:to>
                              </p:set>
                              <p:animEffect transition="in" filter="fade">
                                <p:cBhvr>
                                  <p:cTn id="6" dur="800"/>
                                  <p:tgtEl>
                                    <p:spTgt spid="30"/>
                                  </p:tgtEl>
                                </p:cBhvr>
                              </p:animEffect>
                            </p:childTnLst>
                          </p:cTn>
                        </p:par>
                      </p:childTnLst>
                    </p:cTn>
                  </p:par>
                </p:childTnLst>
              </p:cTn>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1441</TotalTime>
  <Words>2476</Words>
  <Application>Microsoft Office PowerPoint</Application>
  <PresentationFormat>Widescreen</PresentationFormat>
  <Paragraphs>505</Paragraphs>
  <Slides>37</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37</vt:i4>
      </vt:variant>
    </vt:vector>
  </HeadingPairs>
  <TitlesOfParts>
    <vt:vector size="46" baseType="lpstr">
      <vt:lpstr>Aptos</vt:lpstr>
      <vt:lpstr>Arial</vt:lpstr>
      <vt:lpstr>Calibri</vt:lpstr>
      <vt:lpstr>Calibri </vt:lpstr>
      <vt:lpstr>Cambria</vt:lpstr>
      <vt:lpstr>Engravers MT</vt:lpstr>
      <vt:lpstr>Georgia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SESTIN SIBI</cp:lastModifiedBy>
  <cp:revision>157</cp:revision>
  <dcterms:created xsi:type="dcterms:W3CDTF">2026-07-21T11:48:49Z</dcterms:created>
  <dcterms:modified xsi:type="dcterms:W3CDTF">2026-10-07T03:08:41Z</dcterms:modified>
</cp:coreProperties>
</file>